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72" r:id="rId9"/>
    <p:sldId id="263" r:id="rId10"/>
    <p:sldId id="264" r:id="rId11"/>
    <p:sldId id="265" r:id="rId12"/>
    <p:sldId id="266" r:id="rId13"/>
    <p:sldId id="267" r:id="rId14"/>
    <p:sldId id="268" r:id="rId15"/>
    <p:sldId id="269" r:id="rId16"/>
    <p:sldId id="270" r:id="rId17"/>
    <p:sldId id="271"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20998258"/>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0617"/>
        </a:solidFill>
        <a:effectLst/>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38BDF8"/>
          </a:solidFill>
          <a:ln w="12700">
            <a:solidFill>
              <a:srgbClr val="38BDF8"/>
            </a:solidFill>
            <a:prstDash val="solid"/>
          </a:ln>
        </p:spPr>
      </p:sp>
      <p:sp>
        <p:nvSpPr>
          <p:cNvPr id="3" name="Shape 1"/>
          <p:cNvSpPr/>
          <p:nvPr/>
        </p:nvSpPr>
        <p:spPr>
          <a:xfrm>
            <a:off x="0" y="6784848"/>
            <a:ext cx="12188952" cy="73152"/>
          </a:xfrm>
          <a:prstGeom prst="rect">
            <a:avLst/>
          </a:prstGeom>
          <a:solidFill>
            <a:srgbClr val="38BDF8"/>
          </a:solidFill>
          <a:ln w="12700">
            <a:solidFill>
              <a:srgbClr val="38BDF8"/>
            </a:solidFill>
            <a:prstDash val="solid"/>
          </a:ln>
        </p:spPr>
      </p:sp>
      <p:sp>
        <p:nvSpPr>
          <p:cNvPr id="4" name="Text 2"/>
          <p:cNvSpPr/>
          <p:nvPr/>
        </p:nvSpPr>
        <p:spPr>
          <a:xfrm>
            <a:off x="914400" y="1280160"/>
            <a:ext cx="10360152" cy="1463040"/>
          </a:xfrm>
          <a:prstGeom prst="rect">
            <a:avLst/>
          </a:prstGeom>
          <a:noFill/>
          <a:ln/>
        </p:spPr>
        <p:txBody>
          <a:bodyPr wrap="square" rtlCol="0" anchor="ctr"/>
          <a:lstStyle/>
          <a:p>
            <a:pPr marL="0" indent="0" algn="ctr">
              <a:buNone/>
            </a:pPr>
            <a:r>
              <a:rPr lang="en-US" sz="5400" b="1" dirty="0">
                <a:solidFill>
                  <a:srgbClr val="FFFFFF"/>
                </a:solidFill>
                <a:latin typeface="Calibri" pitchFamily="34" charset="0"/>
                <a:ea typeface="Calibri" pitchFamily="34" charset="-122"/>
                <a:cs typeface="Calibri" pitchFamily="34" charset="-120"/>
              </a:rPr>
              <a:t>Cup Fill Detection</a:t>
            </a:r>
            <a:endParaRPr lang="en-US" sz="5400" dirty="0"/>
          </a:p>
        </p:txBody>
      </p:sp>
      <p:sp>
        <p:nvSpPr>
          <p:cNvPr id="5" name="Shape 3"/>
          <p:cNvSpPr/>
          <p:nvPr/>
        </p:nvSpPr>
        <p:spPr>
          <a:xfrm>
            <a:off x="3108960" y="2880360"/>
            <a:ext cx="5943600" cy="50292"/>
          </a:xfrm>
          <a:prstGeom prst="rect">
            <a:avLst/>
          </a:prstGeom>
          <a:solidFill>
            <a:srgbClr val="38BDF8"/>
          </a:solidFill>
          <a:ln w="12700">
            <a:solidFill>
              <a:srgbClr val="38BDF8"/>
            </a:solidFill>
            <a:prstDash val="solid"/>
          </a:ln>
        </p:spPr>
      </p:sp>
      <p:sp>
        <p:nvSpPr>
          <p:cNvPr id="6" name="Text 4"/>
          <p:cNvSpPr/>
          <p:nvPr/>
        </p:nvSpPr>
        <p:spPr>
          <a:xfrm>
            <a:off x="914400" y="3017520"/>
            <a:ext cx="10360152" cy="548640"/>
          </a:xfrm>
          <a:prstGeom prst="rect">
            <a:avLst/>
          </a:prstGeom>
          <a:noFill/>
          <a:ln/>
        </p:spPr>
        <p:txBody>
          <a:bodyPr wrap="square" rtlCol="0" anchor="ctr"/>
          <a:lstStyle/>
          <a:p>
            <a:pPr marL="0" indent="0" algn="ctr">
              <a:buNone/>
            </a:pPr>
            <a:r>
              <a:rPr lang="en-US" sz="2000" dirty="0">
                <a:solidFill>
                  <a:srgbClr val="38BDF8"/>
                </a:solidFill>
                <a:latin typeface="Calibri" pitchFamily="34" charset="0"/>
                <a:ea typeface="Calibri" pitchFamily="34" charset="-122"/>
                <a:cs typeface="Calibri" pitchFamily="34" charset="-120"/>
              </a:rPr>
              <a:t>Machine Learning &amp; Passive Acoustic Analysis</a:t>
            </a:r>
            <a:endParaRPr lang="en-US" sz="2000" dirty="0"/>
          </a:p>
        </p:txBody>
      </p:sp>
      <p:sp>
        <p:nvSpPr>
          <p:cNvPr id="7" name="Text 5"/>
          <p:cNvSpPr/>
          <p:nvPr/>
        </p:nvSpPr>
        <p:spPr>
          <a:xfrm>
            <a:off x="914400" y="3749040"/>
            <a:ext cx="10360152" cy="365760"/>
          </a:xfrm>
          <a:prstGeom prst="rect">
            <a:avLst/>
          </a:prstGeom>
          <a:noFill/>
          <a:ln/>
        </p:spPr>
        <p:txBody>
          <a:bodyPr wrap="square" rtlCol="0" anchor="ctr"/>
          <a:lstStyle/>
          <a:p>
            <a:pPr marL="0" indent="0" algn="ctr">
              <a:buNone/>
            </a:pPr>
            <a:r>
              <a:rPr lang="en-US" sz="1600" dirty="0">
                <a:solidFill>
                  <a:srgbClr val="8FBCDA"/>
                </a:solidFill>
                <a:latin typeface="Calibri" pitchFamily="34" charset="0"/>
                <a:ea typeface="Calibri" pitchFamily="34" charset="-122"/>
                <a:cs typeface="Calibri" pitchFamily="34" charset="-120"/>
              </a:rPr>
              <a:t>Tomer Nor Milkov  ·  Nikita Budzanski  ·  Oren Gofman  ·  Or </a:t>
            </a:r>
            <a:r>
              <a:rPr lang="en-US" sz="1600" dirty="0" err="1">
                <a:solidFill>
                  <a:srgbClr val="8FBCDA"/>
                </a:solidFill>
                <a:latin typeface="Calibri" pitchFamily="34" charset="0"/>
                <a:ea typeface="Calibri" pitchFamily="34" charset="-122"/>
                <a:cs typeface="Calibri" pitchFamily="34" charset="-120"/>
              </a:rPr>
              <a:t>Balzar</a:t>
            </a:r>
            <a:endParaRPr lang="en-US" sz="1600" dirty="0"/>
          </a:p>
        </p:txBody>
      </p:sp>
      <p:sp>
        <p:nvSpPr>
          <p:cNvPr id="8" name="Text 6"/>
          <p:cNvSpPr/>
          <p:nvPr/>
        </p:nvSpPr>
        <p:spPr>
          <a:xfrm>
            <a:off x="914400" y="4206240"/>
            <a:ext cx="10360152" cy="320040"/>
          </a:xfrm>
          <a:prstGeom prst="rect">
            <a:avLst/>
          </a:prstGeom>
          <a:noFill/>
          <a:ln/>
        </p:spPr>
        <p:txBody>
          <a:bodyPr wrap="square" rtlCol="0" anchor="ctr"/>
          <a:lstStyle/>
          <a:p>
            <a:pPr marL="0" indent="0" algn="ctr">
              <a:buNone/>
            </a:pPr>
            <a:r>
              <a:rPr lang="en-US" sz="1350" dirty="0">
                <a:solidFill>
                  <a:srgbClr val="1E3A5F"/>
                </a:solidFill>
                <a:latin typeface="Calibri" pitchFamily="34" charset="0"/>
                <a:ea typeface="Calibri" pitchFamily="34" charset="-122"/>
                <a:cs typeface="Calibri" pitchFamily="34" charset="-120"/>
              </a:rPr>
              <a:t>Instructor: Dima Bakhovsky  |  Machine Learning Course 2026</a:t>
            </a:r>
            <a:endParaRPr lang="en-US" sz="1350" dirty="0"/>
          </a:p>
        </p:txBody>
      </p:sp>
      <p:sp>
        <p:nvSpPr>
          <p:cNvPr id="9" name="Text 7"/>
          <p:cNvSpPr/>
          <p:nvPr/>
        </p:nvSpPr>
        <p:spPr>
          <a:xfrm>
            <a:off x="822960" y="5029200"/>
            <a:ext cx="1920240" cy="502920"/>
          </a:xfrm>
          <a:prstGeom prst="rect">
            <a:avLst/>
          </a:prstGeom>
          <a:noFill/>
          <a:ln/>
        </p:spPr>
        <p:txBody>
          <a:bodyPr wrap="square" rtlCol="0" anchor="ctr"/>
          <a:lstStyle/>
          <a:p>
            <a:pPr marL="0" indent="0" algn="ctr">
              <a:buNone/>
            </a:pPr>
            <a:r>
              <a:rPr lang="en-US" sz="2200" b="1" dirty="0">
                <a:solidFill>
                  <a:srgbClr val="38BDF8"/>
                </a:solidFill>
                <a:latin typeface="Calibri" pitchFamily="34" charset="0"/>
                <a:ea typeface="Calibri" pitchFamily="34" charset="-122"/>
                <a:cs typeface="Calibri" pitchFamily="34" charset="-120"/>
              </a:rPr>
              <a:t>120</a:t>
            </a:r>
            <a:endParaRPr lang="en-US" sz="2200" dirty="0"/>
          </a:p>
        </p:txBody>
      </p:sp>
      <p:sp>
        <p:nvSpPr>
          <p:cNvPr id="10" name="Text 8"/>
          <p:cNvSpPr/>
          <p:nvPr/>
        </p:nvSpPr>
        <p:spPr>
          <a:xfrm>
            <a:off x="822960" y="5532120"/>
            <a:ext cx="1920240" cy="256032"/>
          </a:xfrm>
          <a:prstGeom prst="rect">
            <a:avLst/>
          </a:prstGeom>
          <a:noFill/>
          <a:ln/>
        </p:spPr>
        <p:txBody>
          <a:bodyPr wrap="square" rtlCol="0" anchor="ctr"/>
          <a:lstStyle/>
          <a:p>
            <a:pPr marL="0" indent="0" algn="ctr">
              <a:buNone/>
            </a:pPr>
            <a:r>
              <a:rPr lang="en-US" sz="1150" dirty="0">
                <a:solidFill>
                  <a:srgbClr val="8FBCDA"/>
                </a:solidFill>
                <a:latin typeface="Calibri" pitchFamily="34" charset="0"/>
                <a:ea typeface="Calibri" pitchFamily="34" charset="-122"/>
                <a:cs typeface="Calibri" pitchFamily="34" charset="-120"/>
              </a:rPr>
              <a:t>Recordings</a:t>
            </a:r>
            <a:endParaRPr lang="en-US" sz="1150" dirty="0"/>
          </a:p>
        </p:txBody>
      </p:sp>
      <p:sp>
        <p:nvSpPr>
          <p:cNvPr id="11" name="Text 9"/>
          <p:cNvSpPr/>
          <p:nvPr/>
        </p:nvSpPr>
        <p:spPr>
          <a:xfrm>
            <a:off x="2971800" y="5029200"/>
            <a:ext cx="1920240" cy="502920"/>
          </a:xfrm>
          <a:prstGeom prst="rect">
            <a:avLst/>
          </a:prstGeom>
          <a:noFill/>
          <a:ln/>
        </p:spPr>
        <p:txBody>
          <a:bodyPr wrap="square" rtlCol="0" anchor="ctr"/>
          <a:lstStyle/>
          <a:p>
            <a:pPr marL="0" indent="0" algn="ctr">
              <a:buNone/>
            </a:pPr>
            <a:r>
              <a:rPr lang="en-US" sz="2200" b="1" dirty="0">
                <a:solidFill>
                  <a:srgbClr val="38BDF8"/>
                </a:solidFill>
                <a:latin typeface="Calibri" pitchFamily="34" charset="0"/>
                <a:ea typeface="Calibri" pitchFamily="34" charset="-122"/>
                <a:cs typeface="Calibri" pitchFamily="34" charset="-120"/>
              </a:rPr>
              <a:t>29,769</a:t>
            </a:r>
            <a:endParaRPr lang="en-US" sz="2200" dirty="0"/>
          </a:p>
        </p:txBody>
      </p:sp>
      <p:sp>
        <p:nvSpPr>
          <p:cNvPr id="12" name="Text 10"/>
          <p:cNvSpPr/>
          <p:nvPr/>
        </p:nvSpPr>
        <p:spPr>
          <a:xfrm>
            <a:off x="2971800" y="5532120"/>
            <a:ext cx="1920240" cy="256032"/>
          </a:xfrm>
          <a:prstGeom prst="rect">
            <a:avLst/>
          </a:prstGeom>
          <a:noFill/>
          <a:ln/>
        </p:spPr>
        <p:txBody>
          <a:bodyPr wrap="square" rtlCol="0" anchor="ctr"/>
          <a:lstStyle/>
          <a:p>
            <a:pPr marL="0" indent="0" algn="ctr">
              <a:buNone/>
            </a:pPr>
            <a:r>
              <a:rPr lang="en-US" sz="1150" dirty="0">
                <a:solidFill>
                  <a:srgbClr val="8FBCDA"/>
                </a:solidFill>
                <a:latin typeface="Calibri" pitchFamily="34" charset="0"/>
                <a:ea typeface="Calibri" pitchFamily="34" charset="-122"/>
                <a:cs typeface="Calibri" pitchFamily="34" charset="-120"/>
              </a:rPr>
              <a:t>Audio Frames</a:t>
            </a:r>
            <a:endParaRPr lang="en-US" sz="1150" dirty="0"/>
          </a:p>
        </p:txBody>
      </p:sp>
      <p:sp>
        <p:nvSpPr>
          <p:cNvPr id="13" name="Text 11"/>
          <p:cNvSpPr/>
          <p:nvPr/>
        </p:nvSpPr>
        <p:spPr>
          <a:xfrm>
            <a:off x="5120640" y="5029200"/>
            <a:ext cx="1920240" cy="502920"/>
          </a:xfrm>
          <a:prstGeom prst="rect">
            <a:avLst/>
          </a:prstGeom>
          <a:noFill/>
          <a:ln/>
        </p:spPr>
        <p:txBody>
          <a:bodyPr wrap="square" rtlCol="0" anchor="ctr"/>
          <a:lstStyle/>
          <a:p>
            <a:pPr marL="0" indent="0" algn="ctr">
              <a:buNone/>
            </a:pPr>
            <a:r>
              <a:rPr lang="en-US" sz="2200" b="1" dirty="0">
                <a:solidFill>
                  <a:srgbClr val="38BDF8"/>
                </a:solidFill>
                <a:latin typeface="Calibri" pitchFamily="34" charset="0"/>
                <a:ea typeface="Calibri" pitchFamily="34" charset="-122"/>
                <a:cs typeface="Calibri" pitchFamily="34" charset="-120"/>
              </a:rPr>
              <a:t>8</a:t>
            </a:r>
            <a:endParaRPr lang="en-US" sz="2200" dirty="0"/>
          </a:p>
        </p:txBody>
      </p:sp>
      <p:sp>
        <p:nvSpPr>
          <p:cNvPr id="14" name="Text 12"/>
          <p:cNvSpPr/>
          <p:nvPr/>
        </p:nvSpPr>
        <p:spPr>
          <a:xfrm>
            <a:off x="5120640" y="5532120"/>
            <a:ext cx="1920240" cy="256032"/>
          </a:xfrm>
          <a:prstGeom prst="rect">
            <a:avLst/>
          </a:prstGeom>
          <a:noFill/>
          <a:ln/>
        </p:spPr>
        <p:txBody>
          <a:bodyPr wrap="square" rtlCol="0" anchor="ctr"/>
          <a:lstStyle/>
          <a:p>
            <a:pPr marL="0" indent="0" algn="ctr">
              <a:buNone/>
            </a:pPr>
            <a:r>
              <a:rPr lang="en-US" sz="1150" dirty="0">
                <a:solidFill>
                  <a:srgbClr val="8FBCDA"/>
                </a:solidFill>
                <a:latin typeface="Calibri" pitchFamily="34" charset="0"/>
                <a:ea typeface="Calibri" pitchFamily="34" charset="-122"/>
                <a:cs typeface="Calibri" pitchFamily="34" charset="-120"/>
              </a:rPr>
              <a:t>Cup Types</a:t>
            </a:r>
            <a:endParaRPr lang="en-US" sz="1150" dirty="0"/>
          </a:p>
        </p:txBody>
      </p:sp>
      <p:sp>
        <p:nvSpPr>
          <p:cNvPr id="15" name="Text 13"/>
          <p:cNvSpPr/>
          <p:nvPr/>
        </p:nvSpPr>
        <p:spPr>
          <a:xfrm>
            <a:off x="7269480" y="5029200"/>
            <a:ext cx="1920240" cy="502920"/>
          </a:xfrm>
          <a:prstGeom prst="rect">
            <a:avLst/>
          </a:prstGeom>
          <a:noFill/>
          <a:ln/>
        </p:spPr>
        <p:txBody>
          <a:bodyPr wrap="square" rtlCol="0" anchor="ctr"/>
          <a:lstStyle/>
          <a:p>
            <a:pPr marL="0" indent="0" algn="ctr">
              <a:buNone/>
            </a:pPr>
            <a:r>
              <a:rPr lang="en-US" sz="2200" b="1" dirty="0">
                <a:solidFill>
                  <a:srgbClr val="38BDF8"/>
                </a:solidFill>
                <a:latin typeface="Calibri" pitchFamily="34" charset="0"/>
                <a:ea typeface="Calibri" pitchFamily="34" charset="-122"/>
                <a:cs typeface="Calibri" pitchFamily="34" charset="-120"/>
              </a:rPr>
              <a:t>56</a:t>
            </a:r>
            <a:endParaRPr lang="en-US" sz="2200" dirty="0"/>
          </a:p>
        </p:txBody>
      </p:sp>
      <p:sp>
        <p:nvSpPr>
          <p:cNvPr id="16" name="Text 14"/>
          <p:cNvSpPr/>
          <p:nvPr/>
        </p:nvSpPr>
        <p:spPr>
          <a:xfrm>
            <a:off x="7269480" y="5532120"/>
            <a:ext cx="1920240" cy="256032"/>
          </a:xfrm>
          <a:prstGeom prst="rect">
            <a:avLst/>
          </a:prstGeom>
          <a:noFill/>
          <a:ln/>
        </p:spPr>
        <p:txBody>
          <a:bodyPr wrap="square" rtlCol="0" anchor="ctr"/>
          <a:lstStyle/>
          <a:p>
            <a:pPr marL="0" indent="0" algn="ctr">
              <a:buNone/>
            </a:pPr>
            <a:r>
              <a:rPr lang="en-US" sz="1150" dirty="0">
                <a:solidFill>
                  <a:srgbClr val="8FBCDA"/>
                </a:solidFill>
                <a:latin typeface="Calibri" pitchFamily="34" charset="0"/>
                <a:ea typeface="Calibri" pitchFamily="34" charset="-122"/>
                <a:cs typeface="Calibri" pitchFamily="34" charset="-120"/>
              </a:rPr>
              <a:t>Features</a:t>
            </a:r>
            <a:endParaRPr lang="en-US" sz="1150" dirty="0"/>
          </a:p>
        </p:txBody>
      </p:sp>
      <p:sp>
        <p:nvSpPr>
          <p:cNvPr id="17" name="Text 15"/>
          <p:cNvSpPr/>
          <p:nvPr/>
        </p:nvSpPr>
        <p:spPr>
          <a:xfrm>
            <a:off x="9418320" y="5029200"/>
            <a:ext cx="1920240" cy="502920"/>
          </a:xfrm>
          <a:prstGeom prst="rect">
            <a:avLst/>
          </a:prstGeom>
          <a:noFill/>
          <a:ln/>
        </p:spPr>
        <p:txBody>
          <a:bodyPr wrap="square" rtlCol="0" anchor="ctr"/>
          <a:lstStyle/>
          <a:p>
            <a:pPr marL="0" indent="0" algn="ctr">
              <a:buNone/>
            </a:pPr>
            <a:r>
              <a:rPr lang="en-US" sz="2200" b="1" dirty="0">
                <a:solidFill>
                  <a:srgbClr val="38BDF8"/>
                </a:solidFill>
                <a:latin typeface="Calibri" pitchFamily="34" charset="0"/>
                <a:ea typeface="Calibri" pitchFamily="34" charset="-122"/>
                <a:cs typeface="Calibri" pitchFamily="34" charset="-120"/>
              </a:rPr>
              <a:t>0</a:t>
            </a:r>
            <a:endParaRPr lang="en-US" sz="2200" dirty="0"/>
          </a:p>
        </p:txBody>
      </p:sp>
      <p:sp>
        <p:nvSpPr>
          <p:cNvPr id="18" name="Text 16"/>
          <p:cNvSpPr/>
          <p:nvPr/>
        </p:nvSpPr>
        <p:spPr>
          <a:xfrm>
            <a:off x="9418320" y="5532120"/>
            <a:ext cx="1920240" cy="256032"/>
          </a:xfrm>
          <a:prstGeom prst="rect">
            <a:avLst/>
          </a:prstGeom>
          <a:noFill/>
          <a:ln/>
        </p:spPr>
        <p:txBody>
          <a:bodyPr wrap="square" rtlCol="0" anchor="ctr"/>
          <a:lstStyle/>
          <a:p>
            <a:pPr marL="0" indent="0" algn="ctr">
              <a:buNone/>
            </a:pPr>
            <a:r>
              <a:rPr lang="en-US" sz="1150" dirty="0">
                <a:solidFill>
                  <a:srgbClr val="8FBCDA"/>
                </a:solidFill>
                <a:latin typeface="Calibri" pitchFamily="34" charset="0"/>
                <a:ea typeface="Calibri" pitchFamily="34" charset="-122"/>
                <a:cs typeface="Calibri" pitchFamily="34" charset="-120"/>
              </a:rPr>
              <a:t>Overflows</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20617"/>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38BDF8"/>
          </a:solidFill>
          <a:ln w="12700">
            <a:solidFill>
              <a:srgbClr val="38BDF8"/>
            </a:solidFill>
            <a:prstDash val="solid"/>
          </a:ln>
        </p:spPr>
      </p:sp>
      <p:sp>
        <p:nvSpPr>
          <p:cNvPr id="3" name="Text 1"/>
          <p:cNvSpPr/>
          <p:nvPr/>
        </p:nvSpPr>
        <p:spPr>
          <a:xfrm>
            <a:off x="457200" y="91440"/>
            <a:ext cx="11274552" cy="658368"/>
          </a:xfrm>
          <a:prstGeom prst="rect">
            <a:avLst/>
          </a:prstGeom>
          <a:noFill/>
          <a:ln/>
        </p:spPr>
        <p:txBody>
          <a:bodyPr wrap="square" rtlCol="0" anchor="ctr"/>
          <a:lstStyle/>
          <a:p>
            <a:pPr marL="0" indent="0" algn="r">
              <a:buNone/>
            </a:pPr>
            <a:r>
              <a:rPr lang="en-US" sz="2600" b="1" dirty="0">
                <a:solidFill>
                  <a:srgbClr val="38BDF8"/>
                </a:solidFill>
                <a:latin typeface="Calibri" pitchFamily="34" charset="0"/>
                <a:ea typeface="Calibri" pitchFamily="34" charset="-122"/>
                <a:cs typeface="Calibri" pitchFamily="34" charset="-120"/>
              </a:rPr>
              <a:t>Introduction &amp; Motivation</a:t>
            </a:r>
            <a:endParaRPr lang="en-US" sz="2600" dirty="0"/>
          </a:p>
        </p:txBody>
      </p:sp>
      <p:sp>
        <p:nvSpPr>
          <p:cNvPr id="4" name="Text 2"/>
          <p:cNvSpPr/>
          <p:nvPr/>
        </p:nvSpPr>
        <p:spPr>
          <a:xfrm>
            <a:off x="457200" y="749808"/>
            <a:ext cx="11274552" cy="292608"/>
          </a:xfrm>
          <a:prstGeom prst="rect">
            <a:avLst/>
          </a:prstGeom>
          <a:noFill/>
          <a:ln/>
        </p:spPr>
        <p:txBody>
          <a:bodyPr wrap="square" rtlCol="0" anchor="ctr"/>
          <a:lstStyle/>
          <a:p>
            <a:pPr marL="0" indent="0" algn="r">
              <a:buNone/>
            </a:pPr>
            <a:r>
              <a:rPr lang="en-US" sz="1450" dirty="0">
                <a:solidFill>
                  <a:srgbClr val="8FBCDA"/>
                </a:solidFill>
                <a:latin typeface="Calibri" pitchFamily="34" charset="0"/>
                <a:ea typeface="Calibri" pitchFamily="34" charset="-122"/>
                <a:cs typeface="Calibri" pitchFamily="34" charset="-120"/>
              </a:rPr>
              <a:t>Why detect fill level acoustically?</a:t>
            </a:r>
            <a:endParaRPr lang="en-US" sz="1450" dirty="0"/>
          </a:p>
        </p:txBody>
      </p:sp>
      <p:sp>
        <p:nvSpPr>
          <p:cNvPr id="5" name="Text 3"/>
          <p:cNvSpPr/>
          <p:nvPr/>
        </p:nvSpPr>
        <p:spPr>
          <a:xfrm>
            <a:off x="365760" y="6601968"/>
            <a:ext cx="11457432" cy="201168"/>
          </a:xfrm>
          <a:prstGeom prst="rect">
            <a:avLst/>
          </a:prstGeom>
          <a:noFill/>
          <a:ln/>
        </p:spPr>
        <p:txBody>
          <a:bodyPr wrap="square" rtlCol="0" anchor="ctr"/>
          <a:lstStyle/>
          <a:p>
            <a:pPr marL="0" indent="0" algn="r">
              <a:buNone/>
            </a:pPr>
            <a:r>
              <a:rPr lang="en-US" sz="1050" dirty="0">
                <a:solidFill>
                  <a:srgbClr val="1A3A5F"/>
                </a:solidFill>
                <a:latin typeface="Calibri" pitchFamily="34" charset="0"/>
                <a:ea typeface="Calibri" pitchFamily="34" charset="-122"/>
                <a:cs typeface="Calibri" pitchFamily="34" charset="-120"/>
              </a:rPr>
              <a:t>Introduction &amp; Motivation</a:t>
            </a:r>
            <a:endParaRPr lang="en-US" sz="1050" dirty="0"/>
          </a:p>
        </p:txBody>
      </p:sp>
      <p:sp>
        <p:nvSpPr>
          <p:cNvPr id="6" name="Shape 4"/>
          <p:cNvSpPr/>
          <p:nvPr/>
        </p:nvSpPr>
        <p:spPr>
          <a:xfrm>
            <a:off x="365760" y="1143000"/>
            <a:ext cx="5486400" cy="5349240"/>
          </a:xfrm>
          <a:prstGeom prst="rect">
            <a:avLst/>
          </a:prstGeom>
          <a:solidFill>
            <a:srgbClr val="0A1628"/>
          </a:solidFill>
          <a:ln w="12700">
            <a:solidFill>
              <a:srgbClr val="1E3A5F"/>
            </a:solidFill>
            <a:prstDash val="solid"/>
          </a:ln>
        </p:spPr>
      </p:sp>
      <p:sp>
        <p:nvSpPr>
          <p:cNvPr id="7" name="Shape 5"/>
          <p:cNvSpPr/>
          <p:nvPr/>
        </p:nvSpPr>
        <p:spPr>
          <a:xfrm>
            <a:off x="365760" y="1143000"/>
            <a:ext cx="5486400" cy="36576"/>
          </a:xfrm>
          <a:prstGeom prst="rect">
            <a:avLst/>
          </a:prstGeom>
          <a:solidFill>
            <a:srgbClr val="F87171"/>
          </a:solidFill>
          <a:ln w="12700">
            <a:solidFill>
              <a:srgbClr val="F87171"/>
            </a:solidFill>
            <a:prstDash val="solid"/>
          </a:ln>
        </p:spPr>
      </p:sp>
      <p:sp>
        <p:nvSpPr>
          <p:cNvPr id="8" name="Text 6"/>
          <p:cNvSpPr/>
          <p:nvPr/>
        </p:nvSpPr>
        <p:spPr>
          <a:xfrm>
            <a:off x="502920" y="1207008"/>
            <a:ext cx="5212080" cy="411480"/>
          </a:xfrm>
          <a:prstGeom prst="rect">
            <a:avLst/>
          </a:prstGeom>
          <a:noFill/>
          <a:ln/>
        </p:spPr>
        <p:txBody>
          <a:bodyPr wrap="square" rtlCol="0" anchor="ctr"/>
          <a:lstStyle/>
          <a:p>
            <a:pPr marL="0" indent="0">
              <a:buNone/>
            </a:pPr>
            <a:r>
              <a:rPr lang="en-US" sz="1700" b="1" dirty="0">
                <a:solidFill>
                  <a:srgbClr val="F87171"/>
                </a:solidFill>
                <a:latin typeface="Calibri" pitchFamily="34" charset="0"/>
                <a:ea typeface="Calibri" pitchFamily="34" charset="-122"/>
                <a:cs typeface="Calibri" pitchFamily="34" charset="-120"/>
              </a:rPr>
              <a:t>The Problem</a:t>
            </a:r>
            <a:endParaRPr lang="en-US" sz="1700" dirty="0"/>
          </a:p>
        </p:txBody>
      </p:sp>
      <p:sp>
        <p:nvSpPr>
          <p:cNvPr id="9" name="Text 7"/>
          <p:cNvSpPr/>
          <p:nvPr/>
        </p:nvSpPr>
        <p:spPr>
          <a:xfrm>
            <a:off x="502920" y="1691640"/>
            <a:ext cx="5212080" cy="914400"/>
          </a:xfrm>
          <a:prstGeom prst="rect">
            <a:avLst/>
          </a:prstGeom>
          <a:noFill/>
          <a:ln/>
        </p:spPr>
        <p:txBody>
          <a:bodyPr wrap="square" rtlCol="0" anchor="ctr"/>
          <a:lstStyle/>
          <a:p>
            <a:pPr marL="0" indent="0">
              <a:buNone/>
            </a:pPr>
            <a:r>
              <a:rPr lang="en-US" sz="1350" dirty="0">
                <a:solidFill>
                  <a:srgbClr val="8FBCDA"/>
                </a:solidFill>
                <a:latin typeface="Calibri" pitchFamily="34" charset="0"/>
                <a:ea typeface="Calibri" pitchFamily="34" charset="-122"/>
                <a:cs typeface="Calibri" pitchFamily="34" charset="-120"/>
              </a:rPr>
              <a:t>Liquid overflow in automated systems — smart taps, robotic dispensers, industrial fillers — is a safety and operational hazard. Existing sensor-based solutions all share the same drawbacks:</a:t>
            </a:r>
            <a:endParaRPr lang="en-US" sz="1350" dirty="0"/>
          </a:p>
        </p:txBody>
      </p:sp>
      <p:sp>
        <p:nvSpPr>
          <p:cNvPr id="10" name="Text 8"/>
          <p:cNvSpPr/>
          <p:nvPr/>
        </p:nvSpPr>
        <p:spPr>
          <a:xfrm>
            <a:off x="548640" y="2743200"/>
            <a:ext cx="5120640" cy="256032"/>
          </a:xfrm>
          <a:prstGeom prst="rect">
            <a:avLst/>
          </a:prstGeom>
          <a:noFill/>
          <a:ln/>
        </p:spPr>
        <p:txBody>
          <a:bodyPr wrap="square" rtlCol="0" anchor="ctr"/>
          <a:lstStyle/>
          <a:p>
            <a:pPr marL="0" indent="0">
              <a:buNone/>
            </a:pPr>
            <a:r>
              <a:rPr lang="en-US" sz="1350" b="1" dirty="0">
                <a:solidFill>
                  <a:srgbClr val="F87171"/>
                </a:solidFill>
                <a:latin typeface="Calibri" pitchFamily="34" charset="0"/>
                <a:ea typeface="Calibri" pitchFamily="34" charset="-122"/>
                <a:cs typeface="Calibri" pitchFamily="34" charset="-120"/>
              </a:rPr>
              <a:t>✗  Weight sensors</a:t>
            </a:r>
            <a:endParaRPr lang="en-US" sz="1350" dirty="0"/>
          </a:p>
        </p:txBody>
      </p:sp>
      <p:sp>
        <p:nvSpPr>
          <p:cNvPr id="11" name="Text 9"/>
          <p:cNvSpPr/>
          <p:nvPr/>
        </p:nvSpPr>
        <p:spPr>
          <a:xfrm>
            <a:off x="548640" y="3017520"/>
            <a:ext cx="5120640" cy="320040"/>
          </a:xfrm>
          <a:prstGeom prst="rect">
            <a:avLst/>
          </a:prstGeom>
          <a:noFill/>
          <a:ln/>
        </p:spPr>
        <p:txBody>
          <a:bodyPr wrap="square" rtlCol="0" anchor="ctr"/>
          <a:lstStyle/>
          <a:p>
            <a:pPr marL="0" indent="0">
              <a:buNone/>
            </a:pPr>
            <a:r>
              <a:rPr lang="en-US" sz="1250" dirty="0">
                <a:solidFill>
                  <a:srgbClr val="8FBCDA"/>
                </a:solidFill>
                <a:latin typeface="Calibri" pitchFamily="34" charset="0"/>
                <a:ea typeface="Calibri" pitchFamily="34" charset="-122"/>
                <a:cs typeface="Calibri" pitchFamily="34" charset="-120"/>
              </a:rPr>
              <a:t>Require mechanical mounting, drift over time, expensive</a:t>
            </a:r>
            <a:endParaRPr lang="en-US" sz="1250" dirty="0"/>
          </a:p>
        </p:txBody>
      </p:sp>
      <p:sp>
        <p:nvSpPr>
          <p:cNvPr id="12" name="Text 10"/>
          <p:cNvSpPr/>
          <p:nvPr/>
        </p:nvSpPr>
        <p:spPr>
          <a:xfrm>
            <a:off x="548640" y="3429000"/>
            <a:ext cx="5120640" cy="256032"/>
          </a:xfrm>
          <a:prstGeom prst="rect">
            <a:avLst/>
          </a:prstGeom>
          <a:noFill/>
          <a:ln/>
        </p:spPr>
        <p:txBody>
          <a:bodyPr wrap="square" rtlCol="0" anchor="ctr"/>
          <a:lstStyle/>
          <a:p>
            <a:pPr marL="0" indent="0">
              <a:buNone/>
            </a:pPr>
            <a:r>
              <a:rPr lang="en-US" sz="1350" b="1" dirty="0">
                <a:solidFill>
                  <a:srgbClr val="F87171"/>
                </a:solidFill>
                <a:latin typeface="Calibri" pitchFamily="34" charset="0"/>
                <a:ea typeface="Calibri" pitchFamily="34" charset="-122"/>
                <a:cs typeface="Calibri" pitchFamily="34" charset="-120"/>
              </a:rPr>
              <a:t>✗  Optical detectors</a:t>
            </a:r>
            <a:endParaRPr lang="en-US" sz="1350" dirty="0"/>
          </a:p>
        </p:txBody>
      </p:sp>
      <p:sp>
        <p:nvSpPr>
          <p:cNvPr id="13" name="Text 11"/>
          <p:cNvSpPr/>
          <p:nvPr/>
        </p:nvSpPr>
        <p:spPr>
          <a:xfrm>
            <a:off x="548640" y="3703320"/>
            <a:ext cx="5120640" cy="320040"/>
          </a:xfrm>
          <a:prstGeom prst="rect">
            <a:avLst/>
          </a:prstGeom>
          <a:noFill/>
          <a:ln/>
        </p:spPr>
        <p:txBody>
          <a:bodyPr wrap="square" rtlCol="0" anchor="ctr"/>
          <a:lstStyle/>
          <a:p>
            <a:pPr marL="0" indent="0">
              <a:buNone/>
            </a:pPr>
            <a:r>
              <a:rPr lang="en-US" sz="1250" dirty="0">
                <a:solidFill>
                  <a:srgbClr val="8FBCDA"/>
                </a:solidFill>
                <a:latin typeface="Calibri" pitchFamily="34" charset="0"/>
                <a:ea typeface="Calibri" pitchFamily="34" charset="-122"/>
                <a:cs typeface="Calibri" pitchFamily="34" charset="-120"/>
              </a:rPr>
              <a:t>Fail with transparent or colored cups, ambient-light sensitive</a:t>
            </a:r>
            <a:endParaRPr lang="en-US" sz="1250" dirty="0"/>
          </a:p>
        </p:txBody>
      </p:sp>
      <p:sp>
        <p:nvSpPr>
          <p:cNvPr id="14" name="Text 12"/>
          <p:cNvSpPr/>
          <p:nvPr/>
        </p:nvSpPr>
        <p:spPr>
          <a:xfrm>
            <a:off x="548640" y="4114800"/>
            <a:ext cx="5120640" cy="256032"/>
          </a:xfrm>
          <a:prstGeom prst="rect">
            <a:avLst/>
          </a:prstGeom>
          <a:noFill/>
          <a:ln/>
        </p:spPr>
        <p:txBody>
          <a:bodyPr wrap="square" rtlCol="0" anchor="ctr"/>
          <a:lstStyle/>
          <a:p>
            <a:pPr marL="0" indent="0">
              <a:buNone/>
            </a:pPr>
            <a:r>
              <a:rPr lang="en-US" sz="1350" b="1" dirty="0">
                <a:solidFill>
                  <a:srgbClr val="F87171"/>
                </a:solidFill>
                <a:latin typeface="Calibri" pitchFamily="34" charset="0"/>
                <a:ea typeface="Calibri" pitchFamily="34" charset="-122"/>
                <a:cs typeface="Calibri" pitchFamily="34" charset="-120"/>
              </a:rPr>
              <a:t>✗  Flow meters</a:t>
            </a:r>
            <a:endParaRPr lang="en-US" sz="1350" dirty="0"/>
          </a:p>
        </p:txBody>
      </p:sp>
      <p:sp>
        <p:nvSpPr>
          <p:cNvPr id="15" name="Text 13"/>
          <p:cNvSpPr/>
          <p:nvPr/>
        </p:nvSpPr>
        <p:spPr>
          <a:xfrm>
            <a:off x="548640" y="4389120"/>
            <a:ext cx="5120640" cy="320040"/>
          </a:xfrm>
          <a:prstGeom prst="rect">
            <a:avLst/>
          </a:prstGeom>
          <a:noFill/>
          <a:ln/>
        </p:spPr>
        <p:txBody>
          <a:bodyPr wrap="square" rtlCol="0" anchor="ctr"/>
          <a:lstStyle/>
          <a:p>
            <a:pPr marL="0" indent="0">
              <a:buNone/>
            </a:pPr>
            <a:r>
              <a:rPr lang="en-US" sz="1250" dirty="0">
                <a:solidFill>
                  <a:srgbClr val="8FBCDA"/>
                </a:solidFill>
                <a:latin typeface="Calibri" pitchFamily="34" charset="0"/>
                <a:ea typeface="Calibri" pitchFamily="34" charset="-122"/>
                <a:cs typeface="Calibri" pitchFamily="34" charset="-120"/>
              </a:rPr>
              <a:t>Need inline plumbing modifications, not retrofittable</a:t>
            </a:r>
            <a:endParaRPr lang="en-US" sz="1250" dirty="0"/>
          </a:p>
        </p:txBody>
      </p:sp>
      <p:sp>
        <p:nvSpPr>
          <p:cNvPr id="16" name="Text 14"/>
          <p:cNvSpPr/>
          <p:nvPr/>
        </p:nvSpPr>
        <p:spPr>
          <a:xfrm>
            <a:off x="548640" y="4800600"/>
            <a:ext cx="5120640" cy="256032"/>
          </a:xfrm>
          <a:prstGeom prst="rect">
            <a:avLst/>
          </a:prstGeom>
          <a:noFill/>
          <a:ln/>
        </p:spPr>
        <p:txBody>
          <a:bodyPr wrap="square" rtlCol="0" anchor="ctr"/>
          <a:lstStyle/>
          <a:p>
            <a:pPr marL="0" indent="0">
              <a:buNone/>
            </a:pPr>
            <a:r>
              <a:rPr lang="en-US" sz="1350" b="1" dirty="0">
                <a:solidFill>
                  <a:srgbClr val="F87171"/>
                </a:solidFill>
                <a:latin typeface="Calibri" pitchFamily="34" charset="0"/>
                <a:ea typeface="Calibri" pitchFamily="34" charset="-122"/>
                <a:cs typeface="Calibri" pitchFamily="34" charset="-120"/>
              </a:rPr>
              <a:t>✗  Ultrasonic sensors</a:t>
            </a:r>
            <a:endParaRPr lang="en-US" sz="1350" dirty="0"/>
          </a:p>
        </p:txBody>
      </p:sp>
      <p:sp>
        <p:nvSpPr>
          <p:cNvPr id="17" name="Text 15"/>
          <p:cNvSpPr/>
          <p:nvPr/>
        </p:nvSpPr>
        <p:spPr>
          <a:xfrm>
            <a:off x="548640" y="5074920"/>
            <a:ext cx="5120640" cy="320040"/>
          </a:xfrm>
          <a:prstGeom prst="rect">
            <a:avLst/>
          </a:prstGeom>
          <a:noFill/>
          <a:ln/>
        </p:spPr>
        <p:txBody>
          <a:bodyPr wrap="square" rtlCol="0" anchor="ctr"/>
          <a:lstStyle/>
          <a:p>
            <a:pPr marL="0" indent="0">
              <a:buNone/>
            </a:pPr>
            <a:r>
              <a:rPr lang="en-US" sz="1250" dirty="0">
                <a:solidFill>
                  <a:srgbClr val="8FBCDA"/>
                </a:solidFill>
                <a:latin typeface="Calibri" pitchFamily="34" charset="0"/>
                <a:ea typeface="Calibri" pitchFamily="34" charset="-122"/>
                <a:cs typeface="Calibri" pitchFamily="34" charset="-120"/>
              </a:rPr>
              <a:t>Expensive, require precise alignment, affected by foam</a:t>
            </a:r>
            <a:endParaRPr lang="en-US" sz="1250" dirty="0"/>
          </a:p>
        </p:txBody>
      </p:sp>
      <p:sp>
        <p:nvSpPr>
          <p:cNvPr id="18" name="Text 16"/>
          <p:cNvSpPr/>
          <p:nvPr/>
        </p:nvSpPr>
        <p:spPr>
          <a:xfrm>
            <a:off x="548640" y="5486400"/>
            <a:ext cx="5120640" cy="256032"/>
          </a:xfrm>
          <a:prstGeom prst="rect">
            <a:avLst/>
          </a:prstGeom>
          <a:noFill/>
          <a:ln/>
        </p:spPr>
        <p:txBody>
          <a:bodyPr wrap="square" rtlCol="0" anchor="ctr"/>
          <a:lstStyle/>
          <a:p>
            <a:pPr marL="0" indent="0">
              <a:buNone/>
            </a:pPr>
            <a:r>
              <a:rPr lang="en-US" sz="1350" b="1" dirty="0">
                <a:solidFill>
                  <a:srgbClr val="F87171"/>
                </a:solidFill>
                <a:latin typeface="Calibri" pitchFamily="34" charset="0"/>
                <a:ea typeface="Calibri" pitchFamily="34" charset="-122"/>
                <a:cs typeface="Calibri" pitchFamily="34" charset="-120"/>
              </a:rPr>
              <a:t>✗  Human supervision</a:t>
            </a:r>
            <a:endParaRPr lang="en-US" sz="1350" dirty="0"/>
          </a:p>
        </p:txBody>
      </p:sp>
      <p:sp>
        <p:nvSpPr>
          <p:cNvPr id="19" name="Text 17"/>
          <p:cNvSpPr/>
          <p:nvPr/>
        </p:nvSpPr>
        <p:spPr>
          <a:xfrm>
            <a:off x="548640" y="5760720"/>
            <a:ext cx="5120640" cy="320040"/>
          </a:xfrm>
          <a:prstGeom prst="rect">
            <a:avLst/>
          </a:prstGeom>
          <a:noFill/>
          <a:ln/>
        </p:spPr>
        <p:txBody>
          <a:bodyPr wrap="square" rtlCol="0" anchor="ctr"/>
          <a:lstStyle/>
          <a:p>
            <a:pPr marL="0" indent="0">
              <a:buNone/>
            </a:pPr>
            <a:r>
              <a:rPr lang="en-US" sz="1250" dirty="0">
                <a:solidFill>
                  <a:srgbClr val="8FBCDA"/>
                </a:solidFill>
                <a:latin typeface="Calibri" pitchFamily="34" charset="0"/>
                <a:ea typeface="Calibri" pitchFamily="34" charset="-122"/>
                <a:cs typeface="Calibri" pitchFamily="34" charset="-120"/>
              </a:rPr>
              <a:t>Unreliable, doesn’t scale, still causes spills</a:t>
            </a:r>
            <a:endParaRPr lang="en-US" sz="1250" dirty="0"/>
          </a:p>
        </p:txBody>
      </p:sp>
      <p:sp>
        <p:nvSpPr>
          <p:cNvPr id="20" name="Shape 18"/>
          <p:cNvSpPr/>
          <p:nvPr/>
        </p:nvSpPr>
        <p:spPr>
          <a:xfrm>
            <a:off x="6035040" y="1143000"/>
            <a:ext cx="5806440" cy="5349240"/>
          </a:xfrm>
          <a:prstGeom prst="rect">
            <a:avLst/>
          </a:prstGeom>
          <a:solidFill>
            <a:srgbClr val="0A1628"/>
          </a:solidFill>
          <a:ln w="12700">
            <a:solidFill>
              <a:srgbClr val="1E3A5F"/>
            </a:solidFill>
            <a:prstDash val="solid"/>
          </a:ln>
        </p:spPr>
      </p:sp>
      <p:sp>
        <p:nvSpPr>
          <p:cNvPr id="21" name="Shape 19"/>
          <p:cNvSpPr/>
          <p:nvPr/>
        </p:nvSpPr>
        <p:spPr>
          <a:xfrm>
            <a:off x="6035040" y="1143000"/>
            <a:ext cx="5806440" cy="36576"/>
          </a:xfrm>
          <a:prstGeom prst="rect">
            <a:avLst/>
          </a:prstGeom>
          <a:solidFill>
            <a:srgbClr val="34D399"/>
          </a:solidFill>
          <a:ln w="12700">
            <a:solidFill>
              <a:srgbClr val="34D399"/>
            </a:solidFill>
            <a:prstDash val="solid"/>
          </a:ln>
        </p:spPr>
      </p:sp>
      <p:sp>
        <p:nvSpPr>
          <p:cNvPr id="22" name="Text 20"/>
          <p:cNvSpPr/>
          <p:nvPr/>
        </p:nvSpPr>
        <p:spPr>
          <a:xfrm>
            <a:off x="6172200" y="1207008"/>
            <a:ext cx="5532120" cy="411480"/>
          </a:xfrm>
          <a:prstGeom prst="rect">
            <a:avLst/>
          </a:prstGeom>
          <a:noFill/>
          <a:ln/>
        </p:spPr>
        <p:txBody>
          <a:bodyPr wrap="square" rtlCol="0" anchor="ctr"/>
          <a:lstStyle/>
          <a:p>
            <a:pPr marL="0" indent="0">
              <a:buNone/>
            </a:pPr>
            <a:r>
              <a:rPr lang="en-US" sz="1700" b="1" dirty="0">
                <a:solidFill>
                  <a:srgbClr val="34D399"/>
                </a:solidFill>
                <a:latin typeface="Calibri" pitchFamily="34" charset="0"/>
                <a:ea typeface="Calibri" pitchFamily="34" charset="-122"/>
                <a:cs typeface="Calibri" pitchFamily="34" charset="-120"/>
              </a:rPr>
              <a:t>Our Solution</a:t>
            </a:r>
            <a:endParaRPr lang="en-US" sz="1700" dirty="0"/>
          </a:p>
        </p:txBody>
      </p:sp>
      <p:sp>
        <p:nvSpPr>
          <p:cNvPr id="23" name="Text 21"/>
          <p:cNvSpPr/>
          <p:nvPr/>
        </p:nvSpPr>
        <p:spPr>
          <a:xfrm>
            <a:off x="6172200" y="1691640"/>
            <a:ext cx="5532120" cy="1005840"/>
          </a:xfrm>
          <a:prstGeom prst="rect">
            <a:avLst/>
          </a:prstGeom>
          <a:noFill/>
          <a:ln/>
        </p:spPr>
        <p:txBody>
          <a:bodyPr wrap="square" rtlCol="0" anchor="ctr"/>
          <a:lstStyle/>
          <a:p>
            <a:pPr marL="0" indent="0">
              <a:buNone/>
            </a:pPr>
            <a:r>
              <a:rPr lang="en-US" sz="1350" dirty="0">
                <a:solidFill>
                  <a:srgbClr val="8FBCDA"/>
                </a:solidFill>
                <a:latin typeface="Calibri" pitchFamily="34" charset="0"/>
                <a:ea typeface="Calibri" pitchFamily="34" charset="-122"/>
                <a:cs typeface="Calibri" pitchFamily="34" charset="-120"/>
              </a:rPr>
              <a:t>A microphone as a software sensor. As liquid rises, the acoustic character of the pour changes: splash dynamics shift, spectral energy redistributes, and amplitude evolves. Our LightGBM model learns these acoustic signatures and triggers a stop command at ≥90% fill — without touching the cup.</a:t>
            </a:r>
            <a:endParaRPr lang="en-US" sz="1350" dirty="0"/>
          </a:p>
        </p:txBody>
      </p:sp>
      <p:sp>
        <p:nvSpPr>
          <p:cNvPr id="24" name="Text 22"/>
          <p:cNvSpPr/>
          <p:nvPr/>
        </p:nvSpPr>
        <p:spPr>
          <a:xfrm>
            <a:off x="6172200" y="2834640"/>
            <a:ext cx="5532120" cy="274320"/>
          </a:xfrm>
          <a:prstGeom prst="rect">
            <a:avLst/>
          </a:prstGeom>
          <a:noFill/>
          <a:ln/>
        </p:spPr>
        <p:txBody>
          <a:bodyPr wrap="square" rtlCol="0" anchor="ctr"/>
          <a:lstStyle/>
          <a:p>
            <a:pPr marL="0" indent="0">
              <a:buNone/>
            </a:pPr>
            <a:r>
              <a:rPr lang="en-US" sz="1350" b="1" dirty="0">
                <a:solidFill>
                  <a:srgbClr val="34D399"/>
                </a:solidFill>
                <a:latin typeface="Calibri" pitchFamily="34" charset="0"/>
                <a:ea typeface="Calibri" pitchFamily="34" charset="-122"/>
                <a:cs typeface="Calibri" pitchFamily="34" charset="-120"/>
              </a:rPr>
              <a:t>✓  One microphone</a:t>
            </a:r>
            <a:endParaRPr lang="en-US" sz="1350" dirty="0"/>
          </a:p>
        </p:txBody>
      </p:sp>
      <p:sp>
        <p:nvSpPr>
          <p:cNvPr id="25" name="Text 23"/>
          <p:cNvSpPr/>
          <p:nvPr/>
        </p:nvSpPr>
        <p:spPr>
          <a:xfrm>
            <a:off x="6172200" y="3127248"/>
            <a:ext cx="5532120" cy="384048"/>
          </a:xfrm>
          <a:prstGeom prst="rect">
            <a:avLst/>
          </a:prstGeom>
          <a:noFill/>
          <a:ln/>
        </p:spPr>
        <p:txBody>
          <a:bodyPr wrap="square" rtlCol="0" anchor="ctr"/>
          <a:lstStyle/>
          <a:p>
            <a:pPr marL="0" indent="0">
              <a:buNone/>
            </a:pPr>
            <a:r>
              <a:rPr lang="en-US" sz="1250" dirty="0">
                <a:solidFill>
                  <a:srgbClr val="8FBCDA"/>
                </a:solidFill>
                <a:latin typeface="Calibri" pitchFamily="34" charset="0"/>
                <a:ea typeface="Calibri" pitchFamily="34" charset="-122"/>
                <a:cs typeface="Calibri" pitchFamily="34" charset="-120"/>
              </a:rPr>
              <a:t>Smartphone microphone. No moving parts, no calibration, clips onto any dispenser.</a:t>
            </a:r>
            <a:endParaRPr lang="en-US" sz="1250" dirty="0"/>
          </a:p>
        </p:txBody>
      </p:sp>
      <p:sp>
        <p:nvSpPr>
          <p:cNvPr id="26" name="Text 24"/>
          <p:cNvSpPr/>
          <p:nvPr/>
        </p:nvSpPr>
        <p:spPr>
          <a:xfrm>
            <a:off x="6172200" y="3584448"/>
            <a:ext cx="5532120" cy="274320"/>
          </a:xfrm>
          <a:prstGeom prst="rect">
            <a:avLst/>
          </a:prstGeom>
          <a:noFill/>
          <a:ln/>
        </p:spPr>
        <p:txBody>
          <a:bodyPr wrap="square" rtlCol="0" anchor="ctr"/>
          <a:lstStyle/>
          <a:p>
            <a:pPr marL="0" indent="0">
              <a:buNone/>
            </a:pPr>
            <a:r>
              <a:rPr lang="en-US" sz="1350" b="1" dirty="0">
                <a:solidFill>
                  <a:srgbClr val="34D399"/>
                </a:solidFill>
                <a:latin typeface="Calibri" pitchFamily="34" charset="0"/>
                <a:ea typeface="Calibri" pitchFamily="34" charset="-122"/>
                <a:cs typeface="Calibri" pitchFamily="34" charset="-120"/>
              </a:rPr>
              <a:t>✓  Works on any cup</a:t>
            </a:r>
            <a:endParaRPr lang="en-US" sz="1350" dirty="0"/>
          </a:p>
        </p:txBody>
      </p:sp>
      <p:sp>
        <p:nvSpPr>
          <p:cNvPr id="27" name="Text 25"/>
          <p:cNvSpPr/>
          <p:nvPr/>
        </p:nvSpPr>
        <p:spPr>
          <a:xfrm>
            <a:off x="6172200" y="3877056"/>
            <a:ext cx="5532120" cy="384048"/>
          </a:xfrm>
          <a:prstGeom prst="rect">
            <a:avLst/>
          </a:prstGeom>
          <a:noFill/>
          <a:ln/>
        </p:spPr>
        <p:txBody>
          <a:bodyPr wrap="square" rtlCol="0" anchor="ctr"/>
          <a:lstStyle/>
          <a:p>
            <a:pPr marL="0" indent="0">
              <a:buNone/>
            </a:pPr>
            <a:r>
              <a:rPr lang="en-US" sz="1250" dirty="0">
                <a:solidFill>
                  <a:srgbClr val="8FBCDA"/>
                </a:solidFill>
                <a:latin typeface="Calibri" pitchFamily="34" charset="0"/>
                <a:ea typeface="Calibri" pitchFamily="34" charset="-122"/>
                <a:cs typeface="Calibri" pitchFamily="34" charset="-120"/>
              </a:rPr>
              <a:t>Glass, plastic, paper, ceramic — model adapts to each material’s acoustics.</a:t>
            </a:r>
            <a:endParaRPr lang="en-US" sz="1250" dirty="0"/>
          </a:p>
        </p:txBody>
      </p:sp>
      <p:sp>
        <p:nvSpPr>
          <p:cNvPr id="28" name="Text 26"/>
          <p:cNvSpPr/>
          <p:nvPr/>
        </p:nvSpPr>
        <p:spPr>
          <a:xfrm>
            <a:off x="6172200" y="4334256"/>
            <a:ext cx="5532120" cy="274320"/>
          </a:xfrm>
          <a:prstGeom prst="rect">
            <a:avLst/>
          </a:prstGeom>
          <a:noFill/>
          <a:ln/>
        </p:spPr>
        <p:txBody>
          <a:bodyPr wrap="square" rtlCol="0" anchor="ctr"/>
          <a:lstStyle/>
          <a:p>
            <a:pPr marL="0" indent="0">
              <a:buNone/>
            </a:pPr>
            <a:r>
              <a:rPr lang="en-US" sz="1350" b="1" dirty="0">
                <a:solidFill>
                  <a:srgbClr val="34D399"/>
                </a:solidFill>
                <a:latin typeface="Calibri" pitchFamily="34" charset="0"/>
                <a:ea typeface="Calibri" pitchFamily="34" charset="-122"/>
                <a:cs typeface="Calibri" pitchFamily="34" charset="-120"/>
              </a:rPr>
              <a:t>✓  Fast processing</a:t>
            </a:r>
            <a:endParaRPr lang="en-US" sz="1350" dirty="0"/>
          </a:p>
        </p:txBody>
      </p:sp>
      <p:sp>
        <p:nvSpPr>
          <p:cNvPr id="29" name="Text 27"/>
          <p:cNvSpPr/>
          <p:nvPr/>
        </p:nvSpPr>
        <p:spPr>
          <a:xfrm>
            <a:off x="6172200" y="4626864"/>
            <a:ext cx="5532120" cy="384048"/>
          </a:xfrm>
          <a:prstGeom prst="rect">
            <a:avLst/>
          </a:prstGeom>
          <a:noFill/>
          <a:ln/>
        </p:spPr>
        <p:txBody>
          <a:bodyPr wrap="square" rtlCol="0" anchor="ctr"/>
          <a:lstStyle/>
          <a:p>
            <a:pPr marL="0" indent="0">
              <a:buNone/>
            </a:pPr>
            <a:r>
              <a:rPr lang="en-US" sz="1250" dirty="0">
                <a:solidFill>
                  <a:srgbClr val="8FBCDA"/>
                </a:solidFill>
                <a:latin typeface="Calibri" pitchFamily="34" charset="0"/>
                <a:ea typeface="Calibri" pitchFamily="34" charset="-122"/>
                <a:cs typeface="Calibri" pitchFamily="34" charset="-120"/>
              </a:rPr>
              <a:t>50ms frames processed sequentially. Stop command fires within ~250ms of threshold crossing.</a:t>
            </a:r>
            <a:endParaRPr lang="en-US" sz="1250" dirty="0"/>
          </a:p>
        </p:txBody>
      </p:sp>
      <p:sp>
        <p:nvSpPr>
          <p:cNvPr id="30" name="Text 28"/>
          <p:cNvSpPr/>
          <p:nvPr/>
        </p:nvSpPr>
        <p:spPr>
          <a:xfrm>
            <a:off x="6172200" y="5084064"/>
            <a:ext cx="5532120" cy="274320"/>
          </a:xfrm>
          <a:prstGeom prst="rect">
            <a:avLst/>
          </a:prstGeom>
          <a:noFill/>
          <a:ln/>
        </p:spPr>
        <p:txBody>
          <a:bodyPr wrap="square" rtlCol="0" anchor="ctr"/>
          <a:lstStyle/>
          <a:p>
            <a:pPr marL="0" indent="0">
              <a:buNone/>
            </a:pPr>
            <a:r>
              <a:rPr lang="en-US" sz="1350" b="1" dirty="0">
                <a:solidFill>
                  <a:srgbClr val="34D399"/>
                </a:solidFill>
                <a:latin typeface="Calibri" pitchFamily="34" charset="0"/>
                <a:ea typeface="Calibri" pitchFamily="34" charset="-122"/>
                <a:cs typeface="Calibri" pitchFamily="34" charset="-120"/>
              </a:rPr>
              <a:t>✓  Zero overflows</a:t>
            </a:r>
            <a:endParaRPr lang="en-US" sz="1350" dirty="0"/>
          </a:p>
        </p:txBody>
      </p:sp>
      <p:sp>
        <p:nvSpPr>
          <p:cNvPr id="31" name="Text 29"/>
          <p:cNvSpPr/>
          <p:nvPr/>
        </p:nvSpPr>
        <p:spPr>
          <a:xfrm>
            <a:off x="6172200" y="5376672"/>
            <a:ext cx="5532120" cy="384048"/>
          </a:xfrm>
          <a:prstGeom prst="rect">
            <a:avLst/>
          </a:prstGeom>
          <a:noFill/>
          <a:ln/>
        </p:spPr>
        <p:txBody>
          <a:bodyPr wrap="square" rtlCol="0" anchor="ctr"/>
          <a:lstStyle/>
          <a:p>
            <a:pPr marL="0" indent="0">
              <a:buNone/>
            </a:pPr>
            <a:r>
              <a:rPr lang="en-US" sz="1250" dirty="0">
                <a:solidFill>
                  <a:srgbClr val="8FBCDA"/>
                </a:solidFill>
                <a:latin typeface="Calibri" pitchFamily="34" charset="0"/>
                <a:ea typeface="Calibri" pitchFamily="34" charset="-122"/>
                <a:cs typeface="Calibri" pitchFamily="34" charset="-120"/>
              </a:rPr>
              <a:t>Conservative threshold ensures safety-first operation in all 120 test recordings.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20617"/>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38BDF8"/>
          </a:solidFill>
          <a:ln w="12700">
            <a:solidFill>
              <a:srgbClr val="38BDF8"/>
            </a:solidFill>
            <a:prstDash val="solid"/>
          </a:ln>
        </p:spPr>
      </p:sp>
      <p:sp>
        <p:nvSpPr>
          <p:cNvPr id="3" name="Text 1"/>
          <p:cNvSpPr/>
          <p:nvPr/>
        </p:nvSpPr>
        <p:spPr>
          <a:xfrm>
            <a:off x="457200" y="91440"/>
            <a:ext cx="11274552" cy="658368"/>
          </a:xfrm>
          <a:prstGeom prst="rect">
            <a:avLst/>
          </a:prstGeom>
          <a:noFill/>
          <a:ln/>
        </p:spPr>
        <p:txBody>
          <a:bodyPr wrap="square" rtlCol="0" anchor="ctr"/>
          <a:lstStyle/>
          <a:p>
            <a:pPr marL="0" indent="0" algn="r">
              <a:buNone/>
            </a:pPr>
            <a:r>
              <a:rPr lang="en-US" sz="2600" b="1" dirty="0">
                <a:solidFill>
                  <a:srgbClr val="38BDF8"/>
                </a:solidFill>
                <a:latin typeface="Calibri" pitchFamily="34" charset="0"/>
                <a:ea typeface="Calibri" pitchFamily="34" charset="-122"/>
                <a:cs typeface="Calibri" pitchFamily="34" charset="-120"/>
              </a:rPr>
              <a:t>Project Overview</a:t>
            </a:r>
            <a:endParaRPr lang="en-US" sz="2600" dirty="0"/>
          </a:p>
        </p:txBody>
      </p:sp>
      <p:sp>
        <p:nvSpPr>
          <p:cNvPr id="4" name="Text 2"/>
          <p:cNvSpPr/>
          <p:nvPr/>
        </p:nvSpPr>
        <p:spPr>
          <a:xfrm>
            <a:off x="457200" y="749808"/>
            <a:ext cx="11274552" cy="292608"/>
          </a:xfrm>
          <a:prstGeom prst="rect">
            <a:avLst/>
          </a:prstGeom>
          <a:noFill/>
          <a:ln/>
        </p:spPr>
        <p:txBody>
          <a:bodyPr wrap="square" rtlCol="0" anchor="ctr"/>
          <a:lstStyle/>
          <a:p>
            <a:pPr marL="0" indent="0" algn="r">
              <a:buNone/>
            </a:pPr>
            <a:r>
              <a:rPr lang="en-US" sz="1450" dirty="0">
                <a:solidFill>
                  <a:srgbClr val="8FBCDA"/>
                </a:solidFill>
                <a:latin typeface="Calibri" pitchFamily="34" charset="0"/>
                <a:ea typeface="Calibri" pitchFamily="34" charset="-122"/>
                <a:cs typeface="Calibri" pitchFamily="34" charset="-120"/>
              </a:rPr>
              <a:t>Audio-only fill detection — no physical sensors required</a:t>
            </a:r>
            <a:endParaRPr lang="en-US" sz="1450" dirty="0"/>
          </a:p>
        </p:txBody>
      </p:sp>
      <p:sp>
        <p:nvSpPr>
          <p:cNvPr id="5" name="Text 3"/>
          <p:cNvSpPr/>
          <p:nvPr/>
        </p:nvSpPr>
        <p:spPr>
          <a:xfrm>
            <a:off x="365760" y="6601968"/>
            <a:ext cx="11457432" cy="201168"/>
          </a:xfrm>
          <a:prstGeom prst="rect">
            <a:avLst/>
          </a:prstGeom>
          <a:noFill/>
          <a:ln/>
        </p:spPr>
        <p:txBody>
          <a:bodyPr wrap="square" rtlCol="0" anchor="ctr"/>
          <a:lstStyle/>
          <a:p>
            <a:pPr marL="0" indent="0" algn="r">
              <a:buNone/>
            </a:pPr>
            <a:r>
              <a:rPr lang="en-US" sz="1050" dirty="0">
                <a:solidFill>
                  <a:srgbClr val="1A3A5F"/>
                </a:solidFill>
                <a:latin typeface="Calibri" pitchFamily="34" charset="0"/>
                <a:ea typeface="Calibri" pitchFamily="34" charset="-122"/>
                <a:cs typeface="Calibri" pitchFamily="34" charset="-120"/>
              </a:rPr>
              <a:t>Project Overview</a:t>
            </a:r>
            <a:endParaRPr lang="en-US" sz="1050" dirty="0"/>
          </a:p>
        </p:txBody>
      </p:sp>
      <p:sp>
        <p:nvSpPr>
          <p:cNvPr id="6" name="Shape 4"/>
          <p:cNvSpPr/>
          <p:nvPr/>
        </p:nvSpPr>
        <p:spPr>
          <a:xfrm>
            <a:off x="365760" y="1143000"/>
            <a:ext cx="5394960" cy="5349240"/>
          </a:xfrm>
          <a:prstGeom prst="rect">
            <a:avLst/>
          </a:prstGeom>
          <a:solidFill>
            <a:srgbClr val="0A1628"/>
          </a:solidFill>
          <a:ln w="12700">
            <a:solidFill>
              <a:srgbClr val="1E3A5F"/>
            </a:solidFill>
            <a:prstDash val="solid"/>
          </a:ln>
        </p:spPr>
      </p:sp>
      <p:sp>
        <p:nvSpPr>
          <p:cNvPr id="7" name="Shape 5"/>
          <p:cNvSpPr/>
          <p:nvPr/>
        </p:nvSpPr>
        <p:spPr>
          <a:xfrm>
            <a:off x="365760" y="1143000"/>
            <a:ext cx="5394960" cy="36576"/>
          </a:xfrm>
          <a:prstGeom prst="rect">
            <a:avLst/>
          </a:prstGeom>
          <a:solidFill>
            <a:srgbClr val="38BDF8"/>
          </a:solidFill>
          <a:ln w="12700">
            <a:solidFill>
              <a:srgbClr val="38BDF8"/>
            </a:solidFill>
            <a:prstDash val="solid"/>
          </a:ln>
        </p:spPr>
      </p:sp>
      <p:sp>
        <p:nvSpPr>
          <p:cNvPr id="8" name="Text 6"/>
          <p:cNvSpPr/>
          <p:nvPr/>
        </p:nvSpPr>
        <p:spPr>
          <a:xfrm>
            <a:off x="502920" y="1207008"/>
            <a:ext cx="5120640" cy="411480"/>
          </a:xfrm>
          <a:prstGeom prst="rect">
            <a:avLst/>
          </a:prstGeom>
          <a:noFill/>
          <a:ln/>
        </p:spPr>
        <p:txBody>
          <a:bodyPr wrap="square" rtlCol="0" anchor="ctr"/>
          <a:lstStyle/>
          <a:p>
            <a:pPr marL="0" indent="0">
              <a:buNone/>
            </a:pPr>
            <a:r>
              <a:rPr lang="en-US" sz="1700" b="1" dirty="0">
                <a:solidFill>
                  <a:srgbClr val="38BDF8"/>
                </a:solidFill>
                <a:latin typeface="Calibri" pitchFamily="34" charset="0"/>
                <a:ea typeface="Calibri" pitchFamily="34" charset="-122"/>
                <a:cs typeface="Calibri" pitchFamily="34" charset="-120"/>
              </a:rPr>
              <a:t>What We Built</a:t>
            </a:r>
            <a:endParaRPr lang="en-US" sz="1700" dirty="0"/>
          </a:p>
        </p:txBody>
      </p:sp>
      <p:sp>
        <p:nvSpPr>
          <p:cNvPr id="9" name="Text 7"/>
          <p:cNvSpPr/>
          <p:nvPr/>
        </p:nvSpPr>
        <p:spPr>
          <a:xfrm>
            <a:off x="502920" y="1691640"/>
            <a:ext cx="5120640" cy="1828800"/>
          </a:xfrm>
          <a:prstGeom prst="rect">
            <a:avLst/>
          </a:prstGeom>
          <a:noFill/>
          <a:ln/>
        </p:spPr>
        <p:txBody>
          <a:bodyPr wrap="square" rtlCol="0" anchor="ctr"/>
          <a:lstStyle/>
          <a:p>
            <a:pPr marL="0" indent="0">
              <a:buNone/>
            </a:pPr>
            <a:r>
              <a:rPr lang="en-US" sz="1350" dirty="0">
                <a:solidFill>
                  <a:srgbClr val="8FBCDA"/>
                </a:solidFill>
                <a:latin typeface="Calibri" pitchFamily="34" charset="0"/>
                <a:ea typeface="Calibri" pitchFamily="34" charset="-122"/>
                <a:cs typeface="Calibri" pitchFamily="34" charset="-120"/>
              </a:rPr>
              <a:t>A system that detects when a cup is ≥90% full using only the sound of liquid being poured — no physical contact required.</a:t>
            </a:r>
            <a:endParaRPr lang="en-US" sz="1350" dirty="0"/>
          </a:p>
          <a:p>
            <a:pPr marL="0" indent="0">
              <a:buNone/>
            </a:pPr>
            <a:endParaRPr lang="en-US" sz="1350" dirty="0"/>
          </a:p>
          <a:p>
            <a:pPr marL="0" indent="0">
              <a:buNone/>
            </a:pPr>
            <a:r>
              <a:rPr lang="en-US" sz="1350" dirty="0">
                <a:solidFill>
                  <a:srgbClr val="8FBCDA"/>
                </a:solidFill>
                <a:latin typeface="Calibri" pitchFamily="34" charset="0"/>
                <a:ea typeface="Calibri" pitchFamily="34" charset="-122"/>
                <a:cs typeface="Calibri" pitchFamily="34" charset="-120"/>
              </a:rPr>
              <a:t>A simple microphone replaces expensive flow meters, weight sensors, or optical detectors. The system extracts 56 acoustic features from every 50ms audio frame and classifies each frame with LightGBM. When the rolling-average probability exceeds 0.35, a stop command is triggered.</a:t>
            </a:r>
            <a:endParaRPr lang="en-US" sz="1350" dirty="0"/>
          </a:p>
        </p:txBody>
      </p:sp>
      <p:sp>
        <p:nvSpPr>
          <p:cNvPr id="10" name="Shape 8"/>
          <p:cNvSpPr/>
          <p:nvPr/>
        </p:nvSpPr>
        <p:spPr>
          <a:xfrm>
            <a:off x="548640" y="3813048"/>
            <a:ext cx="50292" cy="237744"/>
          </a:xfrm>
          <a:prstGeom prst="rect">
            <a:avLst/>
          </a:prstGeom>
          <a:solidFill>
            <a:srgbClr val="38BDF8"/>
          </a:solidFill>
          <a:ln w="12700">
            <a:solidFill>
              <a:srgbClr val="38BDF8"/>
            </a:solidFill>
            <a:prstDash val="solid"/>
          </a:ln>
        </p:spPr>
      </p:sp>
      <p:sp>
        <p:nvSpPr>
          <p:cNvPr id="11" name="Text 9"/>
          <p:cNvSpPr/>
          <p:nvPr/>
        </p:nvSpPr>
        <p:spPr>
          <a:xfrm>
            <a:off x="713232" y="3749040"/>
            <a:ext cx="4846320" cy="27432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Microphone only</a:t>
            </a:r>
            <a:endParaRPr lang="en-US" sz="1400" dirty="0"/>
          </a:p>
        </p:txBody>
      </p:sp>
      <p:sp>
        <p:nvSpPr>
          <p:cNvPr id="12" name="Text 10"/>
          <p:cNvSpPr/>
          <p:nvPr/>
        </p:nvSpPr>
        <p:spPr>
          <a:xfrm>
            <a:off x="713232" y="4041648"/>
            <a:ext cx="4846320" cy="457200"/>
          </a:xfrm>
          <a:prstGeom prst="rect">
            <a:avLst/>
          </a:prstGeom>
          <a:noFill/>
          <a:ln/>
        </p:spPr>
        <p:txBody>
          <a:bodyPr wrap="square" rtlCol="0" anchor="ctr"/>
          <a:lstStyle/>
          <a:p>
            <a:pPr marL="0" indent="0">
              <a:buNone/>
            </a:pPr>
            <a:r>
              <a:rPr lang="en-US" sz="1250" dirty="0">
                <a:solidFill>
                  <a:srgbClr val="8FBCDA"/>
                </a:solidFill>
                <a:latin typeface="Calibri" pitchFamily="34" charset="0"/>
                <a:ea typeface="Calibri" pitchFamily="34" charset="-122"/>
                <a:cs typeface="Calibri" pitchFamily="34" charset="-120"/>
              </a:rPr>
              <a:t>Smartphone microphone — no mechanical parts, no calibration, retrofittable to any tap or dispenser.</a:t>
            </a:r>
            <a:endParaRPr lang="en-US" sz="1250" dirty="0"/>
          </a:p>
        </p:txBody>
      </p:sp>
      <p:sp>
        <p:nvSpPr>
          <p:cNvPr id="13" name="Shape 11"/>
          <p:cNvSpPr/>
          <p:nvPr/>
        </p:nvSpPr>
        <p:spPr>
          <a:xfrm>
            <a:off x="548640" y="4681728"/>
            <a:ext cx="50292" cy="237744"/>
          </a:xfrm>
          <a:prstGeom prst="rect">
            <a:avLst/>
          </a:prstGeom>
          <a:solidFill>
            <a:srgbClr val="38BDF8"/>
          </a:solidFill>
          <a:ln w="12700">
            <a:solidFill>
              <a:srgbClr val="38BDF8"/>
            </a:solidFill>
            <a:prstDash val="solid"/>
          </a:ln>
        </p:spPr>
      </p:sp>
      <p:sp>
        <p:nvSpPr>
          <p:cNvPr id="14" name="Text 12"/>
          <p:cNvSpPr/>
          <p:nvPr/>
        </p:nvSpPr>
        <p:spPr>
          <a:xfrm>
            <a:off x="713232" y="4617720"/>
            <a:ext cx="4846320" cy="27432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50ms sliding windows</a:t>
            </a:r>
            <a:endParaRPr lang="en-US" sz="1400" dirty="0"/>
          </a:p>
        </p:txBody>
      </p:sp>
      <p:sp>
        <p:nvSpPr>
          <p:cNvPr id="15" name="Text 13"/>
          <p:cNvSpPr/>
          <p:nvPr/>
        </p:nvSpPr>
        <p:spPr>
          <a:xfrm>
            <a:off x="713232" y="4910328"/>
            <a:ext cx="4846320" cy="457200"/>
          </a:xfrm>
          <a:prstGeom prst="rect">
            <a:avLst/>
          </a:prstGeom>
          <a:noFill/>
          <a:ln/>
        </p:spPr>
        <p:txBody>
          <a:bodyPr wrap="square" rtlCol="0" anchor="ctr"/>
          <a:lstStyle/>
          <a:p>
            <a:pPr marL="0" indent="0">
              <a:buNone/>
            </a:pPr>
            <a:r>
              <a:rPr lang="en-US" sz="1250" dirty="0">
                <a:solidFill>
                  <a:srgbClr val="8FBCDA"/>
                </a:solidFill>
                <a:latin typeface="Calibri" pitchFamily="34" charset="0"/>
                <a:ea typeface="Calibri" pitchFamily="34" charset="-122"/>
                <a:cs typeface="Calibri" pitchFamily="34" charset="-120"/>
              </a:rPr>
              <a:t>Features extracted per frame. 50ms framing makes the architecture suitable for streaming deployment.</a:t>
            </a:r>
            <a:endParaRPr lang="en-US" sz="1250" dirty="0"/>
          </a:p>
        </p:txBody>
      </p:sp>
      <p:sp>
        <p:nvSpPr>
          <p:cNvPr id="16" name="Shape 14"/>
          <p:cNvSpPr/>
          <p:nvPr/>
        </p:nvSpPr>
        <p:spPr>
          <a:xfrm>
            <a:off x="548640" y="5550408"/>
            <a:ext cx="50292" cy="237744"/>
          </a:xfrm>
          <a:prstGeom prst="rect">
            <a:avLst/>
          </a:prstGeom>
          <a:solidFill>
            <a:srgbClr val="38BDF8"/>
          </a:solidFill>
          <a:ln w="12700">
            <a:solidFill>
              <a:srgbClr val="38BDF8"/>
            </a:solidFill>
            <a:prstDash val="solid"/>
          </a:ln>
        </p:spPr>
      </p:sp>
      <p:sp>
        <p:nvSpPr>
          <p:cNvPr id="17" name="Text 15"/>
          <p:cNvSpPr/>
          <p:nvPr/>
        </p:nvSpPr>
        <p:spPr>
          <a:xfrm>
            <a:off x="713232" y="5486400"/>
            <a:ext cx="4846320" cy="27432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Zero overflows</a:t>
            </a:r>
            <a:endParaRPr lang="en-US" sz="1400" dirty="0"/>
          </a:p>
        </p:txBody>
      </p:sp>
      <p:sp>
        <p:nvSpPr>
          <p:cNvPr id="18" name="Text 16"/>
          <p:cNvSpPr/>
          <p:nvPr/>
        </p:nvSpPr>
        <p:spPr>
          <a:xfrm>
            <a:off x="713232" y="5779008"/>
            <a:ext cx="4846320" cy="457200"/>
          </a:xfrm>
          <a:prstGeom prst="rect">
            <a:avLst/>
          </a:prstGeom>
          <a:noFill/>
          <a:ln/>
        </p:spPr>
        <p:txBody>
          <a:bodyPr wrap="square" rtlCol="0" anchor="ctr"/>
          <a:lstStyle/>
          <a:p>
            <a:pPr marL="0" indent="0">
              <a:buNone/>
            </a:pPr>
            <a:r>
              <a:rPr lang="en-US" sz="1250" dirty="0">
                <a:solidFill>
                  <a:srgbClr val="8FBCDA"/>
                </a:solidFill>
                <a:latin typeface="Calibri" pitchFamily="34" charset="0"/>
                <a:ea typeface="Calibri" pitchFamily="34" charset="-122"/>
                <a:cs typeface="Calibri" pitchFamily="34" charset="-120"/>
              </a:rPr>
              <a:t>Conservative threshold (0.35) ensures the pump stops before the cup ever overflows.</a:t>
            </a:r>
            <a:endParaRPr lang="en-US" sz="1250" dirty="0"/>
          </a:p>
        </p:txBody>
      </p:sp>
      <p:sp>
        <p:nvSpPr>
          <p:cNvPr id="19" name="Shape 17"/>
          <p:cNvSpPr/>
          <p:nvPr/>
        </p:nvSpPr>
        <p:spPr>
          <a:xfrm>
            <a:off x="5989320" y="1143000"/>
            <a:ext cx="5897880" cy="978408"/>
          </a:xfrm>
          <a:prstGeom prst="rect">
            <a:avLst/>
          </a:prstGeom>
          <a:solidFill>
            <a:srgbClr val="061220"/>
          </a:solidFill>
          <a:ln w="12700">
            <a:solidFill>
              <a:srgbClr val="1E3A5F"/>
            </a:solidFill>
            <a:prstDash val="solid"/>
          </a:ln>
        </p:spPr>
      </p:sp>
      <p:sp>
        <p:nvSpPr>
          <p:cNvPr id="20" name="Text 18"/>
          <p:cNvSpPr/>
          <p:nvPr/>
        </p:nvSpPr>
        <p:spPr>
          <a:xfrm>
            <a:off x="5989320" y="1207008"/>
            <a:ext cx="5897880" cy="566928"/>
          </a:xfrm>
          <a:prstGeom prst="rect">
            <a:avLst/>
          </a:prstGeom>
          <a:noFill/>
          <a:ln/>
        </p:spPr>
        <p:txBody>
          <a:bodyPr wrap="square" rtlCol="0" anchor="ctr"/>
          <a:lstStyle/>
          <a:p>
            <a:pPr marL="0" indent="0" algn="ctr">
              <a:buNone/>
            </a:pPr>
            <a:r>
              <a:rPr lang="en-US" sz="2800" b="1" dirty="0">
                <a:solidFill>
                  <a:srgbClr val="38BDF8"/>
                </a:solidFill>
                <a:latin typeface="Calibri" pitchFamily="34" charset="0"/>
                <a:ea typeface="Calibri" pitchFamily="34" charset="-122"/>
                <a:cs typeface="Calibri" pitchFamily="34" charset="-120"/>
              </a:rPr>
              <a:t>120</a:t>
            </a:r>
            <a:endParaRPr lang="en-US" sz="2800" dirty="0"/>
          </a:p>
        </p:txBody>
      </p:sp>
      <p:sp>
        <p:nvSpPr>
          <p:cNvPr id="21" name="Text 19"/>
          <p:cNvSpPr/>
          <p:nvPr/>
        </p:nvSpPr>
        <p:spPr>
          <a:xfrm>
            <a:off x="5989320" y="1801368"/>
            <a:ext cx="5897880" cy="246888"/>
          </a:xfrm>
          <a:prstGeom prst="rect">
            <a:avLst/>
          </a:prstGeom>
          <a:noFill/>
          <a:ln/>
        </p:spPr>
        <p:txBody>
          <a:bodyPr wrap="square" rtlCol="0" anchor="ctr"/>
          <a:lstStyle/>
          <a:p>
            <a:pPr marL="0" indent="0" algn="ctr">
              <a:buNone/>
            </a:pPr>
            <a:r>
              <a:rPr lang="en-US" sz="1250" dirty="0">
                <a:solidFill>
                  <a:srgbClr val="8FBCDA"/>
                </a:solidFill>
                <a:latin typeface="Calibri" pitchFamily="34" charset="0"/>
                <a:ea typeface="Calibri" pitchFamily="34" charset="-122"/>
                <a:cs typeface="Calibri" pitchFamily="34" charset="-120"/>
              </a:rPr>
              <a:t>Total Recordings</a:t>
            </a:r>
            <a:endParaRPr lang="en-US" sz="1250" dirty="0"/>
          </a:p>
        </p:txBody>
      </p:sp>
      <p:sp>
        <p:nvSpPr>
          <p:cNvPr id="22" name="Shape 20"/>
          <p:cNvSpPr/>
          <p:nvPr/>
        </p:nvSpPr>
        <p:spPr>
          <a:xfrm>
            <a:off x="5989320" y="2212848"/>
            <a:ext cx="5897880" cy="978408"/>
          </a:xfrm>
          <a:prstGeom prst="rect">
            <a:avLst/>
          </a:prstGeom>
          <a:solidFill>
            <a:srgbClr val="061220"/>
          </a:solidFill>
          <a:ln w="12700">
            <a:solidFill>
              <a:srgbClr val="1E3A5F"/>
            </a:solidFill>
            <a:prstDash val="solid"/>
          </a:ln>
        </p:spPr>
      </p:sp>
      <p:sp>
        <p:nvSpPr>
          <p:cNvPr id="23" name="Text 21"/>
          <p:cNvSpPr/>
          <p:nvPr/>
        </p:nvSpPr>
        <p:spPr>
          <a:xfrm>
            <a:off x="5989320" y="2276856"/>
            <a:ext cx="5897880" cy="566928"/>
          </a:xfrm>
          <a:prstGeom prst="rect">
            <a:avLst/>
          </a:prstGeom>
          <a:noFill/>
          <a:ln/>
        </p:spPr>
        <p:txBody>
          <a:bodyPr wrap="square" rtlCol="0" anchor="ctr"/>
          <a:lstStyle/>
          <a:p>
            <a:pPr marL="0" indent="0" algn="ctr">
              <a:buNone/>
            </a:pPr>
            <a:r>
              <a:rPr lang="en-US" sz="2800" b="1" dirty="0">
                <a:solidFill>
                  <a:srgbClr val="38BDF8"/>
                </a:solidFill>
                <a:latin typeface="Calibri" pitchFamily="34" charset="0"/>
                <a:ea typeface="Calibri" pitchFamily="34" charset="-122"/>
                <a:cs typeface="Calibri" pitchFamily="34" charset="-120"/>
              </a:rPr>
              <a:t>29,769</a:t>
            </a:r>
            <a:endParaRPr lang="en-US" sz="2800" dirty="0"/>
          </a:p>
        </p:txBody>
      </p:sp>
      <p:sp>
        <p:nvSpPr>
          <p:cNvPr id="24" name="Text 22"/>
          <p:cNvSpPr/>
          <p:nvPr/>
        </p:nvSpPr>
        <p:spPr>
          <a:xfrm>
            <a:off x="5989320" y="2871216"/>
            <a:ext cx="5897880" cy="246888"/>
          </a:xfrm>
          <a:prstGeom prst="rect">
            <a:avLst/>
          </a:prstGeom>
          <a:noFill/>
          <a:ln/>
        </p:spPr>
        <p:txBody>
          <a:bodyPr wrap="square" rtlCol="0" anchor="ctr"/>
          <a:lstStyle/>
          <a:p>
            <a:pPr marL="0" indent="0" algn="ctr">
              <a:buNone/>
            </a:pPr>
            <a:r>
              <a:rPr lang="en-US" sz="1250" dirty="0">
                <a:solidFill>
                  <a:srgbClr val="8FBCDA"/>
                </a:solidFill>
                <a:latin typeface="Calibri" pitchFamily="34" charset="0"/>
                <a:ea typeface="Calibri" pitchFamily="34" charset="-122"/>
                <a:cs typeface="Calibri" pitchFamily="34" charset="-120"/>
              </a:rPr>
              <a:t>Audio Frames</a:t>
            </a:r>
            <a:endParaRPr lang="en-US" sz="1250" dirty="0"/>
          </a:p>
        </p:txBody>
      </p:sp>
      <p:sp>
        <p:nvSpPr>
          <p:cNvPr id="25" name="Shape 23"/>
          <p:cNvSpPr/>
          <p:nvPr/>
        </p:nvSpPr>
        <p:spPr>
          <a:xfrm>
            <a:off x="5989320" y="3282696"/>
            <a:ext cx="5897880" cy="978408"/>
          </a:xfrm>
          <a:prstGeom prst="rect">
            <a:avLst/>
          </a:prstGeom>
          <a:solidFill>
            <a:srgbClr val="061220"/>
          </a:solidFill>
          <a:ln w="12700">
            <a:solidFill>
              <a:srgbClr val="1E3A5F"/>
            </a:solidFill>
            <a:prstDash val="solid"/>
          </a:ln>
        </p:spPr>
      </p:sp>
      <p:sp>
        <p:nvSpPr>
          <p:cNvPr id="26" name="Text 24"/>
          <p:cNvSpPr/>
          <p:nvPr/>
        </p:nvSpPr>
        <p:spPr>
          <a:xfrm>
            <a:off x="5989320" y="3346704"/>
            <a:ext cx="5897880" cy="566928"/>
          </a:xfrm>
          <a:prstGeom prst="rect">
            <a:avLst/>
          </a:prstGeom>
          <a:noFill/>
          <a:ln/>
        </p:spPr>
        <p:txBody>
          <a:bodyPr wrap="square" rtlCol="0" anchor="ctr"/>
          <a:lstStyle/>
          <a:p>
            <a:pPr marL="0" indent="0" algn="ctr">
              <a:buNone/>
            </a:pPr>
            <a:r>
              <a:rPr lang="en-US" sz="2800" b="1" dirty="0">
                <a:solidFill>
                  <a:srgbClr val="38BDF8"/>
                </a:solidFill>
                <a:latin typeface="Calibri" pitchFamily="34" charset="0"/>
                <a:ea typeface="Calibri" pitchFamily="34" charset="-122"/>
                <a:cs typeface="Calibri" pitchFamily="34" charset="-120"/>
              </a:rPr>
              <a:t>8</a:t>
            </a:r>
            <a:endParaRPr lang="en-US" sz="2800" dirty="0"/>
          </a:p>
        </p:txBody>
      </p:sp>
      <p:sp>
        <p:nvSpPr>
          <p:cNvPr id="27" name="Text 25"/>
          <p:cNvSpPr/>
          <p:nvPr/>
        </p:nvSpPr>
        <p:spPr>
          <a:xfrm>
            <a:off x="5989320" y="3941064"/>
            <a:ext cx="5897880" cy="246888"/>
          </a:xfrm>
          <a:prstGeom prst="rect">
            <a:avLst/>
          </a:prstGeom>
          <a:noFill/>
          <a:ln/>
        </p:spPr>
        <p:txBody>
          <a:bodyPr wrap="square" rtlCol="0" anchor="ctr"/>
          <a:lstStyle/>
          <a:p>
            <a:pPr marL="0" indent="0" algn="ctr">
              <a:buNone/>
            </a:pPr>
            <a:r>
              <a:rPr lang="en-US" sz="1250" dirty="0">
                <a:solidFill>
                  <a:srgbClr val="8FBCDA"/>
                </a:solidFill>
                <a:latin typeface="Calibri" pitchFamily="34" charset="0"/>
                <a:ea typeface="Calibri" pitchFamily="34" charset="-122"/>
                <a:cs typeface="Calibri" pitchFamily="34" charset="-120"/>
              </a:rPr>
              <a:t>Cup Types</a:t>
            </a:r>
            <a:endParaRPr lang="en-US" sz="1250" dirty="0"/>
          </a:p>
        </p:txBody>
      </p:sp>
      <p:sp>
        <p:nvSpPr>
          <p:cNvPr id="28" name="Shape 26"/>
          <p:cNvSpPr/>
          <p:nvPr/>
        </p:nvSpPr>
        <p:spPr>
          <a:xfrm>
            <a:off x="5989320" y="4352544"/>
            <a:ext cx="5897880" cy="978408"/>
          </a:xfrm>
          <a:prstGeom prst="rect">
            <a:avLst/>
          </a:prstGeom>
          <a:solidFill>
            <a:srgbClr val="061220"/>
          </a:solidFill>
          <a:ln w="12700">
            <a:solidFill>
              <a:srgbClr val="1E3A5F"/>
            </a:solidFill>
            <a:prstDash val="solid"/>
          </a:ln>
        </p:spPr>
      </p:sp>
      <p:sp>
        <p:nvSpPr>
          <p:cNvPr id="29" name="Text 27"/>
          <p:cNvSpPr/>
          <p:nvPr/>
        </p:nvSpPr>
        <p:spPr>
          <a:xfrm>
            <a:off x="5989320" y="4416552"/>
            <a:ext cx="5897880" cy="566928"/>
          </a:xfrm>
          <a:prstGeom prst="rect">
            <a:avLst/>
          </a:prstGeom>
          <a:noFill/>
          <a:ln/>
        </p:spPr>
        <p:txBody>
          <a:bodyPr wrap="square" rtlCol="0" anchor="ctr"/>
          <a:lstStyle/>
          <a:p>
            <a:pPr marL="0" indent="0" algn="ctr">
              <a:buNone/>
            </a:pPr>
            <a:r>
              <a:rPr lang="en-US" sz="2800" b="1" dirty="0">
                <a:solidFill>
                  <a:srgbClr val="38BDF8"/>
                </a:solidFill>
                <a:latin typeface="Calibri" pitchFamily="34" charset="0"/>
                <a:ea typeface="Calibri" pitchFamily="34" charset="-122"/>
                <a:cs typeface="Calibri" pitchFamily="34" charset="-120"/>
              </a:rPr>
              <a:t>56</a:t>
            </a:r>
            <a:endParaRPr lang="en-US" sz="2800" dirty="0"/>
          </a:p>
        </p:txBody>
      </p:sp>
      <p:sp>
        <p:nvSpPr>
          <p:cNvPr id="30" name="Text 28"/>
          <p:cNvSpPr/>
          <p:nvPr/>
        </p:nvSpPr>
        <p:spPr>
          <a:xfrm>
            <a:off x="5989320" y="5010912"/>
            <a:ext cx="5897880" cy="246888"/>
          </a:xfrm>
          <a:prstGeom prst="rect">
            <a:avLst/>
          </a:prstGeom>
          <a:noFill/>
          <a:ln/>
        </p:spPr>
        <p:txBody>
          <a:bodyPr wrap="square" rtlCol="0" anchor="ctr"/>
          <a:lstStyle/>
          <a:p>
            <a:pPr marL="0" indent="0" algn="ctr">
              <a:buNone/>
            </a:pPr>
            <a:r>
              <a:rPr lang="en-US" sz="1250" dirty="0">
                <a:solidFill>
                  <a:srgbClr val="8FBCDA"/>
                </a:solidFill>
                <a:latin typeface="Calibri" pitchFamily="34" charset="0"/>
                <a:ea typeface="Calibri" pitchFamily="34" charset="-122"/>
                <a:cs typeface="Calibri" pitchFamily="34" charset="-120"/>
              </a:rPr>
              <a:t>Acoustic Features</a:t>
            </a:r>
            <a:endParaRPr lang="en-US" sz="1250" dirty="0"/>
          </a:p>
        </p:txBody>
      </p:sp>
      <p:sp>
        <p:nvSpPr>
          <p:cNvPr id="31" name="Shape 29"/>
          <p:cNvSpPr/>
          <p:nvPr/>
        </p:nvSpPr>
        <p:spPr>
          <a:xfrm>
            <a:off x="5989320" y="5422392"/>
            <a:ext cx="5897880" cy="978408"/>
          </a:xfrm>
          <a:prstGeom prst="rect">
            <a:avLst/>
          </a:prstGeom>
          <a:solidFill>
            <a:srgbClr val="061220"/>
          </a:solidFill>
          <a:ln w="12700">
            <a:solidFill>
              <a:srgbClr val="34D399"/>
            </a:solidFill>
            <a:prstDash val="solid"/>
          </a:ln>
        </p:spPr>
      </p:sp>
      <p:sp>
        <p:nvSpPr>
          <p:cNvPr id="32" name="Text 30"/>
          <p:cNvSpPr/>
          <p:nvPr/>
        </p:nvSpPr>
        <p:spPr>
          <a:xfrm>
            <a:off x="5989320" y="5486400"/>
            <a:ext cx="5897880" cy="566928"/>
          </a:xfrm>
          <a:prstGeom prst="rect">
            <a:avLst/>
          </a:prstGeom>
          <a:noFill/>
          <a:ln/>
        </p:spPr>
        <p:txBody>
          <a:bodyPr wrap="square" rtlCol="0" anchor="ctr"/>
          <a:lstStyle/>
          <a:p>
            <a:pPr marL="0" indent="0" algn="ctr">
              <a:buNone/>
            </a:pPr>
            <a:r>
              <a:rPr lang="en-US" sz="2800" b="1" dirty="0">
                <a:solidFill>
                  <a:srgbClr val="34D399"/>
                </a:solidFill>
                <a:latin typeface="Calibri" pitchFamily="34" charset="0"/>
                <a:ea typeface="Calibri" pitchFamily="34" charset="-122"/>
                <a:cs typeface="Calibri" pitchFamily="34" charset="-120"/>
              </a:rPr>
              <a:t>0</a:t>
            </a:r>
            <a:endParaRPr lang="en-US" sz="2800" dirty="0"/>
          </a:p>
        </p:txBody>
      </p:sp>
      <p:sp>
        <p:nvSpPr>
          <p:cNvPr id="33" name="Text 31"/>
          <p:cNvSpPr/>
          <p:nvPr/>
        </p:nvSpPr>
        <p:spPr>
          <a:xfrm>
            <a:off x="5989320" y="6080760"/>
            <a:ext cx="5897880" cy="246888"/>
          </a:xfrm>
          <a:prstGeom prst="rect">
            <a:avLst/>
          </a:prstGeom>
          <a:noFill/>
          <a:ln/>
        </p:spPr>
        <p:txBody>
          <a:bodyPr wrap="square" rtlCol="0" anchor="ctr"/>
          <a:lstStyle/>
          <a:p>
            <a:pPr marL="0" indent="0" algn="ctr">
              <a:buNone/>
            </a:pPr>
            <a:r>
              <a:rPr lang="en-US" sz="1250" dirty="0">
                <a:solidFill>
                  <a:srgbClr val="8FBCDA"/>
                </a:solidFill>
                <a:latin typeface="Calibri" pitchFamily="34" charset="0"/>
                <a:ea typeface="Calibri" pitchFamily="34" charset="-122"/>
                <a:cs typeface="Calibri" pitchFamily="34" charset="-120"/>
              </a:rPr>
              <a:t>Overflow Events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20617"/>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38BDF8"/>
          </a:solidFill>
          <a:ln w="12700">
            <a:solidFill>
              <a:srgbClr val="38BDF8"/>
            </a:solidFill>
            <a:prstDash val="solid"/>
          </a:ln>
        </p:spPr>
      </p:sp>
      <p:sp>
        <p:nvSpPr>
          <p:cNvPr id="3" name="Text 1"/>
          <p:cNvSpPr/>
          <p:nvPr/>
        </p:nvSpPr>
        <p:spPr>
          <a:xfrm>
            <a:off x="457200" y="91440"/>
            <a:ext cx="11274552" cy="658368"/>
          </a:xfrm>
          <a:prstGeom prst="rect">
            <a:avLst/>
          </a:prstGeom>
          <a:noFill/>
          <a:ln/>
        </p:spPr>
        <p:txBody>
          <a:bodyPr wrap="square" rtlCol="0" anchor="ctr"/>
          <a:lstStyle/>
          <a:p>
            <a:pPr marL="0" indent="0" algn="r">
              <a:buNone/>
            </a:pPr>
            <a:r>
              <a:rPr lang="en-US" sz="2600" b="1" dirty="0">
                <a:solidFill>
                  <a:srgbClr val="38BDF8"/>
                </a:solidFill>
                <a:latin typeface="Calibri" pitchFamily="34" charset="0"/>
                <a:ea typeface="Calibri" pitchFamily="34" charset="-122"/>
                <a:cs typeface="Calibri" pitchFamily="34" charset="-120"/>
              </a:rPr>
              <a:t>Acoustic Physics: What Changes as the Cup Fills?</a:t>
            </a:r>
            <a:endParaRPr lang="en-US" sz="2600" dirty="0"/>
          </a:p>
        </p:txBody>
      </p:sp>
      <p:sp>
        <p:nvSpPr>
          <p:cNvPr id="4" name="Text 2"/>
          <p:cNvSpPr/>
          <p:nvPr/>
        </p:nvSpPr>
        <p:spPr>
          <a:xfrm>
            <a:off x="457200" y="749808"/>
            <a:ext cx="11274552" cy="292608"/>
          </a:xfrm>
          <a:prstGeom prst="rect">
            <a:avLst/>
          </a:prstGeom>
          <a:noFill/>
          <a:ln/>
        </p:spPr>
        <p:txBody>
          <a:bodyPr wrap="square" rtlCol="0" anchor="ctr"/>
          <a:lstStyle/>
          <a:p>
            <a:pPr marL="0" indent="0" algn="r">
              <a:buNone/>
            </a:pPr>
            <a:r>
              <a:rPr lang="en-US" sz="1450" dirty="0">
                <a:solidFill>
                  <a:srgbClr val="8FBCDA"/>
                </a:solidFill>
                <a:latin typeface="Calibri" pitchFamily="34" charset="0"/>
                <a:ea typeface="Calibri" pitchFamily="34" charset="-122"/>
                <a:cs typeface="Calibri" pitchFamily="34" charset="-120"/>
              </a:rPr>
              <a:t>Three real acoustic effects the model exploits</a:t>
            </a:r>
            <a:endParaRPr lang="en-US" sz="1450" dirty="0"/>
          </a:p>
        </p:txBody>
      </p:sp>
      <p:sp>
        <p:nvSpPr>
          <p:cNvPr id="5" name="Text 3"/>
          <p:cNvSpPr/>
          <p:nvPr/>
        </p:nvSpPr>
        <p:spPr>
          <a:xfrm>
            <a:off x="365760" y="6601968"/>
            <a:ext cx="11457432" cy="201168"/>
          </a:xfrm>
          <a:prstGeom prst="rect">
            <a:avLst/>
          </a:prstGeom>
          <a:noFill/>
          <a:ln/>
        </p:spPr>
        <p:txBody>
          <a:bodyPr wrap="square" rtlCol="0" anchor="ctr"/>
          <a:lstStyle/>
          <a:p>
            <a:pPr marL="0" indent="0" algn="r">
              <a:buNone/>
            </a:pPr>
            <a:r>
              <a:rPr lang="en-US" sz="1050" dirty="0">
                <a:solidFill>
                  <a:srgbClr val="1A3A5F"/>
                </a:solidFill>
                <a:latin typeface="Calibri" pitchFamily="34" charset="0"/>
                <a:ea typeface="Calibri" pitchFamily="34" charset="-122"/>
                <a:cs typeface="Calibri" pitchFamily="34" charset="-120"/>
              </a:rPr>
              <a:t>Acoustic Theory</a:t>
            </a:r>
            <a:endParaRPr lang="en-US" sz="1050" dirty="0"/>
          </a:p>
        </p:txBody>
      </p:sp>
      <p:sp>
        <p:nvSpPr>
          <p:cNvPr id="6" name="Shape 4"/>
          <p:cNvSpPr/>
          <p:nvPr/>
        </p:nvSpPr>
        <p:spPr>
          <a:xfrm>
            <a:off x="365760" y="1170432"/>
            <a:ext cx="3657600" cy="3337560"/>
          </a:xfrm>
          <a:prstGeom prst="rect">
            <a:avLst/>
          </a:prstGeom>
          <a:solidFill>
            <a:srgbClr val="0A1628"/>
          </a:solidFill>
          <a:ln w="12700">
            <a:solidFill>
              <a:srgbClr val="38BDF8"/>
            </a:solidFill>
            <a:prstDash val="solid"/>
          </a:ln>
        </p:spPr>
      </p:sp>
      <p:sp>
        <p:nvSpPr>
          <p:cNvPr id="7" name="Shape 5"/>
          <p:cNvSpPr/>
          <p:nvPr/>
        </p:nvSpPr>
        <p:spPr>
          <a:xfrm>
            <a:off x="438912" y="1170432"/>
            <a:ext cx="3511296" cy="36576"/>
          </a:xfrm>
          <a:prstGeom prst="rect">
            <a:avLst/>
          </a:prstGeom>
          <a:solidFill>
            <a:srgbClr val="38BDF8"/>
          </a:solidFill>
          <a:ln w="12700">
            <a:solidFill>
              <a:srgbClr val="38BDF8"/>
            </a:solidFill>
            <a:prstDash val="solid"/>
          </a:ln>
        </p:spPr>
      </p:sp>
      <p:sp>
        <p:nvSpPr>
          <p:cNvPr id="8" name="Text 6"/>
          <p:cNvSpPr/>
          <p:nvPr/>
        </p:nvSpPr>
        <p:spPr>
          <a:xfrm>
            <a:off x="475488" y="1243584"/>
            <a:ext cx="3456432" cy="411480"/>
          </a:xfrm>
          <a:prstGeom prst="rect">
            <a:avLst/>
          </a:prstGeom>
          <a:noFill/>
          <a:ln/>
        </p:spPr>
        <p:txBody>
          <a:bodyPr wrap="square" rtlCol="0" anchor="ctr"/>
          <a:lstStyle/>
          <a:p>
            <a:pPr marL="0" indent="0">
              <a:buNone/>
            </a:pPr>
            <a:r>
              <a:rPr lang="en-US" sz="1550" b="1" dirty="0">
                <a:solidFill>
                  <a:srgbClr val="38BDF8"/>
                </a:solidFill>
                <a:latin typeface="Calibri" pitchFamily="34" charset="0"/>
                <a:ea typeface="Calibri" pitchFamily="34" charset="-122"/>
                <a:cs typeface="Calibri" pitchFamily="34" charset="-120"/>
              </a:rPr>
              <a:t>Splash Character</a:t>
            </a:r>
            <a:endParaRPr lang="en-US" sz="1550" dirty="0"/>
          </a:p>
        </p:txBody>
      </p:sp>
      <p:sp>
        <p:nvSpPr>
          <p:cNvPr id="9" name="Text 7"/>
          <p:cNvSpPr/>
          <p:nvPr/>
        </p:nvSpPr>
        <p:spPr>
          <a:xfrm>
            <a:off x="475488" y="1719072"/>
            <a:ext cx="3456432" cy="2651760"/>
          </a:xfrm>
          <a:prstGeom prst="rect">
            <a:avLst/>
          </a:prstGeom>
          <a:noFill/>
          <a:ln/>
        </p:spPr>
        <p:txBody>
          <a:bodyPr wrap="square" rtlCol="0" anchor="t"/>
          <a:lstStyle/>
          <a:p>
            <a:pPr marL="0" indent="0">
              <a:buNone/>
            </a:pPr>
            <a:r>
              <a:rPr lang="en-US" sz="1300" dirty="0">
                <a:solidFill>
                  <a:srgbClr val="8FBCDA"/>
                </a:solidFill>
                <a:latin typeface="Calibri" pitchFamily="34" charset="0"/>
                <a:ea typeface="Calibri" pitchFamily="34" charset="-122"/>
                <a:cs typeface="Calibri" pitchFamily="34" charset="-120"/>
              </a:rPr>
              <a:t>Early in the pour, water hits a hard surface — sharp, broad-spectrum impact noise. As water rises, liquid hits liquid: turbulence shifts to a softer, narrower splash with more energy in the mid-frequency band (2–5 kHz).</a:t>
            </a:r>
            <a:endParaRPr lang="en-US" sz="1300" dirty="0"/>
          </a:p>
        </p:txBody>
      </p:sp>
      <p:sp>
        <p:nvSpPr>
          <p:cNvPr id="10" name="Shape 8"/>
          <p:cNvSpPr/>
          <p:nvPr/>
        </p:nvSpPr>
        <p:spPr>
          <a:xfrm>
            <a:off x="4251960" y="1170432"/>
            <a:ext cx="3657600" cy="3337560"/>
          </a:xfrm>
          <a:prstGeom prst="rect">
            <a:avLst/>
          </a:prstGeom>
          <a:solidFill>
            <a:srgbClr val="0A1628"/>
          </a:solidFill>
          <a:ln w="12700">
            <a:solidFill>
              <a:srgbClr val="38BDF8"/>
            </a:solidFill>
            <a:prstDash val="solid"/>
          </a:ln>
        </p:spPr>
      </p:sp>
      <p:sp>
        <p:nvSpPr>
          <p:cNvPr id="11" name="Shape 9"/>
          <p:cNvSpPr/>
          <p:nvPr/>
        </p:nvSpPr>
        <p:spPr>
          <a:xfrm>
            <a:off x="4325112" y="1170432"/>
            <a:ext cx="3511296" cy="36576"/>
          </a:xfrm>
          <a:prstGeom prst="rect">
            <a:avLst/>
          </a:prstGeom>
          <a:solidFill>
            <a:srgbClr val="38BDF8"/>
          </a:solidFill>
          <a:ln w="12700">
            <a:solidFill>
              <a:srgbClr val="38BDF8"/>
            </a:solidFill>
            <a:prstDash val="solid"/>
          </a:ln>
        </p:spPr>
      </p:sp>
      <p:sp>
        <p:nvSpPr>
          <p:cNvPr id="12" name="Text 10"/>
          <p:cNvSpPr/>
          <p:nvPr/>
        </p:nvSpPr>
        <p:spPr>
          <a:xfrm>
            <a:off x="4361688" y="1243584"/>
            <a:ext cx="3456432" cy="411480"/>
          </a:xfrm>
          <a:prstGeom prst="rect">
            <a:avLst/>
          </a:prstGeom>
          <a:noFill/>
          <a:ln/>
        </p:spPr>
        <p:txBody>
          <a:bodyPr wrap="square" rtlCol="0" anchor="ctr"/>
          <a:lstStyle/>
          <a:p>
            <a:pPr marL="0" indent="0">
              <a:buNone/>
            </a:pPr>
            <a:r>
              <a:rPr lang="en-US" sz="1550" b="1" dirty="0">
                <a:solidFill>
                  <a:srgbClr val="38BDF8"/>
                </a:solidFill>
                <a:latin typeface="Calibri" pitchFamily="34" charset="0"/>
                <a:ea typeface="Calibri" pitchFamily="34" charset="-122"/>
                <a:cs typeface="Calibri" pitchFamily="34" charset="-120"/>
              </a:rPr>
              <a:t>Spectral Centroid Drop</a:t>
            </a:r>
            <a:endParaRPr lang="en-US" sz="1550" dirty="0"/>
          </a:p>
        </p:txBody>
      </p:sp>
      <p:sp>
        <p:nvSpPr>
          <p:cNvPr id="13" name="Text 11"/>
          <p:cNvSpPr/>
          <p:nvPr/>
        </p:nvSpPr>
        <p:spPr>
          <a:xfrm>
            <a:off x="4361688" y="1719072"/>
            <a:ext cx="3456432" cy="2651760"/>
          </a:xfrm>
          <a:prstGeom prst="rect">
            <a:avLst/>
          </a:prstGeom>
          <a:noFill/>
          <a:ln/>
        </p:spPr>
        <p:txBody>
          <a:bodyPr wrap="square" rtlCol="0" anchor="t"/>
          <a:lstStyle/>
          <a:p>
            <a:pPr marL="0" indent="0">
              <a:buNone/>
            </a:pPr>
            <a:r>
              <a:rPr lang="en-US" sz="1300" dirty="0">
                <a:solidFill>
                  <a:srgbClr val="8FBCDA"/>
                </a:solidFill>
                <a:latin typeface="Calibri" pitchFamily="34" charset="0"/>
                <a:ea typeface="Calibri" pitchFamily="34" charset="-122"/>
                <a:cs typeface="Calibri" pitchFamily="34" charset="-120"/>
              </a:rPr>
              <a:t>The center of mass of the frequency spectrum shifts downward as the cup fills. High-energy splashing (5–8 kHz) gives way to lower-frequency liquid resonance and gurgling. delta_centroid is the model's #2 feature.</a:t>
            </a:r>
            <a:endParaRPr lang="en-US" sz="1300" dirty="0"/>
          </a:p>
        </p:txBody>
      </p:sp>
      <p:sp>
        <p:nvSpPr>
          <p:cNvPr id="14" name="Shape 12"/>
          <p:cNvSpPr/>
          <p:nvPr/>
        </p:nvSpPr>
        <p:spPr>
          <a:xfrm>
            <a:off x="8138160" y="1170432"/>
            <a:ext cx="3657600" cy="3337560"/>
          </a:xfrm>
          <a:prstGeom prst="rect">
            <a:avLst/>
          </a:prstGeom>
          <a:solidFill>
            <a:srgbClr val="0A1628"/>
          </a:solidFill>
          <a:ln w="12700">
            <a:solidFill>
              <a:srgbClr val="34D399"/>
            </a:solidFill>
            <a:prstDash val="solid"/>
          </a:ln>
        </p:spPr>
      </p:sp>
      <p:sp>
        <p:nvSpPr>
          <p:cNvPr id="15" name="Shape 13"/>
          <p:cNvSpPr/>
          <p:nvPr/>
        </p:nvSpPr>
        <p:spPr>
          <a:xfrm>
            <a:off x="8211312" y="1170432"/>
            <a:ext cx="3511296" cy="36576"/>
          </a:xfrm>
          <a:prstGeom prst="rect">
            <a:avLst/>
          </a:prstGeom>
          <a:solidFill>
            <a:srgbClr val="34D399"/>
          </a:solidFill>
          <a:ln w="12700">
            <a:solidFill>
              <a:srgbClr val="34D399"/>
            </a:solidFill>
            <a:prstDash val="solid"/>
          </a:ln>
        </p:spPr>
      </p:sp>
      <p:sp>
        <p:nvSpPr>
          <p:cNvPr id="16" name="Text 14"/>
          <p:cNvSpPr/>
          <p:nvPr/>
        </p:nvSpPr>
        <p:spPr>
          <a:xfrm>
            <a:off x="8247888" y="1243584"/>
            <a:ext cx="3456432" cy="411480"/>
          </a:xfrm>
          <a:prstGeom prst="rect">
            <a:avLst/>
          </a:prstGeom>
          <a:noFill/>
          <a:ln/>
        </p:spPr>
        <p:txBody>
          <a:bodyPr wrap="square" rtlCol="0" anchor="ctr"/>
          <a:lstStyle/>
          <a:p>
            <a:pPr marL="0" indent="0">
              <a:buNone/>
            </a:pPr>
            <a:r>
              <a:rPr lang="en-US" sz="1550" b="1" dirty="0">
                <a:solidFill>
                  <a:srgbClr val="34D399"/>
                </a:solidFill>
                <a:latin typeface="Calibri" pitchFamily="34" charset="0"/>
                <a:ea typeface="Calibri" pitchFamily="34" charset="-122"/>
                <a:cs typeface="Calibri" pitchFamily="34" charset="-120"/>
              </a:rPr>
              <a:t>RMS / Energy Profile</a:t>
            </a:r>
            <a:endParaRPr lang="en-US" sz="1550" dirty="0"/>
          </a:p>
        </p:txBody>
      </p:sp>
      <p:sp>
        <p:nvSpPr>
          <p:cNvPr id="17" name="Text 15"/>
          <p:cNvSpPr/>
          <p:nvPr/>
        </p:nvSpPr>
        <p:spPr>
          <a:xfrm>
            <a:off x="8247888" y="1719072"/>
            <a:ext cx="3456432" cy="2651760"/>
          </a:xfrm>
          <a:prstGeom prst="rect">
            <a:avLst/>
          </a:prstGeom>
          <a:noFill/>
          <a:ln/>
        </p:spPr>
        <p:txBody>
          <a:bodyPr wrap="square" rtlCol="0" anchor="t"/>
          <a:lstStyle/>
          <a:p>
            <a:pPr marL="0" indent="0">
              <a:buNone/>
            </a:pPr>
            <a:r>
              <a:rPr lang="en-US" sz="1300" dirty="0">
                <a:solidFill>
                  <a:srgbClr val="8FBCDA"/>
                </a:solidFill>
                <a:latin typeface="Calibri" pitchFamily="34" charset="0"/>
                <a:ea typeface="Calibri" pitchFamily="34" charset="-122"/>
                <a:cs typeface="Calibri" pitchFamily="34" charset="-120"/>
              </a:rPr>
              <a:t>Signal amplitude (RMS) evolves throughout the pour — typically peaking mid-fill and tapering near the top as less air turbulence is generated. RMS is the model's #3 ranked feature.</a:t>
            </a:r>
            <a:endParaRPr lang="en-US" sz="1300" dirty="0"/>
          </a:p>
        </p:txBody>
      </p:sp>
      <p:sp>
        <p:nvSpPr>
          <p:cNvPr id="18" name="Shape 16"/>
          <p:cNvSpPr/>
          <p:nvPr/>
        </p:nvSpPr>
        <p:spPr>
          <a:xfrm>
            <a:off x="365760" y="4663440"/>
            <a:ext cx="11457432" cy="1051560"/>
          </a:xfrm>
          <a:prstGeom prst="rect">
            <a:avLst/>
          </a:prstGeom>
          <a:solidFill>
            <a:srgbClr val="030C1F"/>
          </a:solidFill>
          <a:ln w="12700">
            <a:solidFill>
              <a:srgbClr val="F59E0B"/>
            </a:solidFill>
            <a:prstDash val="solid"/>
          </a:ln>
        </p:spPr>
      </p:sp>
      <p:sp>
        <p:nvSpPr>
          <p:cNvPr id="19" name="Text 17"/>
          <p:cNvSpPr/>
          <p:nvPr/>
        </p:nvSpPr>
        <p:spPr>
          <a:xfrm>
            <a:off x="502920" y="4736592"/>
            <a:ext cx="11183112" cy="320040"/>
          </a:xfrm>
          <a:prstGeom prst="rect">
            <a:avLst/>
          </a:prstGeom>
          <a:noFill/>
          <a:ln/>
        </p:spPr>
        <p:txBody>
          <a:bodyPr wrap="square" rtlCol="0" anchor="ctr"/>
          <a:lstStyle/>
          <a:p>
            <a:pPr marL="0" indent="0">
              <a:buNone/>
            </a:pPr>
            <a:r>
              <a:rPr lang="en-US" sz="1400" b="1" dirty="0">
                <a:solidFill>
                  <a:srgbClr val="F59E0B"/>
                </a:solidFill>
                <a:latin typeface="Calibri" pitchFamily="34" charset="0"/>
                <a:ea typeface="Calibri" pitchFamily="34" charset="-122"/>
                <a:cs typeface="Calibri" pitchFamily="34" charset="-120"/>
              </a:rPr>
              <a:t>Important caveat: labeling is linear, not physical</a:t>
            </a:r>
            <a:endParaRPr lang="en-US" sz="1400" dirty="0"/>
          </a:p>
        </p:txBody>
      </p:sp>
      <p:sp>
        <p:nvSpPr>
          <p:cNvPr id="20" name="Text 18"/>
          <p:cNvSpPr/>
          <p:nvPr/>
        </p:nvSpPr>
        <p:spPr>
          <a:xfrm>
            <a:off x="502920" y="5074920"/>
            <a:ext cx="11183112" cy="594360"/>
          </a:xfrm>
          <a:prstGeom prst="rect">
            <a:avLst/>
          </a:prstGeom>
          <a:noFill/>
          <a:ln/>
        </p:spPr>
        <p:txBody>
          <a:bodyPr wrap="square" rtlCol="0" anchor="ctr"/>
          <a:lstStyle/>
          <a:p>
            <a:pPr marL="0" indent="0">
              <a:buNone/>
            </a:pPr>
            <a:r>
              <a:rPr lang="en-US" sz="1250" dirty="0">
                <a:solidFill>
                  <a:srgbClr val="8FBCDA"/>
                </a:solidFill>
                <a:latin typeface="Calibri" pitchFamily="34" charset="0"/>
                <a:ea typeface="Calibri" pitchFamily="34" charset="-122"/>
                <a:cs typeface="Calibri" pitchFamily="34" charset="-120"/>
              </a:rPr>
              <a:t>Labels are assigned by fill_level = linspace(0%, 100%, n_frames). This assumes fill rises linearly with time — a reasonable proxy, but not a sensor measurement. The model may partially learn temporal position within a recording rather than pure acoustics. A load-cell ground truth would eliminate this ambiguity.</a:t>
            </a:r>
            <a:endParaRPr lang="en-US" sz="1250" dirty="0"/>
          </a:p>
        </p:txBody>
      </p:sp>
      <p:sp>
        <p:nvSpPr>
          <p:cNvPr id="21" name="Shape 19"/>
          <p:cNvSpPr/>
          <p:nvPr/>
        </p:nvSpPr>
        <p:spPr>
          <a:xfrm>
            <a:off x="365760" y="5779008"/>
            <a:ext cx="11457432" cy="658368"/>
          </a:xfrm>
          <a:prstGeom prst="rect">
            <a:avLst/>
          </a:prstGeom>
          <a:solidFill>
            <a:srgbClr val="030C1F"/>
          </a:solidFill>
          <a:ln w="12700">
            <a:solidFill>
              <a:srgbClr val="34D399"/>
            </a:solidFill>
            <a:prstDash val="solid"/>
          </a:ln>
        </p:spPr>
      </p:sp>
      <p:sp>
        <p:nvSpPr>
          <p:cNvPr id="22" name="Text 20"/>
          <p:cNvSpPr/>
          <p:nvPr/>
        </p:nvSpPr>
        <p:spPr>
          <a:xfrm>
            <a:off x="502920" y="5852160"/>
            <a:ext cx="11183112" cy="512064"/>
          </a:xfrm>
          <a:prstGeom prst="rect">
            <a:avLst/>
          </a:prstGeom>
          <a:noFill/>
          <a:ln/>
        </p:spPr>
        <p:txBody>
          <a:bodyPr wrap="square" rtlCol="0" anchor="ctr"/>
          <a:lstStyle/>
          <a:p>
            <a:pPr marL="0" indent="0" algn="ctr">
              <a:buNone/>
            </a:pPr>
            <a:r>
              <a:rPr lang="en-US" sz="1300" b="1" dirty="0">
                <a:solidFill>
                  <a:srgbClr val="34D399"/>
                </a:solidFill>
                <a:latin typeface="Calibri" pitchFamily="34" charset="0"/>
                <a:ea typeface="Calibri" pitchFamily="34" charset="-122"/>
                <a:cs typeface="Calibri" pitchFamily="34" charset="-120"/>
              </a:rPr>
              <a:t>Top features: mfcc_1 (spectral envelope shape) · delta_centroid (spectral shift rate) · rms (signal energy) — consistent with acoustic fill-level change, not simple resonance.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20617"/>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38BDF8"/>
          </a:solidFill>
          <a:ln w="12700">
            <a:solidFill>
              <a:srgbClr val="38BDF8"/>
            </a:solidFill>
            <a:prstDash val="solid"/>
          </a:ln>
        </p:spPr>
        <p:txBody>
          <a:bodyPr/>
          <a:lstStyle/>
          <a:p>
            <a:endParaRPr/>
          </a:p>
        </p:txBody>
      </p:sp>
      <p:sp>
        <p:nvSpPr>
          <p:cNvPr id="3" name="Text 1"/>
          <p:cNvSpPr/>
          <p:nvPr/>
        </p:nvSpPr>
        <p:spPr>
          <a:xfrm>
            <a:off x="457200" y="91440"/>
            <a:ext cx="11274552" cy="658368"/>
          </a:xfrm>
          <a:prstGeom prst="rect">
            <a:avLst/>
          </a:prstGeom>
          <a:noFill/>
          <a:ln/>
        </p:spPr>
        <p:txBody>
          <a:bodyPr wrap="square" rtlCol="0" anchor="ctr"/>
          <a:lstStyle/>
          <a:p>
            <a:pPr marL="0" indent="0" algn="r">
              <a:buNone/>
            </a:pPr>
            <a:r>
              <a:rPr lang="en-US" sz="2600" b="1" dirty="0">
                <a:solidFill>
                  <a:srgbClr val="38BDF8"/>
                </a:solidFill>
                <a:latin typeface="Calibri" pitchFamily="34" charset="0"/>
                <a:ea typeface="Calibri" pitchFamily="34" charset="-122"/>
                <a:cs typeface="Calibri" pitchFamily="34" charset="-120"/>
              </a:rPr>
              <a:t>Data Collection &amp; Dataset</a:t>
            </a:r>
            <a:endParaRPr lang="en-US" sz="2600" dirty="0"/>
          </a:p>
        </p:txBody>
      </p:sp>
      <p:sp>
        <p:nvSpPr>
          <p:cNvPr id="4" name="Text 2"/>
          <p:cNvSpPr/>
          <p:nvPr/>
        </p:nvSpPr>
        <p:spPr>
          <a:xfrm>
            <a:off x="457200" y="749808"/>
            <a:ext cx="11274552" cy="292608"/>
          </a:xfrm>
          <a:prstGeom prst="rect">
            <a:avLst/>
          </a:prstGeom>
          <a:noFill/>
          <a:ln/>
        </p:spPr>
        <p:txBody>
          <a:bodyPr wrap="square" rtlCol="0" anchor="ctr"/>
          <a:lstStyle/>
          <a:p>
            <a:pPr marL="0" indent="0" algn="r">
              <a:buNone/>
            </a:pPr>
            <a:r>
              <a:rPr lang="en-US" sz="1450" dirty="0">
                <a:solidFill>
                  <a:srgbClr val="8FBCDA"/>
                </a:solidFill>
                <a:latin typeface="Calibri" pitchFamily="34" charset="0"/>
                <a:ea typeface="Calibri" pitchFamily="34" charset="-122"/>
                <a:cs typeface="Calibri" pitchFamily="34" charset="-120"/>
              </a:rPr>
              <a:t>120 real-world recordings, 8 cup types, quiet environment</a:t>
            </a:r>
            <a:endParaRPr lang="en-US" sz="1450" dirty="0"/>
          </a:p>
        </p:txBody>
      </p:sp>
      <p:sp>
        <p:nvSpPr>
          <p:cNvPr id="5" name="Text 3"/>
          <p:cNvSpPr/>
          <p:nvPr/>
        </p:nvSpPr>
        <p:spPr>
          <a:xfrm>
            <a:off x="365760" y="6601968"/>
            <a:ext cx="11457432" cy="201168"/>
          </a:xfrm>
          <a:prstGeom prst="rect">
            <a:avLst/>
          </a:prstGeom>
          <a:noFill/>
          <a:ln/>
        </p:spPr>
        <p:txBody>
          <a:bodyPr wrap="square" rtlCol="0" anchor="ctr"/>
          <a:lstStyle/>
          <a:p>
            <a:pPr marL="0" indent="0" algn="r">
              <a:buNone/>
            </a:pPr>
            <a:r>
              <a:rPr lang="en-US" sz="1050" dirty="0">
                <a:solidFill>
                  <a:srgbClr val="1A3A5F"/>
                </a:solidFill>
                <a:latin typeface="Calibri" pitchFamily="34" charset="0"/>
                <a:ea typeface="Calibri" pitchFamily="34" charset="-122"/>
                <a:cs typeface="Calibri" pitchFamily="34" charset="-120"/>
              </a:rPr>
              <a:t>Dataset</a:t>
            </a:r>
            <a:endParaRPr lang="en-US" sz="1050" dirty="0"/>
          </a:p>
        </p:txBody>
      </p:sp>
      <p:sp>
        <p:nvSpPr>
          <p:cNvPr id="6" name="Shape 4"/>
          <p:cNvSpPr/>
          <p:nvPr/>
        </p:nvSpPr>
        <p:spPr>
          <a:xfrm>
            <a:off x="365760" y="1115568"/>
            <a:ext cx="2103120" cy="1261872"/>
          </a:xfrm>
          <a:prstGeom prst="rect">
            <a:avLst/>
          </a:prstGeom>
          <a:solidFill>
            <a:srgbClr val="061220"/>
          </a:solidFill>
          <a:ln w="12700">
            <a:solidFill>
              <a:srgbClr val="38BDF8"/>
            </a:solidFill>
            <a:prstDash val="solid"/>
          </a:ln>
        </p:spPr>
        <p:txBody>
          <a:bodyPr/>
          <a:lstStyle/>
          <a:p>
            <a:endParaRPr/>
          </a:p>
        </p:txBody>
      </p:sp>
      <p:sp>
        <p:nvSpPr>
          <p:cNvPr id="7" name="Text 5"/>
          <p:cNvSpPr/>
          <p:nvPr/>
        </p:nvSpPr>
        <p:spPr>
          <a:xfrm>
            <a:off x="365760" y="1188720"/>
            <a:ext cx="2103120" cy="685800"/>
          </a:xfrm>
          <a:prstGeom prst="rect">
            <a:avLst/>
          </a:prstGeom>
          <a:noFill/>
          <a:ln/>
        </p:spPr>
        <p:txBody>
          <a:bodyPr wrap="square" rtlCol="0" anchor="ctr"/>
          <a:lstStyle/>
          <a:p>
            <a:pPr marL="0" indent="0" algn="ctr">
              <a:buNone/>
            </a:pPr>
            <a:r>
              <a:rPr lang="en-US" sz="2200" b="1" dirty="0">
                <a:solidFill>
                  <a:srgbClr val="38BDF8"/>
                </a:solidFill>
                <a:latin typeface="Calibri" pitchFamily="34" charset="0"/>
                <a:ea typeface="Calibri" pitchFamily="34" charset="-122"/>
                <a:cs typeface="Calibri" pitchFamily="34" charset="-120"/>
              </a:rPr>
              <a:t>120</a:t>
            </a:r>
            <a:endParaRPr lang="en-US" sz="2200" dirty="0"/>
          </a:p>
        </p:txBody>
      </p:sp>
      <p:sp>
        <p:nvSpPr>
          <p:cNvPr id="8" name="Text 6"/>
          <p:cNvSpPr/>
          <p:nvPr/>
        </p:nvSpPr>
        <p:spPr>
          <a:xfrm>
            <a:off x="365760" y="1874520"/>
            <a:ext cx="2103120" cy="411480"/>
          </a:xfrm>
          <a:prstGeom prst="rect">
            <a:avLst/>
          </a:prstGeom>
          <a:noFill/>
          <a:ln/>
        </p:spPr>
        <p:txBody>
          <a:bodyPr wrap="square" rtlCol="0" anchor="ctr"/>
          <a:lstStyle/>
          <a:p>
            <a:pPr marL="0" indent="0" algn="ctr">
              <a:buNone/>
            </a:pPr>
            <a:r>
              <a:rPr lang="en-US" sz="1150" dirty="0">
                <a:solidFill>
                  <a:srgbClr val="8FBCDA"/>
                </a:solidFill>
                <a:latin typeface="Calibri" pitchFamily="34" charset="0"/>
                <a:ea typeface="Calibri" pitchFamily="34" charset="-122"/>
                <a:cs typeface="Calibri" pitchFamily="34" charset="-120"/>
              </a:rPr>
              <a:t>Recordings</a:t>
            </a:r>
            <a:endParaRPr lang="en-US" sz="1150" dirty="0"/>
          </a:p>
        </p:txBody>
      </p:sp>
      <p:sp>
        <p:nvSpPr>
          <p:cNvPr id="9" name="Shape 7"/>
          <p:cNvSpPr/>
          <p:nvPr/>
        </p:nvSpPr>
        <p:spPr>
          <a:xfrm>
            <a:off x="2697480" y="1115568"/>
            <a:ext cx="2103120" cy="1261872"/>
          </a:xfrm>
          <a:prstGeom prst="rect">
            <a:avLst/>
          </a:prstGeom>
          <a:solidFill>
            <a:srgbClr val="061220"/>
          </a:solidFill>
          <a:ln w="12700">
            <a:solidFill>
              <a:srgbClr val="38BDF8"/>
            </a:solidFill>
            <a:prstDash val="solid"/>
          </a:ln>
        </p:spPr>
        <p:txBody>
          <a:bodyPr/>
          <a:lstStyle/>
          <a:p>
            <a:endParaRPr/>
          </a:p>
        </p:txBody>
      </p:sp>
      <p:sp>
        <p:nvSpPr>
          <p:cNvPr id="10" name="Text 8"/>
          <p:cNvSpPr/>
          <p:nvPr/>
        </p:nvSpPr>
        <p:spPr>
          <a:xfrm>
            <a:off x="2697480" y="1188720"/>
            <a:ext cx="2103120" cy="685800"/>
          </a:xfrm>
          <a:prstGeom prst="rect">
            <a:avLst/>
          </a:prstGeom>
          <a:noFill/>
          <a:ln/>
        </p:spPr>
        <p:txBody>
          <a:bodyPr wrap="square" rtlCol="0" anchor="ctr"/>
          <a:lstStyle/>
          <a:p>
            <a:pPr marL="0" indent="0" algn="ctr">
              <a:buNone/>
            </a:pPr>
            <a:r>
              <a:rPr lang="en-US" sz="2200" b="1" dirty="0">
                <a:solidFill>
                  <a:srgbClr val="38BDF8"/>
                </a:solidFill>
                <a:latin typeface="Calibri" pitchFamily="34" charset="0"/>
                <a:ea typeface="Calibri" pitchFamily="34" charset="-122"/>
                <a:cs typeface="Calibri" pitchFamily="34" charset="-120"/>
              </a:rPr>
              <a:t>29,769</a:t>
            </a:r>
            <a:endParaRPr lang="en-US" sz="2200" dirty="0"/>
          </a:p>
        </p:txBody>
      </p:sp>
      <p:sp>
        <p:nvSpPr>
          <p:cNvPr id="11" name="Text 9"/>
          <p:cNvSpPr/>
          <p:nvPr/>
        </p:nvSpPr>
        <p:spPr>
          <a:xfrm>
            <a:off x="2697480" y="1874520"/>
            <a:ext cx="2103120" cy="411480"/>
          </a:xfrm>
          <a:prstGeom prst="rect">
            <a:avLst/>
          </a:prstGeom>
          <a:noFill/>
          <a:ln/>
        </p:spPr>
        <p:txBody>
          <a:bodyPr wrap="square" rtlCol="0" anchor="ctr"/>
          <a:lstStyle/>
          <a:p>
            <a:pPr marL="0" indent="0" algn="ctr">
              <a:buNone/>
            </a:pPr>
            <a:r>
              <a:rPr lang="en-US" sz="1150" dirty="0">
                <a:solidFill>
                  <a:srgbClr val="8FBCDA"/>
                </a:solidFill>
                <a:latin typeface="Calibri" pitchFamily="34" charset="0"/>
                <a:ea typeface="Calibri" pitchFamily="34" charset="-122"/>
                <a:cs typeface="Calibri" pitchFamily="34" charset="-120"/>
              </a:rPr>
              <a:t>Audio Frames</a:t>
            </a:r>
            <a:endParaRPr lang="en-US" sz="1150" dirty="0"/>
          </a:p>
        </p:txBody>
      </p:sp>
      <p:sp>
        <p:nvSpPr>
          <p:cNvPr id="12" name="Shape 10"/>
          <p:cNvSpPr/>
          <p:nvPr/>
        </p:nvSpPr>
        <p:spPr>
          <a:xfrm>
            <a:off x="5029200" y="1115568"/>
            <a:ext cx="2103120" cy="1261872"/>
          </a:xfrm>
          <a:prstGeom prst="rect">
            <a:avLst/>
          </a:prstGeom>
          <a:solidFill>
            <a:srgbClr val="061220"/>
          </a:solidFill>
          <a:ln w="12700">
            <a:solidFill>
              <a:srgbClr val="38BDF8"/>
            </a:solidFill>
            <a:prstDash val="solid"/>
          </a:ln>
        </p:spPr>
        <p:txBody>
          <a:bodyPr/>
          <a:lstStyle/>
          <a:p>
            <a:endParaRPr/>
          </a:p>
        </p:txBody>
      </p:sp>
      <p:sp>
        <p:nvSpPr>
          <p:cNvPr id="13" name="Text 11"/>
          <p:cNvSpPr/>
          <p:nvPr/>
        </p:nvSpPr>
        <p:spPr>
          <a:xfrm>
            <a:off x="5029200" y="1188720"/>
            <a:ext cx="2103120" cy="685800"/>
          </a:xfrm>
          <a:prstGeom prst="rect">
            <a:avLst/>
          </a:prstGeom>
          <a:noFill/>
          <a:ln/>
        </p:spPr>
        <p:txBody>
          <a:bodyPr wrap="square" rtlCol="0" anchor="ctr"/>
          <a:lstStyle/>
          <a:p>
            <a:pPr marL="0" indent="0" algn="ctr">
              <a:buNone/>
            </a:pPr>
            <a:r>
              <a:rPr lang="en-US" sz="2200" b="1" dirty="0">
                <a:solidFill>
                  <a:srgbClr val="38BDF8"/>
                </a:solidFill>
                <a:latin typeface="Calibri" pitchFamily="34" charset="0"/>
                <a:ea typeface="Calibri" pitchFamily="34" charset="-122"/>
                <a:cs typeface="Calibri" pitchFamily="34" charset="-120"/>
              </a:rPr>
              <a:t>8</a:t>
            </a:r>
            <a:endParaRPr lang="en-US" sz="2200" dirty="0"/>
          </a:p>
        </p:txBody>
      </p:sp>
      <p:sp>
        <p:nvSpPr>
          <p:cNvPr id="14" name="Text 12"/>
          <p:cNvSpPr/>
          <p:nvPr/>
        </p:nvSpPr>
        <p:spPr>
          <a:xfrm>
            <a:off x="5029200" y="1874520"/>
            <a:ext cx="2103120" cy="411480"/>
          </a:xfrm>
          <a:prstGeom prst="rect">
            <a:avLst/>
          </a:prstGeom>
          <a:noFill/>
          <a:ln/>
        </p:spPr>
        <p:txBody>
          <a:bodyPr wrap="square" rtlCol="0" anchor="ctr"/>
          <a:lstStyle/>
          <a:p>
            <a:pPr marL="0" indent="0" algn="ctr">
              <a:buNone/>
            </a:pPr>
            <a:r>
              <a:rPr lang="en-US" sz="1150" dirty="0">
                <a:solidFill>
                  <a:srgbClr val="8FBCDA"/>
                </a:solidFill>
                <a:latin typeface="Calibri" pitchFamily="34" charset="0"/>
                <a:ea typeface="Calibri" pitchFamily="34" charset="-122"/>
                <a:cs typeface="Calibri" pitchFamily="34" charset="-120"/>
              </a:rPr>
              <a:t>Cup Types</a:t>
            </a:r>
            <a:endParaRPr lang="en-US" sz="1150" dirty="0"/>
          </a:p>
        </p:txBody>
      </p:sp>
      <p:sp>
        <p:nvSpPr>
          <p:cNvPr id="15" name="Shape 13"/>
          <p:cNvSpPr/>
          <p:nvPr/>
        </p:nvSpPr>
        <p:spPr>
          <a:xfrm>
            <a:off x="7360920" y="1115568"/>
            <a:ext cx="2103120" cy="1261872"/>
          </a:xfrm>
          <a:prstGeom prst="rect">
            <a:avLst/>
          </a:prstGeom>
          <a:solidFill>
            <a:srgbClr val="061220"/>
          </a:solidFill>
          <a:ln w="12700">
            <a:solidFill>
              <a:srgbClr val="F59E0B"/>
            </a:solidFill>
            <a:prstDash val="solid"/>
          </a:ln>
        </p:spPr>
        <p:txBody>
          <a:bodyPr/>
          <a:lstStyle/>
          <a:p>
            <a:endParaRPr/>
          </a:p>
        </p:txBody>
      </p:sp>
      <p:sp>
        <p:nvSpPr>
          <p:cNvPr id="16" name="Text 14"/>
          <p:cNvSpPr/>
          <p:nvPr/>
        </p:nvSpPr>
        <p:spPr>
          <a:xfrm>
            <a:off x="7360920" y="1188720"/>
            <a:ext cx="2103120" cy="685800"/>
          </a:xfrm>
          <a:prstGeom prst="rect">
            <a:avLst/>
          </a:prstGeom>
          <a:noFill/>
          <a:ln/>
        </p:spPr>
        <p:txBody>
          <a:bodyPr wrap="square" rtlCol="0" anchor="ctr"/>
          <a:lstStyle/>
          <a:p>
            <a:pPr marL="0" indent="0" algn="ctr">
              <a:buNone/>
            </a:pPr>
            <a:r>
              <a:rPr lang="en-US" sz="2200" b="1" dirty="0">
                <a:solidFill>
                  <a:srgbClr val="F59E0B"/>
                </a:solidFill>
                <a:latin typeface="Calibri" pitchFamily="34" charset="0"/>
                <a:ea typeface="Calibri" pitchFamily="34" charset="-122"/>
                <a:cs typeface="Calibri" pitchFamily="34" charset="-120"/>
              </a:rPr>
              <a:t>10.3%</a:t>
            </a:r>
            <a:endParaRPr lang="en-US" sz="2200" dirty="0"/>
          </a:p>
        </p:txBody>
      </p:sp>
      <p:sp>
        <p:nvSpPr>
          <p:cNvPr id="17" name="Text 15"/>
          <p:cNvSpPr/>
          <p:nvPr/>
        </p:nvSpPr>
        <p:spPr>
          <a:xfrm>
            <a:off x="7360920" y="1874520"/>
            <a:ext cx="2103120" cy="411480"/>
          </a:xfrm>
          <a:prstGeom prst="rect">
            <a:avLst/>
          </a:prstGeom>
          <a:noFill/>
          <a:ln/>
        </p:spPr>
        <p:txBody>
          <a:bodyPr wrap="square" rtlCol="0" anchor="ctr"/>
          <a:lstStyle/>
          <a:p>
            <a:pPr marL="0" indent="0" algn="ctr">
              <a:buNone/>
            </a:pPr>
            <a:r>
              <a:rPr lang="en-US" sz="1150" dirty="0">
                <a:solidFill>
                  <a:srgbClr val="8FBCDA"/>
                </a:solidFill>
                <a:latin typeface="Calibri" pitchFamily="34" charset="0"/>
                <a:ea typeface="Calibri" pitchFamily="34" charset="-122"/>
                <a:cs typeface="Calibri" pitchFamily="34" charset="-120"/>
              </a:rPr>
              <a:t>Positive Rate (is_full = 1)</a:t>
            </a:r>
            <a:endParaRPr lang="en-US" sz="1150" dirty="0"/>
          </a:p>
        </p:txBody>
      </p:sp>
      <p:sp>
        <p:nvSpPr>
          <p:cNvPr id="18" name="Shape 16"/>
          <p:cNvSpPr/>
          <p:nvPr/>
        </p:nvSpPr>
        <p:spPr>
          <a:xfrm>
            <a:off x="9692640" y="1115568"/>
            <a:ext cx="2103120" cy="1261872"/>
          </a:xfrm>
          <a:prstGeom prst="rect">
            <a:avLst/>
          </a:prstGeom>
          <a:solidFill>
            <a:srgbClr val="061220"/>
          </a:solidFill>
          <a:ln w="12700">
            <a:solidFill>
              <a:srgbClr val="34D399"/>
            </a:solidFill>
            <a:prstDash val="solid"/>
          </a:ln>
        </p:spPr>
        <p:txBody>
          <a:bodyPr/>
          <a:lstStyle/>
          <a:p>
            <a:endParaRPr/>
          </a:p>
        </p:txBody>
      </p:sp>
      <p:sp>
        <p:nvSpPr>
          <p:cNvPr id="19" name="Text 17"/>
          <p:cNvSpPr/>
          <p:nvPr/>
        </p:nvSpPr>
        <p:spPr>
          <a:xfrm>
            <a:off x="9692640" y="1188720"/>
            <a:ext cx="2103120" cy="685800"/>
          </a:xfrm>
          <a:prstGeom prst="rect">
            <a:avLst/>
          </a:prstGeom>
          <a:noFill/>
          <a:ln/>
        </p:spPr>
        <p:txBody>
          <a:bodyPr wrap="square" rtlCol="0" anchor="ctr"/>
          <a:lstStyle/>
          <a:p>
            <a:pPr marL="0" indent="0" algn="ctr">
              <a:buNone/>
            </a:pPr>
            <a:r>
              <a:rPr lang="en-US" sz="2200" b="1" dirty="0">
                <a:solidFill>
                  <a:srgbClr val="34D399"/>
                </a:solidFill>
                <a:latin typeface="Calibri" pitchFamily="34" charset="0"/>
                <a:ea typeface="Calibri" pitchFamily="34" charset="-122"/>
                <a:cs typeface="Calibri" pitchFamily="34" charset="-120"/>
              </a:rPr>
              <a:t>5-fold</a:t>
            </a:r>
            <a:endParaRPr lang="en-US" sz="2200" dirty="0"/>
          </a:p>
        </p:txBody>
      </p:sp>
      <p:sp>
        <p:nvSpPr>
          <p:cNvPr id="20" name="Text 18"/>
          <p:cNvSpPr/>
          <p:nvPr/>
        </p:nvSpPr>
        <p:spPr>
          <a:xfrm>
            <a:off x="9692640" y="1874520"/>
            <a:ext cx="2103120" cy="411480"/>
          </a:xfrm>
          <a:prstGeom prst="rect">
            <a:avLst/>
          </a:prstGeom>
          <a:noFill/>
          <a:ln/>
        </p:spPr>
        <p:txBody>
          <a:bodyPr wrap="square" rtlCol="0" anchor="ctr"/>
          <a:lstStyle/>
          <a:p>
            <a:pPr marL="0" indent="0" algn="ctr">
              <a:buNone/>
            </a:pPr>
            <a:r>
              <a:rPr lang="en-US" sz="1150" dirty="0">
                <a:solidFill>
                  <a:srgbClr val="8FBCDA"/>
                </a:solidFill>
                <a:latin typeface="Calibri" pitchFamily="34" charset="0"/>
                <a:ea typeface="Calibri" pitchFamily="34" charset="-122"/>
                <a:cs typeface="Calibri" pitchFamily="34" charset="-120"/>
              </a:rPr>
              <a:t>GroupKFold CV</a:t>
            </a:r>
            <a:endParaRPr lang="en-US" sz="1150" dirty="0"/>
          </a:p>
        </p:txBody>
      </p:sp>
      <p:sp>
        <p:nvSpPr>
          <p:cNvPr id="21" name="Shape 19"/>
          <p:cNvSpPr/>
          <p:nvPr/>
        </p:nvSpPr>
        <p:spPr>
          <a:xfrm>
            <a:off x="365760" y="2542032"/>
            <a:ext cx="5394960" cy="3950208"/>
          </a:xfrm>
          <a:prstGeom prst="rect">
            <a:avLst/>
          </a:prstGeom>
          <a:solidFill>
            <a:srgbClr val="0A1628"/>
          </a:solidFill>
          <a:ln w="12700">
            <a:solidFill>
              <a:srgbClr val="1E3A5F"/>
            </a:solidFill>
            <a:prstDash val="solid"/>
          </a:ln>
        </p:spPr>
        <p:txBody>
          <a:bodyPr/>
          <a:lstStyle/>
          <a:p>
            <a:endParaRPr/>
          </a:p>
        </p:txBody>
      </p:sp>
      <p:sp>
        <p:nvSpPr>
          <p:cNvPr id="22" name="Shape 20"/>
          <p:cNvSpPr/>
          <p:nvPr/>
        </p:nvSpPr>
        <p:spPr>
          <a:xfrm>
            <a:off x="365760" y="2542032"/>
            <a:ext cx="5394960" cy="36576"/>
          </a:xfrm>
          <a:prstGeom prst="rect">
            <a:avLst/>
          </a:prstGeom>
          <a:solidFill>
            <a:srgbClr val="38BDF8"/>
          </a:solidFill>
          <a:ln w="12700">
            <a:solidFill>
              <a:srgbClr val="38BDF8"/>
            </a:solidFill>
            <a:prstDash val="solid"/>
          </a:ln>
        </p:spPr>
        <p:txBody>
          <a:bodyPr/>
          <a:lstStyle/>
          <a:p>
            <a:endParaRPr/>
          </a:p>
        </p:txBody>
      </p:sp>
      <p:sp>
        <p:nvSpPr>
          <p:cNvPr id="23" name="Text 21"/>
          <p:cNvSpPr/>
          <p:nvPr/>
        </p:nvSpPr>
        <p:spPr>
          <a:xfrm>
            <a:off x="502920" y="2606040"/>
            <a:ext cx="5120640" cy="365760"/>
          </a:xfrm>
          <a:prstGeom prst="rect">
            <a:avLst/>
          </a:prstGeom>
          <a:noFill/>
          <a:ln/>
        </p:spPr>
        <p:txBody>
          <a:bodyPr wrap="square" rtlCol="0" anchor="ctr"/>
          <a:lstStyle/>
          <a:p>
            <a:pPr marL="0" indent="0">
              <a:buNone/>
            </a:pPr>
            <a:r>
              <a:rPr lang="en-US" sz="1600" b="1" dirty="0">
                <a:solidFill>
                  <a:srgbClr val="38BDF8"/>
                </a:solidFill>
                <a:latin typeface="Calibri" pitchFamily="34" charset="0"/>
                <a:ea typeface="Calibri" pitchFamily="34" charset="-122"/>
                <a:cs typeface="Calibri" pitchFamily="34" charset="-120"/>
              </a:rPr>
              <a:t>Recording Conditions</a:t>
            </a:r>
            <a:endParaRPr lang="en-US" sz="1600" dirty="0"/>
          </a:p>
        </p:txBody>
      </p:sp>
      <p:sp>
        <p:nvSpPr>
          <p:cNvPr id="24" name="Text 22"/>
          <p:cNvSpPr/>
          <p:nvPr/>
        </p:nvSpPr>
        <p:spPr>
          <a:xfrm>
            <a:off x="502920" y="3044952"/>
            <a:ext cx="5120640" cy="822960"/>
          </a:xfrm>
          <a:prstGeom prst="rect">
            <a:avLst/>
          </a:prstGeom>
          <a:noFill/>
          <a:ln/>
        </p:spPr>
        <p:txBody>
          <a:bodyPr wrap="square" rtlCol="0" anchor="ctr"/>
          <a:lstStyle/>
          <a:p>
            <a:pPr marL="0" indent="0">
              <a:buNone/>
            </a:pPr>
            <a:r>
              <a:rPr lang="en-US" sz="1300" dirty="0">
                <a:solidFill>
                  <a:srgbClr val="8FBCDA"/>
                </a:solidFill>
                <a:latin typeface="Calibri" pitchFamily="34" charset="0"/>
                <a:ea typeface="Calibri" pitchFamily="34" charset="-122"/>
                <a:cs typeface="Calibri" pitchFamily="34" charset="-120"/>
              </a:rPr>
              <a:t>All recordings made in a quiet indoor environment using a smartphone microphone (telephone mic), placed 15-30cm from the cup. Audio captured at 44.1 kHz sample rate — the standard for audio capture, providing frequency resolution up to 22 kHz, well above our 8 kHz analysis ceiling.</a:t>
            </a:r>
            <a:endParaRPr lang="en-US" sz="1300" dirty="0"/>
          </a:p>
        </p:txBody>
      </p:sp>
      <p:sp>
        <p:nvSpPr>
          <p:cNvPr id="25" name="Text 23"/>
          <p:cNvSpPr/>
          <p:nvPr/>
        </p:nvSpPr>
        <p:spPr>
          <a:xfrm>
            <a:off x="594360" y="3977640"/>
            <a:ext cx="5029200" cy="256032"/>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 Glass (transparent, thick-walled)</a:t>
            </a:r>
            <a:endParaRPr lang="en-US" sz="1250" dirty="0"/>
          </a:p>
        </p:txBody>
      </p:sp>
      <p:sp>
        <p:nvSpPr>
          <p:cNvPr id="26" name="Text 24"/>
          <p:cNvSpPr/>
          <p:nvPr/>
        </p:nvSpPr>
        <p:spPr>
          <a:xfrm>
            <a:off x="594360" y="4261104"/>
            <a:ext cx="5029200" cy="256032"/>
          </a:xfrm>
          <a:prstGeom prst="rect">
            <a:avLst/>
          </a:prstGeom>
          <a:noFill/>
          <a:ln/>
        </p:spPr>
        <p:txBody>
          <a:bodyPr wrap="square" rtlCol="0" anchor="ctr"/>
          <a:lstStyle/>
          <a:p>
            <a:pPr marL="0" indent="0">
              <a:buNone/>
            </a:pPr>
            <a:r>
              <a:rPr lang="en-US" sz="1250" dirty="0">
                <a:solidFill>
                  <a:srgbClr val="8FBCDA"/>
                </a:solidFill>
                <a:latin typeface="Calibri" pitchFamily="34" charset="0"/>
                <a:ea typeface="Calibri" pitchFamily="34" charset="-122"/>
                <a:cs typeface="Calibri" pitchFamily="34" charset="-120"/>
              </a:rPr>
              <a:t>· Glass (thin-walled, wine-style)</a:t>
            </a:r>
            <a:endParaRPr lang="en-US" sz="1250" dirty="0"/>
          </a:p>
        </p:txBody>
      </p:sp>
      <p:sp>
        <p:nvSpPr>
          <p:cNvPr id="27" name="Text 25"/>
          <p:cNvSpPr/>
          <p:nvPr/>
        </p:nvSpPr>
        <p:spPr>
          <a:xfrm>
            <a:off x="594360" y="4544568"/>
            <a:ext cx="5029200" cy="256032"/>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 Plastic disposable cup</a:t>
            </a:r>
            <a:endParaRPr lang="en-US" sz="1250" dirty="0"/>
          </a:p>
        </p:txBody>
      </p:sp>
      <p:sp>
        <p:nvSpPr>
          <p:cNvPr id="28" name="Text 26"/>
          <p:cNvSpPr/>
          <p:nvPr/>
        </p:nvSpPr>
        <p:spPr>
          <a:xfrm>
            <a:off x="594360" y="4828032"/>
            <a:ext cx="5029200" cy="256032"/>
          </a:xfrm>
          <a:prstGeom prst="rect">
            <a:avLst/>
          </a:prstGeom>
          <a:noFill/>
          <a:ln/>
        </p:spPr>
        <p:txBody>
          <a:bodyPr wrap="square" rtlCol="0" anchor="ctr"/>
          <a:lstStyle/>
          <a:p>
            <a:pPr marL="0" indent="0">
              <a:buNone/>
            </a:pPr>
            <a:r>
              <a:rPr lang="en-US" sz="1250" dirty="0">
                <a:solidFill>
                  <a:srgbClr val="8FBCDA"/>
                </a:solidFill>
                <a:latin typeface="Calibri" pitchFamily="34" charset="0"/>
                <a:ea typeface="Calibri" pitchFamily="34" charset="-122"/>
                <a:cs typeface="Calibri" pitchFamily="34" charset="-120"/>
              </a:rPr>
              <a:t>· Paper / cardboard cup</a:t>
            </a:r>
            <a:endParaRPr lang="en-US" sz="1250" dirty="0"/>
          </a:p>
        </p:txBody>
      </p:sp>
      <p:sp>
        <p:nvSpPr>
          <p:cNvPr id="29" name="Text 27"/>
          <p:cNvSpPr/>
          <p:nvPr/>
        </p:nvSpPr>
        <p:spPr>
          <a:xfrm>
            <a:off x="594360" y="5111496"/>
            <a:ext cx="5029200" cy="256032"/>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 Ceramic mug</a:t>
            </a:r>
            <a:endParaRPr lang="en-US" sz="1250" dirty="0"/>
          </a:p>
        </p:txBody>
      </p:sp>
      <p:sp>
        <p:nvSpPr>
          <p:cNvPr id="30" name="Text 28"/>
          <p:cNvSpPr/>
          <p:nvPr/>
        </p:nvSpPr>
        <p:spPr>
          <a:xfrm>
            <a:off x="594360" y="5394960"/>
            <a:ext cx="5029200" cy="256032"/>
          </a:xfrm>
          <a:prstGeom prst="rect">
            <a:avLst/>
          </a:prstGeom>
          <a:noFill/>
          <a:ln/>
        </p:spPr>
        <p:txBody>
          <a:bodyPr wrap="square" rtlCol="0" anchor="ctr"/>
          <a:lstStyle/>
          <a:p>
            <a:pPr marL="0" indent="0">
              <a:buNone/>
            </a:pPr>
            <a:r>
              <a:rPr lang="en-US" sz="1250" dirty="0">
                <a:solidFill>
                  <a:srgbClr val="8FBCDA"/>
                </a:solidFill>
                <a:latin typeface="Calibri" pitchFamily="34" charset="0"/>
                <a:ea typeface="Calibri" pitchFamily="34" charset="-122"/>
                <a:cs typeface="Calibri" pitchFamily="34" charset="-120"/>
              </a:rPr>
              <a:t>· Metal tumbler</a:t>
            </a:r>
            <a:endParaRPr lang="en-US" sz="1250" dirty="0"/>
          </a:p>
        </p:txBody>
      </p:sp>
      <p:sp>
        <p:nvSpPr>
          <p:cNvPr id="31" name="Text 29"/>
          <p:cNvSpPr/>
          <p:nvPr/>
        </p:nvSpPr>
        <p:spPr>
          <a:xfrm>
            <a:off x="594360" y="5678424"/>
            <a:ext cx="5029200" cy="256032"/>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 Double-wall insulated cup</a:t>
            </a:r>
            <a:endParaRPr lang="en-US" sz="1250" dirty="0"/>
          </a:p>
        </p:txBody>
      </p:sp>
      <p:sp>
        <p:nvSpPr>
          <p:cNvPr id="32" name="Text 30"/>
          <p:cNvSpPr/>
          <p:nvPr/>
        </p:nvSpPr>
        <p:spPr>
          <a:xfrm>
            <a:off x="594360" y="5961888"/>
            <a:ext cx="5029200" cy="256032"/>
          </a:xfrm>
          <a:prstGeom prst="rect">
            <a:avLst/>
          </a:prstGeom>
          <a:noFill/>
          <a:ln/>
        </p:spPr>
        <p:txBody>
          <a:bodyPr wrap="square" rtlCol="0" anchor="ctr"/>
          <a:lstStyle/>
          <a:p>
            <a:pPr marL="0" indent="0">
              <a:buNone/>
            </a:pPr>
            <a:r>
              <a:rPr lang="en-US" sz="1250" dirty="0">
                <a:solidFill>
                  <a:srgbClr val="8FBCDA"/>
                </a:solidFill>
                <a:latin typeface="Calibri" pitchFamily="34" charset="0"/>
                <a:ea typeface="Calibri" pitchFamily="34" charset="-122"/>
                <a:cs typeface="Calibri" pitchFamily="34" charset="-120"/>
              </a:rPr>
              <a:t>· Wide-mouth plastic bottle</a:t>
            </a:r>
            <a:endParaRPr lang="en-US" sz="1250" dirty="0"/>
          </a:p>
        </p:txBody>
      </p:sp>
      <p:sp>
        <p:nvSpPr>
          <p:cNvPr id="33" name="Shape 31"/>
          <p:cNvSpPr/>
          <p:nvPr/>
        </p:nvSpPr>
        <p:spPr>
          <a:xfrm>
            <a:off x="5897880" y="2560320"/>
            <a:ext cx="5897880" cy="3950208"/>
          </a:xfrm>
          <a:prstGeom prst="rect">
            <a:avLst/>
          </a:prstGeom>
          <a:solidFill>
            <a:srgbClr val="0A1628"/>
          </a:solidFill>
          <a:ln w="12700">
            <a:solidFill>
              <a:srgbClr val="1E3A5F"/>
            </a:solidFill>
            <a:prstDash val="solid"/>
          </a:ln>
        </p:spPr>
        <p:txBody>
          <a:bodyPr/>
          <a:lstStyle/>
          <a:p>
            <a:endParaRPr/>
          </a:p>
        </p:txBody>
      </p:sp>
      <p:sp>
        <p:nvSpPr>
          <p:cNvPr id="34" name="Shape 32"/>
          <p:cNvSpPr/>
          <p:nvPr/>
        </p:nvSpPr>
        <p:spPr>
          <a:xfrm>
            <a:off x="5943600" y="2542032"/>
            <a:ext cx="5897880" cy="36576"/>
          </a:xfrm>
          <a:prstGeom prst="rect">
            <a:avLst/>
          </a:prstGeom>
          <a:solidFill>
            <a:srgbClr val="F59E0B"/>
          </a:solidFill>
          <a:ln w="12700">
            <a:solidFill>
              <a:srgbClr val="F59E0B"/>
            </a:solidFill>
            <a:prstDash val="solid"/>
          </a:ln>
        </p:spPr>
        <p:txBody>
          <a:bodyPr/>
          <a:lstStyle/>
          <a:p>
            <a:endParaRPr/>
          </a:p>
        </p:txBody>
      </p:sp>
      <p:sp>
        <p:nvSpPr>
          <p:cNvPr id="35" name="Text 33"/>
          <p:cNvSpPr/>
          <p:nvPr/>
        </p:nvSpPr>
        <p:spPr>
          <a:xfrm>
            <a:off x="6057037" y="2727672"/>
            <a:ext cx="5623560" cy="365760"/>
          </a:xfrm>
          <a:prstGeom prst="rect">
            <a:avLst/>
          </a:prstGeom>
          <a:noFill/>
          <a:ln/>
        </p:spPr>
        <p:txBody>
          <a:bodyPr wrap="square" rtlCol="0" anchor="ctr"/>
          <a:lstStyle/>
          <a:p>
            <a:pPr marL="0" indent="0">
              <a:buNone/>
            </a:pPr>
            <a:r>
              <a:rPr lang="en-US" sz="1600" b="1" dirty="0">
                <a:solidFill>
                  <a:srgbClr val="F59E0B"/>
                </a:solidFill>
                <a:latin typeface="Calibri" pitchFamily="34" charset="0"/>
                <a:ea typeface="Calibri" pitchFamily="34" charset="-122"/>
                <a:cs typeface="Calibri" pitchFamily="34" charset="-120"/>
              </a:rPr>
              <a:t>Class Imbalance Handling</a:t>
            </a:r>
            <a:endParaRPr lang="en-US" sz="1600" dirty="0"/>
          </a:p>
        </p:txBody>
      </p:sp>
      <p:sp>
        <p:nvSpPr>
          <p:cNvPr id="36" name="Text 34"/>
          <p:cNvSpPr/>
          <p:nvPr/>
        </p:nvSpPr>
        <p:spPr>
          <a:xfrm>
            <a:off x="6080760" y="3063240"/>
            <a:ext cx="5623560" cy="274320"/>
          </a:xfrm>
          <a:prstGeom prst="rect">
            <a:avLst/>
          </a:prstGeom>
          <a:noFill/>
          <a:ln/>
        </p:spPr>
        <p:txBody>
          <a:bodyPr wrap="square" rtlCol="0" anchor="ctr"/>
          <a:lstStyle/>
          <a:p>
            <a:pPr marL="0" indent="0">
              <a:buNone/>
            </a:pPr>
            <a:r>
              <a:rPr lang="en-US" sz="1350" b="1" dirty="0">
                <a:solidFill>
                  <a:srgbClr val="F59E0B"/>
                </a:solidFill>
                <a:latin typeface="Calibri" pitchFamily="34" charset="0"/>
                <a:ea typeface="Calibri" pitchFamily="34" charset="-122"/>
                <a:cs typeface="Calibri" pitchFamily="34" charset="-120"/>
              </a:rPr>
              <a:t>The challenge</a:t>
            </a:r>
            <a:endParaRPr lang="en-US" sz="1350" dirty="0"/>
          </a:p>
        </p:txBody>
      </p:sp>
      <p:sp>
        <p:nvSpPr>
          <p:cNvPr id="37" name="Text 35"/>
          <p:cNvSpPr/>
          <p:nvPr/>
        </p:nvSpPr>
        <p:spPr>
          <a:xfrm>
            <a:off x="6080760" y="3355848"/>
            <a:ext cx="5623560" cy="685800"/>
          </a:xfrm>
          <a:prstGeom prst="rect">
            <a:avLst/>
          </a:prstGeom>
          <a:noFill/>
          <a:ln/>
        </p:spPr>
        <p:txBody>
          <a:bodyPr wrap="square" rtlCol="0" anchor="ctr"/>
          <a:lstStyle/>
          <a:p>
            <a:pPr marL="0" indent="0">
              <a:buNone/>
            </a:pPr>
            <a:r>
              <a:rPr lang="en-US" sz="1250" dirty="0">
                <a:solidFill>
                  <a:srgbClr val="8FBCDA"/>
                </a:solidFill>
                <a:latin typeface="Calibri" pitchFamily="34" charset="0"/>
                <a:ea typeface="Calibri" pitchFamily="34" charset="-122"/>
                <a:cs typeface="Calibri" pitchFamily="34" charset="-120"/>
              </a:rPr>
              <a:t>Only ~10% of frames are labeled is_full = 1. A naive classifier that always predicts 'not full' achieves 90% accuracy but is useless — it never stops the pump.</a:t>
            </a:r>
            <a:endParaRPr lang="en-US" sz="1250" dirty="0"/>
          </a:p>
        </p:txBody>
      </p:sp>
      <p:sp>
        <p:nvSpPr>
          <p:cNvPr id="38" name="Text 36"/>
          <p:cNvSpPr/>
          <p:nvPr/>
        </p:nvSpPr>
        <p:spPr>
          <a:xfrm>
            <a:off x="6080760" y="3995928"/>
            <a:ext cx="5623560" cy="274320"/>
          </a:xfrm>
          <a:prstGeom prst="rect">
            <a:avLst/>
          </a:prstGeom>
          <a:noFill/>
          <a:ln/>
        </p:spPr>
        <p:txBody>
          <a:bodyPr wrap="square" rtlCol="0" anchor="ctr"/>
          <a:lstStyle/>
          <a:p>
            <a:pPr marL="0" indent="0">
              <a:buNone/>
            </a:pPr>
            <a:r>
              <a:rPr lang="en-US" sz="1350" b="1" dirty="0">
                <a:solidFill>
                  <a:srgbClr val="F59E0B"/>
                </a:solidFill>
                <a:latin typeface="Calibri" pitchFamily="34" charset="0"/>
                <a:ea typeface="Calibri" pitchFamily="34" charset="-122"/>
                <a:cs typeface="Calibri" pitchFamily="34" charset="-120"/>
              </a:rPr>
              <a:t>Solution: class weights</a:t>
            </a:r>
            <a:endParaRPr lang="en-US" sz="1350" dirty="0"/>
          </a:p>
        </p:txBody>
      </p:sp>
      <p:sp>
        <p:nvSpPr>
          <p:cNvPr id="39" name="Text 37"/>
          <p:cNvSpPr/>
          <p:nvPr/>
        </p:nvSpPr>
        <p:spPr>
          <a:xfrm>
            <a:off x="6080760" y="4245749"/>
            <a:ext cx="5623560" cy="685800"/>
          </a:xfrm>
          <a:prstGeom prst="rect">
            <a:avLst/>
          </a:prstGeom>
          <a:noFill/>
          <a:ln/>
        </p:spPr>
        <p:txBody>
          <a:bodyPr wrap="square" rtlCol="0" anchor="ctr"/>
          <a:lstStyle/>
          <a:p>
            <a:pPr marL="0" indent="0">
              <a:buNone/>
            </a:pPr>
            <a:r>
              <a:rPr lang="en-US" sz="1250" dirty="0">
                <a:solidFill>
                  <a:srgbClr val="8FBCDA"/>
                </a:solidFill>
                <a:latin typeface="Calibri" pitchFamily="34" charset="0"/>
                <a:ea typeface="Calibri" pitchFamily="34" charset="-122"/>
                <a:cs typeface="Calibri" pitchFamily="34" charset="-120"/>
              </a:rPr>
              <a:t>class_weight='balanced' (sklearn) / scale_pos_weight=9 (XGBoost) penalizes missed 'full' frames 9× more than false alarms. The model is forced to take positive frames seriously.</a:t>
            </a:r>
            <a:endParaRPr lang="en-US" sz="1250" dirty="0"/>
          </a:p>
        </p:txBody>
      </p:sp>
      <p:sp>
        <p:nvSpPr>
          <p:cNvPr id="40" name="Text 38"/>
          <p:cNvSpPr/>
          <p:nvPr/>
        </p:nvSpPr>
        <p:spPr>
          <a:xfrm>
            <a:off x="6080760" y="5199313"/>
            <a:ext cx="5623560" cy="274320"/>
          </a:xfrm>
          <a:prstGeom prst="rect">
            <a:avLst/>
          </a:prstGeom>
          <a:noFill/>
          <a:ln/>
        </p:spPr>
        <p:txBody>
          <a:bodyPr wrap="square" rtlCol="0" anchor="ctr"/>
          <a:lstStyle/>
          <a:p>
            <a:pPr marL="0" indent="0">
              <a:buNone/>
            </a:pPr>
            <a:endParaRPr lang="en-US" sz="1350" dirty="0"/>
          </a:p>
        </p:txBody>
      </p:sp>
      <p:sp>
        <p:nvSpPr>
          <p:cNvPr id="41" name="Text 39"/>
          <p:cNvSpPr/>
          <p:nvPr/>
        </p:nvSpPr>
        <p:spPr>
          <a:xfrm>
            <a:off x="6080760" y="5435677"/>
            <a:ext cx="5623560" cy="685800"/>
          </a:xfrm>
          <a:prstGeom prst="rect">
            <a:avLst/>
          </a:prstGeom>
          <a:noFill/>
          <a:ln/>
        </p:spPr>
        <p:txBody>
          <a:bodyPr wrap="square" rtlCol="0" anchor="ctr"/>
          <a:lstStyle/>
          <a:p>
            <a:pPr marL="0" indent="0">
              <a:buNone/>
            </a:pPr>
            <a:endParaRPr lang="en-US" sz="1250" dirty="0"/>
          </a:p>
        </p:txBody>
      </p:sp>
      <p:sp>
        <p:nvSpPr>
          <p:cNvPr id="42" name="Text 33"/>
          <p:cNvSpPr/>
          <p:nvPr/>
        </p:nvSpPr>
        <p:spPr>
          <a:xfrm>
            <a:off x="6080760" y="4915849"/>
            <a:ext cx="5623560" cy="365760"/>
          </a:xfrm>
          <a:prstGeom prst="rect">
            <a:avLst/>
          </a:prstGeom>
          <a:noFill/>
          <a:ln/>
        </p:spPr>
        <p:txBody>
          <a:bodyPr wrap="square" rtlCol="0" anchor="ctr"/>
          <a:lstStyle/>
          <a:p>
            <a:pPr marL="0" indent="0">
              <a:buNone/>
            </a:pP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20617"/>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38BDF8"/>
          </a:solidFill>
          <a:ln w="12700">
            <a:solidFill>
              <a:srgbClr val="38BDF8"/>
            </a:solidFill>
            <a:prstDash val="solid"/>
          </a:ln>
        </p:spPr>
        <p:txBody>
          <a:bodyPr/>
          <a:lstStyle/>
          <a:p>
            <a:endParaRPr/>
          </a:p>
        </p:txBody>
      </p:sp>
      <p:sp>
        <p:nvSpPr>
          <p:cNvPr id="3" name="Text 1"/>
          <p:cNvSpPr/>
          <p:nvPr/>
        </p:nvSpPr>
        <p:spPr>
          <a:xfrm>
            <a:off x="457200" y="91440"/>
            <a:ext cx="11274552" cy="658368"/>
          </a:xfrm>
          <a:prstGeom prst="rect">
            <a:avLst/>
          </a:prstGeom>
          <a:noFill/>
          <a:ln/>
        </p:spPr>
        <p:txBody>
          <a:bodyPr wrap="square" rtlCol="0" anchor="ctr"/>
          <a:lstStyle/>
          <a:p>
            <a:pPr marL="0" indent="0" algn="r">
              <a:buNone/>
            </a:pPr>
            <a:r>
              <a:rPr lang="en-US" sz="2600" b="1" dirty="0">
                <a:solidFill>
                  <a:srgbClr val="38BDF8"/>
                </a:solidFill>
                <a:latin typeface="Calibri" pitchFamily="34" charset="0"/>
                <a:ea typeface="Calibri" pitchFamily="34" charset="-122"/>
                <a:cs typeface="Calibri" pitchFamily="34" charset="-120"/>
              </a:rPr>
              <a:t>Preprocessing Pipeline</a:t>
            </a:r>
            <a:endParaRPr lang="en-US" sz="2600" dirty="0"/>
          </a:p>
        </p:txBody>
      </p:sp>
      <p:sp>
        <p:nvSpPr>
          <p:cNvPr id="4" name="Text 2"/>
          <p:cNvSpPr/>
          <p:nvPr/>
        </p:nvSpPr>
        <p:spPr>
          <a:xfrm>
            <a:off x="457200" y="749808"/>
            <a:ext cx="11274552" cy="292608"/>
          </a:xfrm>
          <a:prstGeom prst="rect">
            <a:avLst/>
          </a:prstGeom>
          <a:noFill/>
          <a:ln/>
        </p:spPr>
        <p:txBody>
          <a:bodyPr wrap="square" rtlCol="0" anchor="ctr"/>
          <a:lstStyle/>
          <a:p>
            <a:pPr marL="0" indent="0" algn="r">
              <a:buNone/>
            </a:pPr>
            <a:r>
              <a:rPr lang="en-US" sz="1450" dirty="0">
                <a:solidFill>
                  <a:srgbClr val="8FBCDA"/>
                </a:solidFill>
                <a:latin typeface="Calibri" pitchFamily="34" charset="0"/>
                <a:ea typeface="Calibri" pitchFamily="34" charset="-122"/>
                <a:cs typeface="Calibri" pitchFamily="34" charset="-120"/>
              </a:rPr>
              <a:t>From raw WAV to feature-ready 50ms frames</a:t>
            </a:r>
            <a:endParaRPr lang="en-US" sz="1450" dirty="0"/>
          </a:p>
        </p:txBody>
      </p:sp>
      <p:sp>
        <p:nvSpPr>
          <p:cNvPr id="5" name="Text 3"/>
          <p:cNvSpPr/>
          <p:nvPr/>
        </p:nvSpPr>
        <p:spPr>
          <a:xfrm>
            <a:off x="365760" y="6601968"/>
            <a:ext cx="11457432" cy="201168"/>
          </a:xfrm>
          <a:prstGeom prst="rect">
            <a:avLst/>
          </a:prstGeom>
          <a:noFill/>
          <a:ln/>
        </p:spPr>
        <p:txBody>
          <a:bodyPr wrap="square" rtlCol="0" anchor="ctr"/>
          <a:lstStyle/>
          <a:p>
            <a:pPr marL="0" indent="0" algn="r">
              <a:buNone/>
            </a:pPr>
            <a:r>
              <a:rPr lang="en-US" sz="1050" dirty="0">
                <a:solidFill>
                  <a:srgbClr val="1A3A5F"/>
                </a:solidFill>
                <a:latin typeface="Calibri" pitchFamily="34" charset="0"/>
                <a:ea typeface="Calibri" pitchFamily="34" charset="-122"/>
                <a:cs typeface="Calibri" pitchFamily="34" charset="-120"/>
              </a:rPr>
              <a:t>Preprocessing</a:t>
            </a:r>
            <a:endParaRPr lang="en-US" sz="1050" dirty="0"/>
          </a:p>
        </p:txBody>
      </p:sp>
      <p:sp>
        <p:nvSpPr>
          <p:cNvPr id="6" name="Shape 4"/>
          <p:cNvSpPr/>
          <p:nvPr/>
        </p:nvSpPr>
        <p:spPr>
          <a:xfrm>
            <a:off x="320040" y="1170432"/>
            <a:ext cx="2121408" cy="3246120"/>
          </a:xfrm>
          <a:prstGeom prst="rect">
            <a:avLst/>
          </a:prstGeom>
          <a:solidFill>
            <a:srgbClr val="061220"/>
          </a:solidFill>
          <a:ln w="12700">
            <a:solidFill>
              <a:srgbClr val="4A9EFF"/>
            </a:solidFill>
            <a:prstDash val="solid"/>
          </a:ln>
        </p:spPr>
        <p:txBody>
          <a:bodyPr/>
          <a:lstStyle/>
          <a:p>
            <a:endParaRPr/>
          </a:p>
        </p:txBody>
      </p:sp>
      <p:sp>
        <p:nvSpPr>
          <p:cNvPr id="7" name="Shape 5"/>
          <p:cNvSpPr/>
          <p:nvPr/>
        </p:nvSpPr>
        <p:spPr>
          <a:xfrm>
            <a:off x="1133856" y="1298448"/>
            <a:ext cx="475488" cy="475488"/>
          </a:xfrm>
          <a:prstGeom prst="ellipse">
            <a:avLst/>
          </a:prstGeom>
          <a:solidFill>
            <a:srgbClr val="4A9EFF"/>
          </a:solidFill>
          <a:ln w="12700">
            <a:solidFill>
              <a:srgbClr val="4A9EFF"/>
            </a:solidFill>
            <a:prstDash val="solid"/>
          </a:ln>
        </p:spPr>
        <p:txBody>
          <a:bodyPr/>
          <a:lstStyle/>
          <a:p>
            <a:endParaRPr/>
          </a:p>
        </p:txBody>
      </p:sp>
      <p:sp>
        <p:nvSpPr>
          <p:cNvPr id="8" name="Text 6"/>
          <p:cNvSpPr/>
          <p:nvPr/>
        </p:nvSpPr>
        <p:spPr>
          <a:xfrm>
            <a:off x="1133856" y="1298448"/>
            <a:ext cx="475488" cy="475488"/>
          </a:xfrm>
          <a:prstGeom prst="rect">
            <a:avLst/>
          </a:prstGeom>
          <a:noFill/>
          <a:ln/>
        </p:spPr>
        <p:txBody>
          <a:bodyPr wrap="square" rtlCol="0" anchor="ctr"/>
          <a:lstStyle/>
          <a:p>
            <a:pPr marL="0" indent="0" algn="ctr">
              <a:buNone/>
            </a:pPr>
            <a:r>
              <a:rPr lang="en-US" sz="1700" b="1" dirty="0">
                <a:solidFill>
                  <a:srgbClr val="020617"/>
                </a:solidFill>
                <a:latin typeface="Calibri" pitchFamily="34" charset="0"/>
                <a:ea typeface="Calibri" pitchFamily="34" charset="-122"/>
                <a:cs typeface="Calibri" pitchFamily="34" charset="-120"/>
              </a:rPr>
              <a:t>1</a:t>
            </a:r>
            <a:endParaRPr lang="en-US" sz="1700" dirty="0"/>
          </a:p>
        </p:txBody>
      </p:sp>
      <p:sp>
        <p:nvSpPr>
          <p:cNvPr id="9" name="Text 7"/>
          <p:cNvSpPr/>
          <p:nvPr/>
        </p:nvSpPr>
        <p:spPr>
          <a:xfrm>
            <a:off x="411480" y="1901952"/>
            <a:ext cx="1938528" cy="594360"/>
          </a:xfrm>
          <a:prstGeom prst="rect">
            <a:avLst/>
          </a:prstGeom>
          <a:noFill/>
          <a:ln/>
        </p:spPr>
        <p:txBody>
          <a:bodyPr wrap="square" rtlCol="0" anchor="ctr"/>
          <a:lstStyle/>
          <a:p>
            <a:pPr marL="0" indent="0" algn="ctr">
              <a:buNone/>
            </a:pPr>
            <a:r>
              <a:rPr lang="en-US" sz="1450" b="1" dirty="0">
                <a:solidFill>
                  <a:srgbClr val="4A9EFF"/>
                </a:solidFill>
                <a:latin typeface="Calibri" pitchFamily="34" charset="0"/>
                <a:ea typeface="Calibri" pitchFamily="34" charset="-122"/>
                <a:cs typeface="Calibri" pitchFamily="34" charset="-120"/>
              </a:rPr>
              <a:t>Noise</a:t>
            </a:r>
            <a:endParaRPr lang="en-US" sz="1450" dirty="0"/>
          </a:p>
          <a:p>
            <a:pPr marL="0" indent="0" algn="ctr">
              <a:buNone/>
            </a:pPr>
            <a:r>
              <a:rPr lang="en-US" sz="1450" b="1" dirty="0">
                <a:solidFill>
                  <a:srgbClr val="4A9EFF"/>
                </a:solidFill>
                <a:latin typeface="Calibri" pitchFamily="34" charset="0"/>
                <a:ea typeface="Calibri" pitchFamily="34" charset="-122"/>
                <a:cs typeface="Calibri" pitchFamily="34" charset="-120"/>
              </a:rPr>
              <a:t>Reduction</a:t>
            </a:r>
            <a:endParaRPr lang="en-US" sz="1450" dirty="0"/>
          </a:p>
        </p:txBody>
      </p:sp>
      <p:sp>
        <p:nvSpPr>
          <p:cNvPr id="10" name="Text 8"/>
          <p:cNvSpPr/>
          <p:nvPr/>
        </p:nvSpPr>
        <p:spPr>
          <a:xfrm>
            <a:off x="411480" y="2578608"/>
            <a:ext cx="1938528" cy="1719072"/>
          </a:xfrm>
          <a:prstGeom prst="rect">
            <a:avLst/>
          </a:prstGeom>
          <a:noFill/>
          <a:ln/>
        </p:spPr>
        <p:txBody>
          <a:bodyPr wrap="square" rtlCol="0" anchor="t"/>
          <a:lstStyle/>
          <a:p>
            <a:pPr marL="0" indent="0" algn="ctr">
              <a:buNone/>
            </a:pPr>
            <a:r>
              <a:rPr lang="en-US" sz="1200" dirty="0">
                <a:solidFill>
                  <a:srgbClr val="8FBCDA"/>
                </a:solidFill>
                <a:latin typeface="Calibri" pitchFamily="34" charset="0"/>
                <a:ea typeface="Calibri" pitchFamily="34" charset="-122"/>
                <a:cs typeface="Calibri" pitchFamily="34" charset="-120"/>
              </a:rPr>
              <a:t>noisereduce library</a:t>
            </a:r>
            <a:endParaRPr lang="en-US" sz="1200" dirty="0"/>
          </a:p>
          <a:p>
            <a:pPr marL="0" indent="0" algn="ctr">
              <a:buNone/>
            </a:pPr>
            <a:r>
              <a:rPr lang="en-US" sz="1200" dirty="0">
                <a:solidFill>
                  <a:srgbClr val="8FBCDA"/>
                </a:solidFill>
                <a:latin typeface="Calibri" pitchFamily="34" charset="0"/>
                <a:ea typeface="Calibri" pitchFamily="34" charset="-122"/>
                <a:cs typeface="Calibri" pitchFamily="34" charset="-120"/>
              </a:rPr>
              <a:t>First 0.5s as noise</a:t>
            </a:r>
            <a:endParaRPr lang="en-US" sz="1200" dirty="0"/>
          </a:p>
          <a:p>
            <a:pPr marL="0" indent="0" algn="ctr">
              <a:buNone/>
            </a:pPr>
            <a:r>
              <a:rPr lang="en-US" sz="1200" dirty="0">
                <a:solidFill>
                  <a:srgbClr val="8FBCDA"/>
                </a:solidFill>
                <a:latin typeface="Calibri" pitchFamily="34" charset="0"/>
                <a:ea typeface="Calibri" pitchFamily="34" charset="-122"/>
                <a:cs typeface="Calibri" pitchFamily="34" charset="-120"/>
              </a:rPr>
              <a:t>profile; handles</a:t>
            </a:r>
            <a:endParaRPr lang="en-US" sz="1200" dirty="0"/>
          </a:p>
          <a:p>
            <a:pPr marL="0" indent="0" algn="ctr">
              <a:buNone/>
            </a:pPr>
            <a:r>
              <a:rPr lang="en-US" sz="1200" dirty="0">
                <a:solidFill>
                  <a:srgbClr val="8FBCDA"/>
                </a:solidFill>
                <a:latin typeface="Calibri" pitchFamily="34" charset="0"/>
                <a:ea typeface="Calibri" pitchFamily="34" charset="-122"/>
                <a:cs typeface="Calibri" pitchFamily="34" charset="-120"/>
              </a:rPr>
              <a:t>HVAC/ambient hum</a:t>
            </a:r>
            <a:endParaRPr lang="en-US" sz="1200" dirty="0"/>
          </a:p>
        </p:txBody>
      </p:sp>
      <p:sp>
        <p:nvSpPr>
          <p:cNvPr id="11" name="Text 9"/>
          <p:cNvSpPr/>
          <p:nvPr/>
        </p:nvSpPr>
        <p:spPr>
          <a:xfrm>
            <a:off x="2423160" y="2542032"/>
            <a:ext cx="274320" cy="384048"/>
          </a:xfrm>
          <a:prstGeom prst="rect">
            <a:avLst/>
          </a:prstGeom>
          <a:noFill/>
          <a:ln/>
        </p:spPr>
        <p:txBody>
          <a:bodyPr wrap="square" rtlCol="0" anchor="ctr"/>
          <a:lstStyle/>
          <a:p>
            <a:pPr marL="0" indent="0" algn="ctr">
              <a:buNone/>
            </a:pPr>
            <a:r>
              <a:rPr lang="en-US" sz="1800" dirty="0">
                <a:solidFill>
                  <a:srgbClr val="8FBCDA"/>
                </a:solidFill>
                <a:latin typeface="Calibri" pitchFamily="34" charset="0"/>
                <a:ea typeface="Calibri" pitchFamily="34" charset="-122"/>
                <a:cs typeface="Calibri" pitchFamily="34" charset="-120"/>
              </a:rPr>
              <a:t>→</a:t>
            </a:r>
            <a:endParaRPr lang="en-US" sz="1800" dirty="0"/>
          </a:p>
        </p:txBody>
      </p:sp>
      <p:sp>
        <p:nvSpPr>
          <p:cNvPr id="12" name="Shape 10"/>
          <p:cNvSpPr/>
          <p:nvPr/>
        </p:nvSpPr>
        <p:spPr>
          <a:xfrm>
            <a:off x="2651760" y="1170432"/>
            <a:ext cx="2121408" cy="3246120"/>
          </a:xfrm>
          <a:prstGeom prst="rect">
            <a:avLst/>
          </a:prstGeom>
          <a:solidFill>
            <a:srgbClr val="061220"/>
          </a:solidFill>
          <a:ln w="12700">
            <a:solidFill>
              <a:srgbClr val="38BDF8"/>
            </a:solidFill>
            <a:prstDash val="solid"/>
          </a:ln>
        </p:spPr>
        <p:txBody>
          <a:bodyPr/>
          <a:lstStyle/>
          <a:p>
            <a:endParaRPr/>
          </a:p>
        </p:txBody>
      </p:sp>
      <p:sp>
        <p:nvSpPr>
          <p:cNvPr id="13" name="Shape 11"/>
          <p:cNvSpPr/>
          <p:nvPr/>
        </p:nvSpPr>
        <p:spPr>
          <a:xfrm>
            <a:off x="3465576" y="1298448"/>
            <a:ext cx="475488" cy="475488"/>
          </a:xfrm>
          <a:prstGeom prst="ellipse">
            <a:avLst/>
          </a:prstGeom>
          <a:solidFill>
            <a:srgbClr val="38BDF8"/>
          </a:solidFill>
          <a:ln w="12700">
            <a:solidFill>
              <a:srgbClr val="38BDF8"/>
            </a:solidFill>
            <a:prstDash val="solid"/>
          </a:ln>
        </p:spPr>
        <p:txBody>
          <a:bodyPr/>
          <a:lstStyle/>
          <a:p>
            <a:endParaRPr/>
          </a:p>
        </p:txBody>
      </p:sp>
      <p:sp>
        <p:nvSpPr>
          <p:cNvPr id="14" name="Text 12"/>
          <p:cNvSpPr/>
          <p:nvPr/>
        </p:nvSpPr>
        <p:spPr>
          <a:xfrm>
            <a:off x="3465576" y="1298448"/>
            <a:ext cx="475488" cy="475488"/>
          </a:xfrm>
          <a:prstGeom prst="rect">
            <a:avLst/>
          </a:prstGeom>
          <a:noFill/>
          <a:ln/>
        </p:spPr>
        <p:txBody>
          <a:bodyPr wrap="square" rtlCol="0" anchor="ctr"/>
          <a:lstStyle/>
          <a:p>
            <a:pPr marL="0" indent="0" algn="ctr">
              <a:buNone/>
            </a:pPr>
            <a:r>
              <a:rPr lang="en-US" sz="1700" b="1" dirty="0">
                <a:solidFill>
                  <a:srgbClr val="020617"/>
                </a:solidFill>
                <a:latin typeface="Calibri" pitchFamily="34" charset="0"/>
                <a:ea typeface="Calibri" pitchFamily="34" charset="-122"/>
                <a:cs typeface="Calibri" pitchFamily="34" charset="-120"/>
              </a:rPr>
              <a:t>2</a:t>
            </a:r>
            <a:endParaRPr lang="en-US" sz="1700" dirty="0"/>
          </a:p>
        </p:txBody>
      </p:sp>
      <p:sp>
        <p:nvSpPr>
          <p:cNvPr id="15" name="Text 13"/>
          <p:cNvSpPr/>
          <p:nvPr/>
        </p:nvSpPr>
        <p:spPr>
          <a:xfrm>
            <a:off x="2743200" y="1901952"/>
            <a:ext cx="1938528" cy="594360"/>
          </a:xfrm>
          <a:prstGeom prst="rect">
            <a:avLst/>
          </a:prstGeom>
          <a:noFill/>
          <a:ln/>
        </p:spPr>
        <p:txBody>
          <a:bodyPr wrap="square" rtlCol="0" anchor="ctr"/>
          <a:lstStyle/>
          <a:p>
            <a:pPr marL="0" indent="0" algn="ctr">
              <a:buNone/>
            </a:pPr>
            <a:r>
              <a:rPr lang="en-US" sz="1450" b="1" dirty="0">
                <a:solidFill>
                  <a:srgbClr val="38BDF8"/>
                </a:solidFill>
                <a:latin typeface="Calibri" pitchFamily="34" charset="0"/>
                <a:ea typeface="Calibri" pitchFamily="34" charset="-122"/>
                <a:cs typeface="Calibri" pitchFamily="34" charset="-120"/>
              </a:rPr>
              <a:t>Dynamic</a:t>
            </a:r>
            <a:endParaRPr lang="en-US" sz="1450" dirty="0"/>
          </a:p>
          <a:p>
            <a:pPr marL="0" indent="0" algn="ctr">
              <a:buNone/>
            </a:pPr>
            <a:r>
              <a:rPr lang="en-US" sz="1450" b="1" dirty="0">
                <a:solidFill>
                  <a:srgbClr val="38BDF8"/>
                </a:solidFill>
                <a:latin typeface="Calibri" pitchFamily="34" charset="0"/>
                <a:ea typeface="Calibri" pitchFamily="34" charset="-122"/>
                <a:cs typeface="Calibri" pitchFamily="34" charset="-120"/>
              </a:rPr>
              <a:t>Trimming</a:t>
            </a:r>
            <a:endParaRPr lang="en-US" sz="1450" dirty="0"/>
          </a:p>
        </p:txBody>
      </p:sp>
      <p:sp>
        <p:nvSpPr>
          <p:cNvPr id="16" name="Text 14"/>
          <p:cNvSpPr/>
          <p:nvPr/>
        </p:nvSpPr>
        <p:spPr>
          <a:xfrm>
            <a:off x="2743200" y="2578608"/>
            <a:ext cx="1938528" cy="1719072"/>
          </a:xfrm>
          <a:prstGeom prst="rect">
            <a:avLst/>
          </a:prstGeom>
          <a:noFill/>
          <a:ln/>
        </p:spPr>
        <p:txBody>
          <a:bodyPr wrap="square" rtlCol="0" anchor="t"/>
          <a:lstStyle/>
          <a:p>
            <a:pPr marL="0" indent="0" algn="ctr">
              <a:buNone/>
            </a:pPr>
            <a:r>
              <a:rPr lang="en-US" sz="1200" dirty="0">
                <a:solidFill>
                  <a:srgbClr val="8FBCDA"/>
                </a:solidFill>
                <a:latin typeface="Calibri" pitchFamily="34" charset="0"/>
                <a:ea typeface="Calibri" pitchFamily="34" charset="-122"/>
                <a:cs typeface="Calibri" pitchFamily="34" charset="-120"/>
              </a:rPr>
              <a:t>librosa.effects.split</a:t>
            </a:r>
            <a:endParaRPr lang="en-US" sz="1200" dirty="0"/>
          </a:p>
          <a:p>
            <a:pPr marL="0" indent="0" algn="ctr">
              <a:buNone/>
            </a:pPr>
            <a:r>
              <a:rPr lang="en-US" sz="1200" dirty="0">
                <a:solidFill>
                  <a:srgbClr val="8FBCDA"/>
                </a:solidFill>
                <a:latin typeface="Calibri" pitchFamily="34" charset="0"/>
                <a:ea typeface="Calibri" pitchFamily="34" charset="-122"/>
                <a:cs typeface="Calibri" pitchFamily="34" charset="-120"/>
              </a:rPr>
              <a:t>top_db = 40</a:t>
            </a:r>
            <a:endParaRPr lang="en-US" sz="1200" dirty="0"/>
          </a:p>
          <a:p>
            <a:pPr marL="0" indent="0" algn="ctr">
              <a:buNone/>
            </a:pPr>
            <a:r>
              <a:rPr lang="en-US" sz="1200" dirty="0">
                <a:solidFill>
                  <a:srgbClr val="8FBCDA"/>
                </a:solidFill>
                <a:latin typeface="Calibri" pitchFamily="34" charset="0"/>
                <a:ea typeface="Calibri" pitchFamily="34" charset="-122"/>
                <a:cs typeface="Calibri" pitchFamily="34" charset="-120"/>
              </a:rPr>
              <a:t>Removes pre/post</a:t>
            </a:r>
            <a:endParaRPr lang="en-US" sz="1200" dirty="0"/>
          </a:p>
          <a:p>
            <a:pPr marL="0" indent="0" algn="ctr">
              <a:buNone/>
            </a:pPr>
            <a:r>
              <a:rPr lang="en-US" sz="1200" dirty="0">
                <a:solidFill>
                  <a:srgbClr val="8FBCDA"/>
                </a:solidFill>
                <a:latin typeface="Calibri" pitchFamily="34" charset="0"/>
                <a:ea typeface="Calibri" pitchFamily="34" charset="-122"/>
                <a:cs typeface="Calibri" pitchFamily="34" charset="-120"/>
              </a:rPr>
              <a:t>pour silence</a:t>
            </a:r>
            <a:endParaRPr lang="en-US" sz="1200" dirty="0"/>
          </a:p>
        </p:txBody>
      </p:sp>
      <p:sp>
        <p:nvSpPr>
          <p:cNvPr id="17" name="Text 15"/>
          <p:cNvSpPr/>
          <p:nvPr/>
        </p:nvSpPr>
        <p:spPr>
          <a:xfrm>
            <a:off x="4754880" y="2542032"/>
            <a:ext cx="274320" cy="384048"/>
          </a:xfrm>
          <a:prstGeom prst="rect">
            <a:avLst/>
          </a:prstGeom>
          <a:noFill/>
          <a:ln/>
        </p:spPr>
        <p:txBody>
          <a:bodyPr wrap="square" rtlCol="0" anchor="ctr"/>
          <a:lstStyle/>
          <a:p>
            <a:pPr marL="0" indent="0" algn="ctr">
              <a:buNone/>
            </a:pPr>
            <a:r>
              <a:rPr lang="en-US" sz="1800" dirty="0">
                <a:solidFill>
                  <a:srgbClr val="8FBCDA"/>
                </a:solidFill>
                <a:latin typeface="Calibri" pitchFamily="34" charset="0"/>
                <a:ea typeface="Calibri" pitchFamily="34" charset="-122"/>
                <a:cs typeface="Calibri" pitchFamily="34" charset="-120"/>
              </a:rPr>
              <a:t>→</a:t>
            </a:r>
            <a:endParaRPr lang="en-US" sz="1800" dirty="0"/>
          </a:p>
        </p:txBody>
      </p:sp>
      <p:sp>
        <p:nvSpPr>
          <p:cNvPr id="18" name="Shape 16"/>
          <p:cNvSpPr/>
          <p:nvPr/>
        </p:nvSpPr>
        <p:spPr>
          <a:xfrm>
            <a:off x="5010912" y="1156716"/>
            <a:ext cx="2121408" cy="3246120"/>
          </a:xfrm>
          <a:prstGeom prst="rect">
            <a:avLst/>
          </a:prstGeom>
          <a:solidFill>
            <a:srgbClr val="061220"/>
          </a:solidFill>
          <a:ln w="12700">
            <a:solidFill>
              <a:srgbClr val="34D399"/>
            </a:solidFill>
            <a:prstDash val="solid"/>
          </a:ln>
        </p:spPr>
        <p:txBody>
          <a:bodyPr/>
          <a:lstStyle/>
          <a:p>
            <a:endParaRPr/>
          </a:p>
        </p:txBody>
      </p:sp>
      <p:sp>
        <p:nvSpPr>
          <p:cNvPr id="19" name="Shape 17"/>
          <p:cNvSpPr/>
          <p:nvPr/>
        </p:nvSpPr>
        <p:spPr>
          <a:xfrm>
            <a:off x="5797296" y="1298448"/>
            <a:ext cx="475488" cy="475488"/>
          </a:xfrm>
          <a:prstGeom prst="ellipse">
            <a:avLst/>
          </a:prstGeom>
          <a:solidFill>
            <a:srgbClr val="34D399"/>
          </a:solidFill>
          <a:ln w="12700">
            <a:solidFill>
              <a:srgbClr val="34D399"/>
            </a:solidFill>
            <a:prstDash val="solid"/>
          </a:ln>
        </p:spPr>
        <p:txBody>
          <a:bodyPr/>
          <a:lstStyle/>
          <a:p>
            <a:endParaRPr/>
          </a:p>
        </p:txBody>
      </p:sp>
      <p:sp>
        <p:nvSpPr>
          <p:cNvPr id="20" name="Text 18"/>
          <p:cNvSpPr/>
          <p:nvPr/>
        </p:nvSpPr>
        <p:spPr>
          <a:xfrm>
            <a:off x="5797296" y="1298448"/>
            <a:ext cx="475488" cy="475488"/>
          </a:xfrm>
          <a:prstGeom prst="rect">
            <a:avLst/>
          </a:prstGeom>
          <a:noFill/>
          <a:ln/>
        </p:spPr>
        <p:txBody>
          <a:bodyPr wrap="square" rtlCol="0" anchor="ctr"/>
          <a:lstStyle/>
          <a:p>
            <a:pPr marL="0" indent="0" algn="ctr">
              <a:buNone/>
            </a:pPr>
            <a:r>
              <a:rPr lang="en-US" sz="1700" b="1" dirty="0">
                <a:solidFill>
                  <a:srgbClr val="020617"/>
                </a:solidFill>
                <a:latin typeface="Calibri" pitchFamily="34" charset="0"/>
                <a:ea typeface="Calibri" pitchFamily="34" charset="-122"/>
                <a:cs typeface="Calibri" pitchFamily="34" charset="-120"/>
              </a:rPr>
              <a:t>3</a:t>
            </a:r>
            <a:endParaRPr lang="en-US" sz="1700" dirty="0"/>
          </a:p>
        </p:txBody>
      </p:sp>
      <p:sp>
        <p:nvSpPr>
          <p:cNvPr id="21" name="Text 19"/>
          <p:cNvSpPr/>
          <p:nvPr/>
        </p:nvSpPr>
        <p:spPr>
          <a:xfrm>
            <a:off x="5074920" y="1901952"/>
            <a:ext cx="1938528" cy="594360"/>
          </a:xfrm>
          <a:prstGeom prst="rect">
            <a:avLst/>
          </a:prstGeom>
          <a:noFill/>
          <a:ln/>
        </p:spPr>
        <p:txBody>
          <a:bodyPr wrap="square" rtlCol="0" anchor="ctr"/>
          <a:lstStyle/>
          <a:p>
            <a:pPr marL="0" indent="0" algn="ctr">
              <a:buNone/>
            </a:pPr>
            <a:r>
              <a:rPr lang="en-US" sz="1450" b="1" dirty="0">
                <a:solidFill>
                  <a:srgbClr val="34D399"/>
                </a:solidFill>
                <a:latin typeface="Calibri" pitchFamily="34" charset="0"/>
                <a:ea typeface="Calibri" pitchFamily="34" charset="-122"/>
                <a:cs typeface="Calibri" pitchFamily="34" charset="-120"/>
              </a:rPr>
              <a:t>STFT</a:t>
            </a:r>
            <a:endParaRPr lang="en-US" sz="1450" dirty="0"/>
          </a:p>
          <a:p>
            <a:pPr marL="0" indent="0" algn="ctr">
              <a:buNone/>
            </a:pPr>
            <a:r>
              <a:rPr lang="en-US" sz="1450" b="1" dirty="0">
                <a:solidFill>
                  <a:srgbClr val="34D399"/>
                </a:solidFill>
                <a:latin typeface="Calibri" pitchFamily="34" charset="0"/>
                <a:ea typeface="Calibri" pitchFamily="34" charset="-122"/>
                <a:cs typeface="Calibri" pitchFamily="34" charset="-120"/>
              </a:rPr>
              <a:t>Framing</a:t>
            </a:r>
            <a:endParaRPr lang="en-US" sz="1450" dirty="0"/>
          </a:p>
        </p:txBody>
      </p:sp>
      <p:sp>
        <p:nvSpPr>
          <p:cNvPr id="22" name="Text 20"/>
          <p:cNvSpPr/>
          <p:nvPr/>
        </p:nvSpPr>
        <p:spPr>
          <a:xfrm>
            <a:off x="5074920" y="2578608"/>
            <a:ext cx="1938528" cy="1719072"/>
          </a:xfrm>
          <a:prstGeom prst="rect">
            <a:avLst/>
          </a:prstGeom>
          <a:noFill/>
          <a:ln/>
        </p:spPr>
        <p:txBody>
          <a:bodyPr wrap="square" rtlCol="0" anchor="t"/>
          <a:lstStyle/>
          <a:p>
            <a:pPr marL="0" indent="0" algn="ctr">
              <a:buNone/>
            </a:pPr>
            <a:r>
              <a:rPr lang="en-US" sz="1200" dirty="0">
                <a:solidFill>
                  <a:srgbClr val="8FBCDA"/>
                </a:solidFill>
                <a:latin typeface="Calibri" pitchFamily="34" charset="0"/>
                <a:ea typeface="Calibri" pitchFamily="34" charset="-122"/>
                <a:cs typeface="Calibri" pitchFamily="34" charset="-120"/>
              </a:rPr>
              <a:t>Hamming window 50ms</a:t>
            </a:r>
            <a:endParaRPr lang="he-IL" sz="1200" dirty="0">
              <a:solidFill>
                <a:srgbClr val="8FBCDA"/>
              </a:solidFill>
              <a:latin typeface="Calibri" pitchFamily="34" charset="0"/>
              <a:ea typeface="Calibri" pitchFamily="34" charset="-122"/>
              <a:cs typeface="Calibri" pitchFamily="34" charset="-120"/>
            </a:endParaRPr>
          </a:p>
          <a:p>
            <a:pPr algn="ctr"/>
            <a:r>
              <a:rPr lang="en-US" sz="1200" dirty="0">
                <a:solidFill>
                  <a:schemeClr val="accent1">
                    <a:lumMod val="60000"/>
                    <a:lumOff val="40000"/>
                  </a:schemeClr>
                </a:solidFill>
              </a:rPr>
              <a:t>FFT per frame (STFT)</a:t>
            </a:r>
          </a:p>
          <a:p>
            <a:pPr marL="0" indent="0" algn="ctr">
              <a:buNone/>
            </a:pPr>
            <a:r>
              <a:rPr lang="en-US" sz="1200" dirty="0">
                <a:solidFill>
                  <a:srgbClr val="8FBCDA"/>
                </a:solidFill>
                <a:latin typeface="Calibri" pitchFamily="34" charset="0"/>
                <a:ea typeface="Calibri" pitchFamily="34" charset="-122"/>
                <a:cs typeface="Calibri" pitchFamily="34" charset="-120"/>
              </a:rPr>
              <a:t>25ms hop (50% overlap)</a:t>
            </a:r>
            <a:endParaRPr lang="en-US" sz="1200" dirty="0"/>
          </a:p>
          <a:p>
            <a:pPr marL="0" indent="0" algn="ctr">
              <a:buNone/>
            </a:pPr>
            <a:r>
              <a:rPr lang="en-US" sz="1200" dirty="0">
                <a:solidFill>
                  <a:srgbClr val="8FBCDA"/>
                </a:solidFill>
                <a:latin typeface="Calibri" pitchFamily="34" charset="0"/>
                <a:ea typeface="Calibri" pitchFamily="34" charset="-122"/>
                <a:cs typeface="Calibri" pitchFamily="34" charset="-120"/>
              </a:rPr>
              <a:t>Recorded at 44.1 kHz
Freq band: 1-8 kHz only</a:t>
            </a:r>
            <a:endParaRPr lang="en-US" sz="1200" dirty="0"/>
          </a:p>
        </p:txBody>
      </p:sp>
      <p:sp>
        <p:nvSpPr>
          <p:cNvPr id="23" name="Text 21"/>
          <p:cNvSpPr/>
          <p:nvPr/>
        </p:nvSpPr>
        <p:spPr>
          <a:xfrm>
            <a:off x="7086600" y="2542032"/>
            <a:ext cx="274320" cy="384048"/>
          </a:xfrm>
          <a:prstGeom prst="rect">
            <a:avLst/>
          </a:prstGeom>
          <a:noFill/>
          <a:ln/>
        </p:spPr>
        <p:txBody>
          <a:bodyPr wrap="square" rtlCol="0" anchor="ctr"/>
          <a:lstStyle/>
          <a:p>
            <a:pPr marL="0" indent="0" algn="ctr">
              <a:buNone/>
            </a:pPr>
            <a:r>
              <a:rPr lang="en-US" sz="1800" dirty="0">
                <a:solidFill>
                  <a:srgbClr val="8FBCDA"/>
                </a:solidFill>
                <a:latin typeface="Calibri" pitchFamily="34" charset="0"/>
                <a:ea typeface="Calibri" pitchFamily="34" charset="-122"/>
                <a:cs typeface="Calibri" pitchFamily="34" charset="-120"/>
              </a:rPr>
              <a:t>→</a:t>
            </a:r>
            <a:endParaRPr lang="en-US" sz="1800" dirty="0"/>
          </a:p>
        </p:txBody>
      </p:sp>
      <p:sp>
        <p:nvSpPr>
          <p:cNvPr id="24" name="Shape 22"/>
          <p:cNvSpPr/>
          <p:nvPr/>
        </p:nvSpPr>
        <p:spPr>
          <a:xfrm>
            <a:off x="7315200" y="1170432"/>
            <a:ext cx="2121408" cy="3246120"/>
          </a:xfrm>
          <a:prstGeom prst="rect">
            <a:avLst/>
          </a:prstGeom>
          <a:solidFill>
            <a:srgbClr val="061220"/>
          </a:solidFill>
          <a:ln w="12700">
            <a:solidFill>
              <a:srgbClr val="F59E0B"/>
            </a:solidFill>
            <a:prstDash val="solid"/>
          </a:ln>
        </p:spPr>
        <p:txBody>
          <a:bodyPr/>
          <a:lstStyle/>
          <a:p>
            <a:endParaRPr/>
          </a:p>
        </p:txBody>
      </p:sp>
      <p:sp>
        <p:nvSpPr>
          <p:cNvPr id="25" name="Shape 23"/>
          <p:cNvSpPr/>
          <p:nvPr/>
        </p:nvSpPr>
        <p:spPr>
          <a:xfrm>
            <a:off x="8129016" y="1298448"/>
            <a:ext cx="475488" cy="475488"/>
          </a:xfrm>
          <a:prstGeom prst="ellipse">
            <a:avLst/>
          </a:prstGeom>
          <a:solidFill>
            <a:srgbClr val="F59E0B"/>
          </a:solidFill>
          <a:ln w="12700">
            <a:solidFill>
              <a:srgbClr val="F59E0B"/>
            </a:solidFill>
            <a:prstDash val="solid"/>
          </a:ln>
        </p:spPr>
        <p:txBody>
          <a:bodyPr/>
          <a:lstStyle/>
          <a:p>
            <a:endParaRPr/>
          </a:p>
        </p:txBody>
      </p:sp>
      <p:sp>
        <p:nvSpPr>
          <p:cNvPr id="26" name="Text 24"/>
          <p:cNvSpPr/>
          <p:nvPr/>
        </p:nvSpPr>
        <p:spPr>
          <a:xfrm>
            <a:off x="8129016" y="1298448"/>
            <a:ext cx="475488" cy="475488"/>
          </a:xfrm>
          <a:prstGeom prst="rect">
            <a:avLst/>
          </a:prstGeom>
          <a:noFill/>
          <a:ln/>
        </p:spPr>
        <p:txBody>
          <a:bodyPr wrap="square" rtlCol="0" anchor="ctr"/>
          <a:lstStyle/>
          <a:p>
            <a:pPr marL="0" indent="0" algn="ctr">
              <a:buNone/>
            </a:pPr>
            <a:r>
              <a:rPr lang="en-US" sz="1700" b="1" dirty="0">
                <a:solidFill>
                  <a:srgbClr val="020617"/>
                </a:solidFill>
                <a:latin typeface="Calibri" pitchFamily="34" charset="0"/>
                <a:ea typeface="Calibri" pitchFamily="34" charset="-122"/>
                <a:cs typeface="Calibri" pitchFamily="34" charset="-120"/>
              </a:rPr>
              <a:t>4</a:t>
            </a:r>
            <a:endParaRPr lang="en-US" sz="1700" dirty="0"/>
          </a:p>
        </p:txBody>
      </p:sp>
      <p:sp>
        <p:nvSpPr>
          <p:cNvPr id="27" name="Text 25"/>
          <p:cNvSpPr/>
          <p:nvPr/>
        </p:nvSpPr>
        <p:spPr>
          <a:xfrm>
            <a:off x="7406640" y="1901952"/>
            <a:ext cx="1938528" cy="594360"/>
          </a:xfrm>
          <a:prstGeom prst="rect">
            <a:avLst/>
          </a:prstGeom>
          <a:noFill/>
          <a:ln/>
        </p:spPr>
        <p:txBody>
          <a:bodyPr wrap="square" rtlCol="0" anchor="ctr"/>
          <a:lstStyle/>
          <a:p>
            <a:pPr marL="0" indent="0" algn="ctr">
              <a:buNone/>
            </a:pPr>
            <a:r>
              <a:rPr lang="en-US" sz="1450" b="1" dirty="0">
                <a:solidFill>
                  <a:srgbClr val="F59E0B"/>
                </a:solidFill>
                <a:latin typeface="Calibri" pitchFamily="34" charset="0"/>
                <a:ea typeface="Calibri" pitchFamily="34" charset="-122"/>
                <a:cs typeface="Calibri" pitchFamily="34" charset="-120"/>
              </a:rPr>
              <a:t>Feature</a:t>
            </a:r>
            <a:endParaRPr lang="en-US" sz="1450" dirty="0"/>
          </a:p>
          <a:p>
            <a:pPr marL="0" indent="0" algn="ctr">
              <a:buNone/>
            </a:pPr>
            <a:r>
              <a:rPr lang="en-US" sz="1450" b="1" dirty="0">
                <a:solidFill>
                  <a:srgbClr val="F59E0B"/>
                </a:solidFill>
                <a:latin typeface="Calibri" pitchFamily="34" charset="0"/>
                <a:ea typeface="Calibri" pitchFamily="34" charset="-122"/>
                <a:cs typeface="Calibri" pitchFamily="34" charset="-120"/>
              </a:rPr>
              <a:t>Extraction</a:t>
            </a:r>
            <a:endParaRPr lang="en-US" sz="1450" dirty="0"/>
          </a:p>
        </p:txBody>
      </p:sp>
      <p:sp>
        <p:nvSpPr>
          <p:cNvPr id="28" name="Text 26"/>
          <p:cNvSpPr/>
          <p:nvPr/>
        </p:nvSpPr>
        <p:spPr>
          <a:xfrm>
            <a:off x="7406640" y="2578608"/>
            <a:ext cx="1938528" cy="1719072"/>
          </a:xfrm>
          <a:prstGeom prst="rect">
            <a:avLst/>
          </a:prstGeom>
          <a:noFill/>
          <a:ln/>
        </p:spPr>
        <p:txBody>
          <a:bodyPr wrap="square" rtlCol="0" anchor="t"/>
          <a:lstStyle/>
          <a:p>
            <a:pPr marL="0" indent="0" algn="ctr">
              <a:buNone/>
            </a:pPr>
            <a:r>
              <a:rPr lang="en-US" sz="1200" dirty="0">
                <a:solidFill>
                  <a:srgbClr val="8FBCDA"/>
                </a:solidFill>
                <a:latin typeface="Calibri" pitchFamily="34" charset="0"/>
                <a:ea typeface="Calibri" pitchFamily="34" charset="-122"/>
                <a:cs typeface="Calibri" pitchFamily="34" charset="-120"/>
              </a:rPr>
              <a:t>56 features/frame</a:t>
            </a:r>
            <a:endParaRPr lang="en-US" sz="1200" dirty="0"/>
          </a:p>
          <a:p>
            <a:pPr marL="0" indent="0" algn="ctr">
              <a:buNone/>
            </a:pPr>
            <a:r>
              <a:rPr lang="en-US" sz="1200" dirty="0">
                <a:solidFill>
                  <a:srgbClr val="8FBCDA"/>
                </a:solidFill>
                <a:latin typeface="Calibri" pitchFamily="34" charset="0"/>
                <a:ea typeface="Calibri" pitchFamily="34" charset="-122"/>
                <a:cs typeface="Calibri" pitchFamily="34" charset="-120"/>
              </a:rPr>
              <a:t>MFCC + deltas</a:t>
            </a:r>
            <a:endParaRPr lang="en-US" sz="1200" dirty="0"/>
          </a:p>
          <a:p>
            <a:pPr marL="0" indent="0" algn="ctr">
              <a:buNone/>
            </a:pPr>
            <a:r>
              <a:rPr lang="en-US" sz="1200" dirty="0">
                <a:solidFill>
                  <a:srgbClr val="8FBCDA"/>
                </a:solidFill>
                <a:latin typeface="Calibri" pitchFamily="34" charset="0"/>
                <a:ea typeface="Calibri" pitchFamily="34" charset="-122"/>
                <a:cs typeface="Calibri" pitchFamily="34" charset="-120"/>
              </a:rPr>
              <a:t>Centroid, RMS, ZCR</a:t>
            </a:r>
            <a:endParaRPr lang="en-US" sz="1200" dirty="0"/>
          </a:p>
          <a:p>
            <a:pPr marL="0" indent="0" algn="ctr">
              <a:buNone/>
            </a:pPr>
            <a:r>
              <a:rPr lang="en-US" sz="1200" dirty="0">
                <a:solidFill>
                  <a:srgbClr val="8FBCDA"/>
                </a:solidFill>
                <a:latin typeface="Calibri" pitchFamily="34" charset="0"/>
                <a:ea typeface="Calibri" pitchFamily="34" charset="-122"/>
                <a:cs typeface="Calibri" pitchFamily="34" charset="-120"/>
              </a:rPr>
              <a:t>Contrast, Skew, Kurt</a:t>
            </a:r>
            <a:endParaRPr lang="en-US" sz="1200" dirty="0"/>
          </a:p>
        </p:txBody>
      </p:sp>
      <p:sp>
        <p:nvSpPr>
          <p:cNvPr id="29" name="Text 27"/>
          <p:cNvSpPr/>
          <p:nvPr/>
        </p:nvSpPr>
        <p:spPr>
          <a:xfrm>
            <a:off x="9418320" y="2542032"/>
            <a:ext cx="274320" cy="384048"/>
          </a:xfrm>
          <a:prstGeom prst="rect">
            <a:avLst/>
          </a:prstGeom>
          <a:noFill/>
          <a:ln/>
        </p:spPr>
        <p:txBody>
          <a:bodyPr wrap="square" rtlCol="0" anchor="ctr"/>
          <a:lstStyle/>
          <a:p>
            <a:pPr marL="0" indent="0" algn="ctr">
              <a:buNone/>
            </a:pPr>
            <a:r>
              <a:rPr lang="en-US" sz="1800" dirty="0">
                <a:solidFill>
                  <a:srgbClr val="8FBCDA"/>
                </a:solidFill>
                <a:latin typeface="Calibri" pitchFamily="34" charset="0"/>
                <a:ea typeface="Calibri" pitchFamily="34" charset="-122"/>
                <a:cs typeface="Calibri" pitchFamily="34" charset="-120"/>
              </a:rPr>
              <a:t>→</a:t>
            </a:r>
            <a:endParaRPr lang="en-US" sz="1800" dirty="0"/>
          </a:p>
        </p:txBody>
      </p:sp>
      <p:sp>
        <p:nvSpPr>
          <p:cNvPr id="30" name="Shape 28"/>
          <p:cNvSpPr/>
          <p:nvPr/>
        </p:nvSpPr>
        <p:spPr>
          <a:xfrm>
            <a:off x="9646920" y="1170432"/>
            <a:ext cx="2121408" cy="3246120"/>
          </a:xfrm>
          <a:prstGeom prst="rect">
            <a:avLst/>
          </a:prstGeom>
          <a:solidFill>
            <a:srgbClr val="061220"/>
          </a:solidFill>
          <a:ln w="12700">
            <a:solidFill>
              <a:srgbClr val="F87171"/>
            </a:solidFill>
            <a:prstDash val="solid"/>
          </a:ln>
        </p:spPr>
        <p:txBody>
          <a:bodyPr/>
          <a:lstStyle/>
          <a:p>
            <a:endParaRPr/>
          </a:p>
        </p:txBody>
      </p:sp>
      <p:sp>
        <p:nvSpPr>
          <p:cNvPr id="31" name="Shape 29"/>
          <p:cNvSpPr/>
          <p:nvPr/>
        </p:nvSpPr>
        <p:spPr>
          <a:xfrm>
            <a:off x="10460736" y="1298448"/>
            <a:ext cx="475488" cy="475488"/>
          </a:xfrm>
          <a:prstGeom prst="ellipse">
            <a:avLst/>
          </a:prstGeom>
          <a:solidFill>
            <a:srgbClr val="F87171"/>
          </a:solidFill>
          <a:ln w="12700">
            <a:solidFill>
              <a:srgbClr val="F87171"/>
            </a:solidFill>
            <a:prstDash val="solid"/>
          </a:ln>
        </p:spPr>
        <p:txBody>
          <a:bodyPr/>
          <a:lstStyle/>
          <a:p>
            <a:endParaRPr/>
          </a:p>
        </p:txBody>
      </p:sp>
      <p:sp>
        <p:nvSpPr>
          <p:cNvPr id="32" name="Text 30"/>
          <p:cNvSpPr/>
          <p:nvPr/>
        </p:nvSpPr>
        <p:spPr>
          <a:xfrm>
            <a:off x="10460736" y="1298448"/>
            <a:ext cx="475488" cy="475488"/>
          </a:xfrm>
          <a:prstGeom prst="rect">
            <a:avLst/>
          </a:prstGeom>
          <a:noFill/>
          <a:ln/>
        </p:spPr>
        <p:txBody>
          <a:bodyPr wrap="square" rtlCol="0" anchor="ctr"/>
          <a:lstStyle/>
          <a:p>
            <a:pPr marL="0" indent="0" algn="ctr">
              <a:buNone/>
            </a:pPr>
            <a:r>
              <a:rPr lang="en-US" sz="1700" b="1" dirty="0">
                <a:solidFill>
                  <a:srgbClr val="020617"/>
                </a:solidFill>
                <a:latin typeface="Calibri" pitchFamily="34" charset="0"/>
                <a:ea typeface="Calibri" pitchFamily="34" charset="-122"/>
                <a:cs typeface="Calibri" pitchFamily="34" charset="-120"/>
              </a:rPr>
              <a:t>5</a:t>
            </a:r>
            <a:endParaRPr lang="en-US" sz="1700" dirty="0"/>
          </a:p>
        </p:txBody>
      </p:sp>
      <p:sp>
        <p:nvSpPr>
          <p:cNvPr id="33" name="Text 31"/>
          <p:cNvSpPr/>
          <p:nvPr/>
        </p:nvSpPr>
        <p:spPr>
          <a:xfrm>
            <a:off x="9738360" y="1901952"/>
            <a:ext cx="1938528" cy="594360"/>
          </a:xfrm>
          <a:prstGeom prst="rect">
            <a:avLst/>
          </a:prstGeom>
          <a:noFill/>
          <a:ln/>
        </p:spPr>
        <p:txBody>
          <a:bodyPr wrap="square" rtlCol="0" anchor="ctr"/>
          <a:lstStyle/>
          <a:p>
            <a:pPr marL="0" indent="0" algn="ctr">
              <a:buNone/>
            </a:pPr>
            <a:r>
              <a:rPr lang="en-US" sz="1450" b="1" dirty="0">
                <a:solidFill>
                  <a:srgbClr val="F87171"/>
                </a:solidFill>
                <a:latin typeface="Calibri" pitchFamily="34" charset="0"/>
                <a:ea typeface="Calibri" pitchFamily="34" charset="-122"/>
                <a:cs typeface="Calibri" pitchFamily="34" charset="-120"/>
              </a:rPr>
              <a:t>Classify</a:t>
            </a:r>
            <a:endParaRPr lang="en-US" sz="1450" dirty="0"/>
          </a:p>
          <a:p>
            <a:pPr marL="0" indent="0" algn="ctr">
              <a:buNone/>
            </a:pPr>
            <a:r>
              <a:rPr lang="en-US" sz="1450" b="1" dirty="0">
                <a:solidFill>
                  <a:srgbClr val="F87171"/>
                </a:solidFill>
                <a:latin typeface="Calibri" pitchFamily="34" charset="0"/>
                <a:ea typeface="Calibri" pitchFamily="34" charset="-122"/>
                <a:cs typeface="Calibri" pitchFamily="34" charset="-120"/>
              </a:rPr>
              <a:t>&amp; Stop</a:t>
            </a:r>
            <a:endParaRPr lang="en-US" sz="1450" dirty="0"/>
          </a:p>
        </p:txBody>
      </p:sp>
      <p:sp>
        <p:nvSpPr>
          <p:cNvPr id="34" name="Text 32"/>
          <p:cNvSpPr/>
          <p:nvPr/>
        </p:nvSpPr>
        <p:spPr>
          <a:xfrm>
            <a:off x="9738360" y="2578608"/>
            <a:ext cx="1938528" cy="1719072"/>
          </a:xfrm>
          <a:prstGeom prst="rect">
            <a:avLst/>
          </a:prstGeom>
          <a:noFill/>
          <a:ln/>
        </p:spPr>
        <p:txBody>
          <a:bodyPr wrap="square" rtlCol="0" anchor="t"/>
          <a:lstStyle/>
          <a:p>
            <a:pPr marL="0" indent="0" algn="ctr">
              <a:buNone/>
            </a:pPr>
            <a:r>
              <a:rPr lang="en-US" sz="1200" dirty="0">
                <a:solidFill>
                  <a:srgbClr val="8FBCDA"/>
                </a:solidFill>
                <a:latin typeface="Calibri" pitchFamily="34" charset="0"/>
                <a:ea typeface="Calibri" pitchFamily="34" charset="-122"/>
                <a:cs typeface="Calibri" pitchFamily="34" charset="-120"/>
              </a:rPr>
              <a:t>LightGBM per frame</a:t>
            </a:r>
            <a:endParaRPr lang="en-US" sz="1200" dirty="0"/>
          </a:p>
          <a:p>
            <a:pPr marL="0" indent="0" algn="ctr">
              <a:buNone/>
            </a:pPr>
            <a:r>
              <a:rPr lang="en-US" sz="1200" dirty="0">
                <a:solidFill>
                  <a:srgbClr val="8FBCDA"/>
                </a:solidFill>
                <a:latin typeface="Calibri" pitchFamily="34" charset="0"/>
                <a:ea typeface="Calibri" pitchFamily="34" charset="-122"/>
                <a:cs typeface="Calibri" pitchFamily="34" charset="-120"/>
              </a:rPr>
              <a:t>Rolling avg (10 frames)</a:t>
            </a:r>
            <a:endParaRPr lang="en-US" sz="1200" dirty="0"/>
          </a:p>
          <a:p>
            <a:pPr marL="0" indent="0" algn="ctr">
              <a:buNone/>
            </a:pPr>
            <a:r>
              <a:rPr lang="en-US" sz="1200" dirty="0">
                <a:solidFill>
                  <a:srgbClr val="8FBCDA"/>
                </a:solidFill>
                <a:latin typeface="Calibri" pitchFamily="34" charset="0"/>
                <a:ea typeface="Calibri" pitchFamily="34" charset="-122"/>
                <a:cs typeface="Calibri" pitchFamily="34" charset="-120"/>
              </a:rPr>
              <a:t>Stop when avg ≥ 0.35</a:t>
            </a:r>
            <a:endParaRPr lang="en-US" sz="1200" dirty="0"/>
          </a:p>
        </p:txBody>
      </p:sp>
      <p:sp>
        <p:nvSpPr>
          <p:cNvPr id="35" name="Shape 33"/>
          <p:cNvSpPr/>
          <p:nvPr/>
        </p:nvSpPr>
        <p:spPr>
          <a:xfrm>
            <a:off x="320040" y="4572000"/>
            <a:ext cx="5715000" cy="2029968"/>
          </a:xfrm>
          <a:prstGeom prst="rect">
            <a:avLst/>
          </a:prstGeom>
          <a:solidFill>
            <a:srgbClr val="030C1F"/>
          </a:solidFill>
          <a:ln w="12700">
            <a:solidFill>
              <a:srgbClr val="1E3A5F"/>
            </a:solidFill>
            <a:prstDash val="solid"/>
          </a:ln>
        </p:spPr>
        <p:txBody>
          <a:bodyPr/>
          <a:lstStyle/>
          <a:p>
            <a:endParaRPr/>
          </a:p>
        </p:txBody>
      </p:sp>
      <p:sp>
        <p:nvSpPr>
          <p:cNvPr id="36" name="Text 34"/>
          <p:cNvSpPr/>
          <p:nvPr/>
        </p:nvSpPr>
        <p:spPr>
          <a:xfrm>
            <a:off x="457200" y="4645152"/>
            <a:ext cx="5440680" cy="320040"/>
          </a:xfrm>
          <a:prstGeom prst="rect">
            <a:avLst/>
          </a:prstGeom>
          <a:noFill/>
          <a:ln/>
        </p:spPr>
        <p:txBody>
          <a:bodyPr wrap="square" rtlCol="0" anchor="ctr"/>
          <a:lstStyle/>
          <a:p>
            <a:pPr marL="0" indent="0">
              <a:buNone/>
            </a:pPr>
            <a:r>
              <a:rPr lang="en-US" sz="1500" b="1" dirty="0">
                <a:solidFill>
                  <a:srgbClr val="38BDF8"/>
                </a:solidFill>
                <a:latin typeface="Calibri" pitchFamily="34" charset="0"/>
                <a:ea typeface="Calibri" pitchFamily="34" charset="-122"/>
                <a:cs typeface="Calibri" pitchFamily="34" charset="-120"/>
              </a:rPr>
              <a:t>Why 50ms frames?</a:t>
            </a:r>
            <a:endParaRPr lang="en-US" sz="1500" dirty="0"/>
          </a:p>
        </p:txBody>
      </p:sp>
      <p:sp>
        <p:nvSpPr>
          <p:cNvPr id="37" name="Text 35"/>
          <p:cNvSpPr/>
          <p:nvPr/>
        </p:nvSpPr>
        <p:spPr>
          <a:xfrm>
            <a:off x="457200" y="5010912"/>
            <a:ext cx="5440680" cy="1481328"/>
          </a:xfrm>
          <a:prstGeom prst="rect">
            <a:avLst/>
          </a:prstGeom>
          <a:noFill/>
          <a:ln/>
        </p:spPr>
        <p:txBody>
          <a:bodyPr wrap="square" rtlCol="0" anchor="ctr"/>
          <a:lstStyle/>
          <a:p>
            <a:pPr marL="0" indent="0">
              <a:buNone/>
            </a:pPr>
            <a:r>
              <a:rPr lang="en-US" sz="1300" dirty="0">
                <a:solidFill>
                  <a:srgbClr val="8FBCDA"/>
                </a:solidFill>
                <a:latin typeface="Calibri" pitchFamily="34" charset="0"/>
                <a:ea typeface="Calibri" pitchFamily="34" charset="-122"/>
                <a:cs typeface="Calibri" pitchFamily="34" charset="-120"/>
              </a:rPr>
              <a:t>50ms gives ~20 frames/second — high enough resolution to track the spectral shift as liquid rises, while fast enough for real-time control. The 25ms hop (50% overlap) ensures smooth feature transitions. At threshold crossing the system reacts in 100–250ms, well before overflow.</a:t>
            </a:r>
            <a:endParaRPr lang="en-US" sz="1300" dirty="0"/>
          </a:p>
        </p:txBody>
      </p:sp>
      <p:sp>
        <p:nvSpPr>
          <p:cNvPr id="38" name="Shape 36"/>
          <p:cNvSpPr/>
          <p:nvPr/>
        </p:nvSpPr>
        <p:spPr>
          <a:xfrm>
            <a:off x="6172200" y="4572000"/>
            <a:ext cx="5687568" cy="2029968"/>
          </a:xfrm>
          <a:prstGeom prst="rect">
            <a:avLst/>
          </a:prstGeom>
          <a:solidFill>
            <a:srgbClr val="030C1F"/>
          </a:solidFill>
          <a:ln w="12700">
            <a:solidFill>
              <a:srgbClr val="1E3A5F"/>
            </a:solidFill>
            <a:prstDash val="solid"/>
          </a:ln>
        </p:spPr>
        <p:txBody>
          <a:bodyPr/>
          <a:lstStyle/>
          <a:p>
            <a:endParaRPr/>
          </a:p>
        </p:txBody>
      </p:sp>
      <p:sp>
        <p:nvSpPr>
          <p:cNvPr id="39" name="Text 37"/>
          <p:cNvSpPr/>
          <p:nvPr/>
        </p:nvSpPr>
        <p:spPr>
          <a:xfrm>
            <a:off x="6309360" y="4645152"/>
            <a:ext cx="5413248" cy="320040"/>
          </a:xfrm>
          <a:prstGeom prst="rect">
            <a:avLst/>
          </a:prstGeom>
          <a:noFill/>
          <a:ln/>
        </p:spPr>
        <p:txBody>
          <a:bodyPr wrap="square" rtlCol="0" anchor="ctr"/>
          <a:lstStyle/>
          <a:p>
            <a:pPr marL="0" indent="0">
              <a:buNone/>
            </a:pPr>
            <a:r>
              <a:rPr lang="en-US" sz="1500" b="1" dirty="0">
                <a:solidFill>
                  <a:srgbClr val="38BDF8"/>
                </a:solidFill>
                <a:latin typeface="Calibri" pitchFamily="34" charset="0"/>
                <a:ea typeface="Calibri" pitchFamily="34" charset="-122"/>
                <a:cs typeface="Calibri" pitchFamily="34" charset="-120"/>
              </a:rPr>
              <a:t>Why limit to 1–8 kHz?</a:t>
            </a:r>
            <a:endParaRPr lang="en-US" sz="1500" dirty="0"/>
          </a:p>
        </p:txBody>
      </p:sp>
      <p:sp>
        <p:nvSpPr>
          <p:cNvPr id="40" name="Text 38"/>
          <p:cNvSpPr/>
          <p:nvPr/>
        </p:nvSpPr>
        <p:spPr>
          <a:xfrm>
            <a:off x="6309360" y="5010912"/>
            <a:ext cx="5413248" cy="1481328"/>
          </a:xfrm>
          <a:prstGeom prst="rect">
            <a:avLst/>
          </a:prstGeom>
          <a:noFill/>
          <a:ln/>
        </p:spPr>
        <p:txBody>
          <a:bodyPr wrap="square" rtlCol="0" anchor="ctr"/>
          <a:lstStyle/>
          <a:p>
            <a:pPr marL="0" indent="0">
              <a:buNone/>
            </a:pPr>
            <a:r>
              <a:rPr lang="en-US" sz="1300" dirty="0">
                <a:solidFill>
                  <a:srgbClr val="8FBCDA"/>
                </a:solidFill>
                <a:latin typeface="Calibri" pitchFamily="34" charset="0"/>
                <a:ea typeface="Calibri" pitchFamily="34" charset="-122"/>
                <a:cs typeface="Calibri" pitchFamily="34" charset="-120"/>
              </a:rPr>
              <a:t>Audio is recorded at 44.1 kHz, giving full frequency coverage up to 22 kHz. Pour-splash turbulence and liquid interaction noise concentrate in the 1-8 kHz band. Frequencies below 1 kHz are dominated by ambient noise (HVAC, mains hum). Above 8 kHz there is no useful acoustic signal from the cup. Limiting the STFT to this band reduces noise variance and makes every feature more informative.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20617"/>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38BDF8"/>
          </a:solidFill>
          <a:ln w="12700">
            <a:solidFill>
              <a:srgbClr val="38BDF8"/>
            </a:solidFill>
            <a:prstDash val="solid"/>
          </a:ln>
        </p:spPr>
      </p:sp>
      <p:sp>
        <p:nvSpPr>
          <p:cNvPr id="3" name="Text 1"/>
          <p:cNvSpPr/>
          <p:nvPr/>
        </p:nvSpPr>
        <p:spPr>
          <a:xfrm>
            <a:off x="457200" y="91440"/>
            <a:ext cx="11274552" cy="658368"/>
          </a:xfrm>
          <a:prstGeom prst="rect">
            <a:avLst/>
          </a:prstGeom>
          <a:noFill/>
          <a:ln/>
        </p:spPr>
        <p:txBody>
          <a:bodyPr wrap="square" rtlCol="0" anchor="ctr"/>
          <a:lstStyle/>
          <a:p>
            <a:pPr marL="0" indent="0" algn="r">
              <a:buNone/>
            </a:pPr>
            <a:r>
              <a:rPr lang="en-US" sz="2600" b="1" dirty="0">
                <a:solidFill>
                  <a:srgbClr val="38BDF8"/>
                </a:solidFill>
                <a:latin typeface="Calibri" pitchFamily="34" charset="0"/>
                <a:ea typeface="Calibri" pitchFamily="34" charset="-122"/>
                <a:cs typeface="Calibri" pitchFamily="34" charset="-120"/>
              </a:rPr>
              <a:t>Feature Engineering — 56 Acoustic Features</a:t>
            </a:r>
            <a:endParaRPr lang="en-US" sz="2600" dirty="0"/>
          </a:p>
        </p:txBody>
      </p:sp>
      <p:sp>
        <p:nvSpPr>
          <p:cNvPr id="4" name="Text 2"/>
          <p:cNvSpPr/>
          <p:nvPr/>
        </p:nvSpPr>
        <p:spPr>
          <a:xfrm>
            <a:off x="457200" y="749808"/>
            <a:ext cx="11274552" cy="292608"/>
          </a:xfrm>
          <a:prstGeom prst="rect">
            <a:avLst/>
          </a:prstGeom>
          <a:noFill/>
          <a:ln/>
        </p:spPr>
        <p:txBody>
          <a:bodyPr wrap="square" rtlCol="0" anchor="ctr"/>
          <a:lstStyle/>
          <a:p>
            <a:pPr marL="0" indent="0" algn="r">
              <a:buNone/>
            </a:pPr>
            <a:r>
              <a:rPr lang="en-US" sz="1450" dirty="0">
                <a:solidFill>
                  <a:srgbClr val="8FBCDA"/>
                </a:solidFill>
                <a:latin typeface="Calibri" pitchFamily="34" charset="0"/>
                <a:ea typeface="Calibri" pitchFamily="34" charset="-122"/>
                <a:cs typeface="Calibri" pitchFamily="34" charset="-120"/>
              </a:rPr>
              <a:t>Extracted per 50ms frame via STFT</a:t>
            </a:r>
            <a:endParaRPr lang="en-US" sz="1450" dirty="0"/>
          </a:p>
        </p:txBody>
      </p:sp>
      <p:sp>
        <p:nvSpPr>
          <p:cNvPr id="5" name="Text 3"/>
          <p:cNvSpPr/>
          <p:nvPr/>
        </p:nvSpPr>
        <p:spPr>
          <a:xfrm>
            <a:off x="365760" y="6601968"/>
            <a:ext cx="11457432" cy="201168"/>
          </a:xfrm>
          <a:prstGeom prst="rect">
            <a:avLst/>
          </a:prstGeom>
          <a:noFill/>
          <a:ln/>
        </p:spPr>
        <p:txBody>
          <a:bodyPr wrap="square" rtlCol="0" anchor="ctr"/>
          <a:lstStyle/>
          <a:p>
            <a:pPr marL="0" indent="0" algn="r">
              <a:buNone/>
            </a:pPr>
            <a:r>
              <a:rPr lang="en-US" sz="1050" dirty="0">
                <a:solidFill>
                  <a:srgbClr val="1A3A5F"/>
                </a:solidFill>
                <a:latin typeface="Calibri" pitchFamily="34" charset="0"/>
                <a:ea typeface="Calibri" pitchFamily="34" charset="-122"/>
                <a:cs typeface="Calibri" pitchFamily="34" charset="-120"/>
              </a:rPr>
              <a:t>Feature Engineering</a:t>
            </a:r>
            <a:endParaRPr lang="en-US" sz="1050" dirty="0"/>
          </a:p>
        </p:txBody>
      </p:sp>
      <p:sp>
        <p:nvSpPr>
          <p:cNvPr id="6" name="Shape 4"/>
          <p:cNvSpPr/>
          <p:nvPr/>
        </p:nvSpPr>
        <p:spPr>
          <a:xfrm>
            <a:off x="365760" y="1115568"/>
            <a:ext cx="3611880" cy="5468112"/>
          </a:xfrm>
          <a:prstGeom prst="rect">
            <a:avLst/>
          </a:prstGeom>
          <a:solidFill>
            <a:srgbClr val="0A1628"/>
          </a:solidFill>
          <a:ln w="12700">
            <a:solidFill>
              <a:srgbClr val="1E3A5F"/>
            </a:solidFill>
            <a:prstDash val="solid"/>
          </a:ln>
        </p:spPr>
      </p:sp>
      <p:sp>
        <p:nvSpPr>
          <p:cNvPr id="7" name="Shape 5"/>
          <p:cNvSpPr/>
          <p:nvPr/>
        </p:nvSpPr>
        <p:spPr>
          <a:xfrm>
            <a:off x="365760" y="1115568"/>
            <a:ext cx="3611880" cy="36576"/>
          </a:xfrm>
          <a:prstGeom prst="rect">
            <a:avLst/>
          </a:prstGeom>
          <a:solidFill>
            <a:srgbClr val="4A9EFF"/>
          </a:solidFill>
          <a:ln w="12700">
            <a:solidFill>
              <a:srgbClr val="4A9EFF"/>
            </a:solidFill>
            <a:prstDash val="solid"/>
          </a:ln>
        </p:spPr>
      </p:sp>
      <p:sp>
        <p:nvSpPr>
          <p:cNvPr id="8" name="Text 6"/>
          <p:cNvSpPr/>
          <p:nvPr/>
        </p:nvSpPr>
        <p:spPr>
          <a:xfrm>
            <a:off x="457200" y="1188720"/>
            <a:ext cx="3429000" cy="402336"/>
          </a:xfrm>
          <a:prstGeom prst="rect">
            <a:avLst/>
          </a:prstGeom>
          <a:noFill/>
          <a:ln/>
        </p:spPr>
        <p:txBody>
          <a:bodyPr wrap="square" rtlCol="0" anchor="ctr"/>
          <a:lstStyle/>
          <a:p>
            <a:pPr marL="0" indent="0">
              <a:buNone/>
            </a:pPr>
            <a:r>
              <a:rPr lang="en-US" sz="1350" b="1" dirty="0">
                <a:solidFill>
                  <a:srgbClr val="4A9EFF"/>
                </a:solidFill>
                <a:latin typeface="Calibri" pitchFamily="34" charset="0"/>
                <a:ea typeface="Calibri" pitchFamily="34" charset="-122"/>
                <a:cs typeface="Calibri" pitchFamily="34" charset="-120"/>
              </a:rPr>
              <a:t>MFCC  (1–13)</a:t>
            </a:r>
            <a:endParaRPr lang="en-US" sz="1350" dirty="0"/>
          </a:p>
        </p:txBody>
      </p:sp>
      <p:sp>
        <p:nvSpPr>
          <p:cNvPr id="9" name="Text 7"/>
          <p:cNvSpPr/>
          <p:nvPr/>
        </p:nvSpPr>
        <p:spPr>
          <a:xfrm>
            <a:off x="457200" y="1664208"/>
            <a:ext cx="3429000" cy="4370832"/>
          </a:xfrm>
          <a:prstGeom prst="rect">
            <a:avLst/>
          </a:prstGeom>
          <a:noFill/>
          <a:ln/>
        </p:spPr>
        <p:txBody>
          <a:bodyPr wrap="square" rtlCol="0" anchor="t"/>
          <a:lstStyle/>
          <a:p>
            <a:pPr marL="0" indent="0">
              <a:buNone/>
            </a:pPr>
            <a:r>
              <a:rPr lang="en-US" sz="1300" dirty="0">
                <a:solidFill>
                  <a:srgbClr val="8FBCDA"/>
                </a:solidFill>
                <a:latin typeface="Calibri" pitchFamily="34" charset="0"/>
                <a:ea typeface="Calibri" pitchFamily="34" charset="-122"/>
                <a:cs typeface="Calibri" pitchFamily="34" charset="-120"/>
              </a:rPr>
              <a:t>Mel-Frequency Cepstral Coefficients — compact representation of the spectral envelope that mimics human auditory perception.</a:t>
            </a:r>
            <a:endParaRPr lang="en-US" sz="1300" dirty="0"/>
          </a:p>
          <a:p>
            <a:pPr marL="0" indent="0">
              <a:buNone/>
            </a:pPr>
            <a:endParaRPr lang="en-US" sz="1300" dirty="0"/>
          </a:p>
          <a:p>
            <a:pPr marL="0" indent="0">
              <a:buNone/>
            </a:pPr>
            <a:r>
              <a:rPr lang="en-US" sz="1300" dirty="0">
                <a:solidFill>
                  <a:srgbClr val="8FBCDA"/>
                </a:solidFill>
                <a:latin typeface="Calibri" pitchFamily="34" charset="0"/>
                <a:ea typeface="Calibri" pitchFamily="34" charset="-122"/>
                <a:cs typeface="Calibri" pitchFamily="34" charset="-120"/>
              </a:rPr>
              <a:t>Extracted in three versions:</a:t>
            </a:r>
            <a:endParaRPr lang="en-US" sz="1300" dirty="0"/>
          </a:p>
          <a:p>
            <a:pPr marL="0" indent="0">
              <a:buNone/>
            </a:pPr>
            <a:r>
              <a:rPr lang="en-US" sz="1300" dirty="0">
                <a:solidFill>
                  <a:srgbClr val="8FBCDA"/>
                </a:solidFill>
                <a:latin typeface="Calibri" pitchFamily="34" charset="0"/>
                <a:ea typeface="Calibri" pitchFamily="34" charset="-122"/>
                <a:cs typeface="Calibri" pitchFamily="34" charset="-120"/>
              </a:rPr>
              <a:t>· Raw MFCC (13 values)</a:t>
            </a:r>
            <a:endParaRPr lang="en-US" sz="1300" dirty="0"/>
          </a:p>
          <a:p>
            <a:pPr marL="0" indent="0">
              <a:buNone/>
            </a:pPr>
            <a:r>
              <a:rPr lang="en-US" sz="1300" dirty="0">
                <a:solidFill>
                  <a:srgbClr val="8FBCDA"/>
                </a:solidFill>
                <a:latin typeface="Calibri" pitchFamily="34" charset="0"/>
                <a:ea typeface="Calibri" pitchFamily="34" charset="-122"/>
                <a:cs typeface="Calibri" pitchFamily="34" charset="-120"/>
              </a:rPr>
              <a:t>· Delta MFCC — first derivative (rate of change)</a:t>
            </a:r>
            <a:endParaRPr lang="en-US" sz="1300" dirty="0"/>
          </a:p>
          <a:p>
            <a:pPr marL="0" indent="0">
              <a:buNone/>
            </a:pPr>
            <a:r>
              <a:rPr lang="en-US" sz="1300" dirty="0">
                <a:solidFill>
                  <a:srgbClr val="8FBCDA"/>
                </a:solidFill>
                <a:latin typeface="Calibri" pitchFamily="34" charset="0"/>
                <a:ea typeface="Calibri" pitchFamily="34" charset="-122"/>
                <a:cs typeface="Calibri" pitchFamily="34" charset="-120"/>
              </a:rPr>
              <a:t>· Delta-Delta MFCC — second derivative (acceleration)</a:t>
            </a:r>
            <a:endParaRPr lang="en-US" sz="1300" dirty="0"/>
          </a:p>
          <a:p>
            <a:pPr marL="0" indent="0">
              <a:buNone/>
            </a:pPr>
            <a:endParaRPr lang="en-US" sz="1300" dirty="0"/>
          </a:p>
          <a:p>
            <a:pPr marL="0" indent="0">
              <a:buNone/>
            </a:pPr>
            <a:r>
              <a:rPr lang="en-US" sz="1300" dirty="0">
                <a:solidFill>
                  <a:srgbClr val="8FBCDA"/>
                </a:solidFill>
                <a:latin typeface="Calibri" pitchFamily="34" charset="0"/>
                <a:ea typeface="Calibri" pitchFamily="34" charset="-122"/>
                <a:cs typeface="Calibri" pitchFamily="34" charset="-120"/>
              </a:rPr>
              <a:t>13 × 3 = 39 features</a:t>
            </a:r>
            <a:endParaRPr lang="en-US" sz="1300" dirty="0"/>
          </a:p>
        </p:txBody>
      </p:sp>
      <p:sp>
        <p:nvSpPr>
          <p:cNvPr id="10" name="Shape 8"/>
          <p:cNvSpPr/>
          <p:nvPr/>
        </p:nvSpPr>
        <p:spPr>
          <a:xfrm>
            <a:off x="457200" y="6126480"/>
            <a:ext cx="3429000" cy="320040"/>
          </a:xfrm>
          <a:prstGeom prst="rect">
            <a:avLst/>
          </a:prstGeom>
          <a:solidFill>
            <a:srgbClr val="0A1F3A"/>
          </a:solidFill>
          <a:ln w="12700">
            <a:solidFill>
              <a:srgbClr val="4A9EFF"/>
            </a:solidFill>
            <a:prstDash val="solid"/>
          </a:ln>
        </p:spPr>
      </p:sp>
      <p:sp>
        <p:nvSpPr>
          <p:cNvPr id="11" name="Text 9"/>
          <p:cNvSpPr/>
          <p:nvPr/>
        </p:nvSpPr>
        <p:spPr>
          <a:xfrm>
            <a:off x="457200" y="6126480"/>
            <a:ext cx="3429000" cy="320040"/>
          </a:xfrm>
          <a:prstGeom prst="rect">
            <a:avLst/>
          </a:prstGeom>
          <a:noFill/>
          <a:ln/>
        </p:spPr>
        <p:txBody>
          <a:bodyPr wrap="square" rtlCol="0" anchor="ctr"/>
          <a:lstStyle/>
          <a:p>
            <a:pPr marL="0" indent="0" algn="ctr">
              <a:buNone/>
            </a:pPr>
            <a:r>
              <a:rPr lang="en-US" sz="1250" b="1" dirty="0">
                <a:solidFill>
                  <a:srgbClr val="4A9EFF"/>
                </a:solidFill>
                <a:latin typeface="Calibri" pitchFamily="34" charset="0"/>
                <a:ea typeface="Calibri" pitchFamily="34" charset="-122"/>
                <a:cs typeface="Calibri" pitchFamily="34" charset="-120"/>
              </a:rPr>
              <a:t>39 features</a:t>
            </a:r>
            <a:endParaRPr lang="en-US" sz="1250" dirty="0"/>
          </a:p>
        </p:txBody>
      </p:sp>
      <p:sp>
        <p:nvSpPr>
          <p:cNvPr id="12" name="Shape 10"/>
          <p:cNvSpPr/>
          <p:nvPr/>
        </p:nvSpPr>
        <p:spPr>
          <a:xfrm>
            <a:off x="4114800" y="1115568"/>
            <a:ext cx="3611880" cy="5468112"/>
          </a:xfrm>
          <a:prstGeom prst="rect">
            <a:avLst/>
          </a:prstGeom>
          <a:solidFill>
            <a:srgbClr val="0A1628"/>
          </a:solidFill>
          <a:ln w="12700">
            <a:solidFill>
              <a:srgbClr val="1E3A5F"/>
            </a:solidFill>
            <a:prstDash val="solid"/>
          </a:ln>
        </p:spPr>
      </p:sp>
      <p:sp>
        <p:nvSpPr>
          <p:cNvPr id="13" name="Shape 11"/>
          <p:cNvSpPr/>
          <p:nvPr/>
        </p:nvSpPr>
        <p:spPr>
          <a:xfrm>
            <a:off x="4114800" y="1115568"/>
            <a:ext cx="3611880" cy="36576"/>
          </a:xfrm>
          <a:prstGeom prst="rect">
            <a:avLst/>
          </a:prstGeom>
          <a:solidFill>
            <a:srgbClr val="38BDF8"/>
          </a:solidFill>
          <a:ln w="12700">
            <a:solidFill>
              <a:srgbClr val="38BDF8"/>
            </a:solidFill>
            <a:prstDash val="solid"/>
          </a:ln>
        </p:spPr>
      </p:sp>
      <p:sp>
        <p:nvSpPr>
          <p:cNvPr id="14" name="Text 12"/>
          <p:cNvSpPr/>
          <p:nvPr/>
        </p:nvSpPr>
        <p:spPr>
          <a:xfrm>
            <a:off x="4206240" y="1188720"/>
            <a:ext cx="3429000" cy="402336"/>
          </a:xfrm>
          <a:prstGeom prst="rect">
            <a:avLst/>
          </a:prstGeom>
          <a:noFill/>
          <a:ln/>
        </p:spPr>
        <p:txBody>
          <a:bodyPr wrap="square" rtlCol="0" anchor="ctr"/>
          <a:lstStyle/>
          <a:p>
            <a:pPr marL="0" indent="0">
              <a:buNone/>
            </a:pPr>
            <a:r>
              <a:rPr lang="en-US" sz="1350" b="1" dirty="0">
                <a:solidFill>
                  <a:srgbClr val="38BDF8"/>
                </a:solidFill>
                <a:latin typeface="Calibri" pitchFamily="34" charset="0"/>
                <a:ea typeface="Calibri" pitchFamily="34" charset="-122"/>
                <a:cs typeface="Calibri" pitchFamily="34" charset="-120"/>
              </a:rPr>
              <a:t>Spectral Shape</a:t>
            </a:r>
            <a:endParaRPr lang="en-US" sz="1350" dirty="0"/>
          </a:p>
        </p:txBody>
      </p:sp>
      <p:sp>
        <p:nvSpPr>
          <p:cNvPr id="15" name="Text 13"/>
          <p:cNvSpPr/>
          <p:nvPr/>
        </p:nvSpPr>
        <p:spPr>
          <a:xfrm>
            <a:off x="4206240" y="1664208"/>
            <a:ext cx="3429000" cy="4370832"/>
          </a:xfrm>
          <a:prstGeom prst="rect">
            <a:avLst/>
          </a:prstGeom>
          <a:noFill/>
          <a:ln/>
        </p:spPr>
        <p:txBody>
          <a:bodyPr wrap="square" rtlCol="0" anchor="t"/>
          <a:lstStyle/>
          <a:p>
            <a:pPr marL="0" indent="0">
              <a:buNone/>
            </a:pPr>
            <a:r>
              <a:rPr lang="en-US" sz="1300" dirty="0">
                <a:solidFill>
                  <a:srgbClr val="8FBCDA"/>
                </a:solidFill>
                <a:latin typeface="Calibri" pitchFamily="34" charset="0"/>
                <a:ea typeface="Calibri" pitchFamily="34" charset="-122"/>
                <a:cs typeface="Calibri" pitchFamily="34" charset="-120"/>
              </a:rPr>
              <a:t>Features capturing the distribution of energy across frequencies:</a:t>
            </a:r>
            <a:endParaRPr lang="en-US" sz="1300" dirty="0"/>
          </a:p>
          <a:p>
            <a:pPr marL="0" indent="0">
              <a:buNone/>
            </a:pPr>
            <a:endParaRPr lang="en-US" sz="1300" dirty="0"/>
          </a:p>
          <a:p>
            <a:pPr marL="0" indent="0">
              <a:buNone/>
            </a:pPr>
            <a:r>
              <a:rPr lang="en-US" sz="1300" dirty="0">
                <a:solidFill>
                  <a:srgbClr val="8FBCDA"/>
                </a:solidFill>
                <a:latin typeface="Calibri" pitchFamily="34" charset="0"/>
                <a:ea typeface="Calibri" pitchFamily="34" charset="-122"/>
                <a:cs typeface="Calibri" pitchFamily="34" charset="-120"/>
              </a:rPr>
              <a:t>· Centroid — 'center of mass' of spectral energy. Rises monotonically as the cup fills.</a:t>
            </a:r>
            <a:endParaRPr lang="en-US" sz="1300" dirty="0"/>
          </a:p>
          <a:p>
            <a:pPr marL="0" indent="0">
              <a:buNone/>
            </a:pPr>
            <a:r>
              <a:rPr lang="en-US" sz="1300" dirty="0">
                <a:solidFill>
                  <a:srgbClr val="8FBCDA"/>
                </a:solidFill>
                <a:latin typeface="Calibri" pitchFamily="34" charset="0"/>
                <a:ea typeface="Calibri" pitchFamily="34" charset="-122"/>
                <a:cs typeface="Calibri" pitchFamily="34" charset="-120"/>
              </a:rPr>
              <a:t>· Delta Centroid &amp; Delta² Centroid — rate of centroid shift</a:t>
            </a:r>
            <a:endParaRPr lang="en-US" sz="1300" dirty="0"/>
          </a:p>
          <a:p>
            <a:pPr marL="0" indent="0">
              <a:buNone/>
            </a:pPr>
            <a:r>
              <a:rPr lang="en-US" sz="1300" dirty="0">
                <a:solidFill>
                  <a:srgbClr val="8FBCDA"/>
                </a:solidFill>
                <a:latin typeface="Calibri" pitchFamily="34" charset="0"/>
                <a:ea typeface="Calibri" pitchFamily="34" charset="-122"/>
                <a:cs typeface="Calibri" pitchFamily="34" charset="-120"/>
              </a:rPr>
              <a:t>· Rolloff — freq below which 85% of energy lies</a:t>
            </a:r>
            <a:endParaRPr lang="en-US" sz="1300" dirty="0"/>
          </a:p>
          <a:p>
            <a:pPr marL="0" indent="0">
              <a:buNone/>
            </a:pPr>
            <a:r>
              <a:rPr lang="en-US" sz="1300" dirty="0">
                <a:solidFill>
                  <a:srgbClr val="8FBCDA"/>
                </a:solidFill>
                <a:latin typeface="Calibri" pitchFamily="34" charset="0"/>
                <a:ea typeface="Calibri" pitchFamily="34" charset="-122"/>
                <a:cs typeface="Calibri" pitchFamily="34" charset="-120"/>
              </a:rPr>
              <a:t>· Bandwidth — spread of energy around centroid</a:t>
            </a:r>
            <a:endParaRPr lang="en-US" sz="1300" dirty="0"/>
          </a:p>
          <a:p>
            <a:pPr marL="0" indent="0">
              <a:buNone/>
            </a:pPr>
            <a:r>
              <a:rPr lang="en-US" sz="1300" dirty="0">
                <a:solidFill>
                  <a:srgbClr val="8FBCDA"/>
                </a:solidFill>
                <a:latin typeface="Calibri" pitchFamily="34" charset="0"/>
                <a:ea typeface="Calibri" pitchFamily="34" charset="-122"/>
                <a:cs typeface="Calibri" pitchFamily="34" charset="-120"/>
              </a:rPr>
              <a:t>· Dominant Frequency — peak in 1–8 kHz STFT</a:t>
            </a:r>
            <a:endParaRPr lang="en-US" sz="1300" dirty="0"/>
          </a:p>
        </p:txBody>
      </p:sp>
      <p:sp>
        <p:nvSpPr>
          <p:cNvPr id="16" name="Shape 14"/>
          <p:cNvSpPr/>
          <p:nvPr/>
        </p:nvSpPr>
        <p:spPr>
          <a:xfrm>
            <a:off x="4206240" y="6126480"/>
            <a:ext cx="3429000" cy="320040"/>
          </a:xfrm>
          <a:prstGeom prst="rect">
            <a:avLst/>
          </a:prstGeom>
          <a:solidFill>
            <a:srgbClr val="0A1F3A"/>
          </a:solidFill>
          <a:ln w="12700">
            <a:solidFill>
              <a:srgbClr val="38BDF8"/>
            </a:solidFill>
            <a:prstDash val="solid"/>
          </a:ln>
        </p:spPr>
      </p:sp>
      <p:sp>
        <p:nvSpPr>
          <p:cNvPr id="17" name="Text 15"/>
          <p:cNvSpPr/>
          <p:nvPr/>
        </p:nvSpPr>
        <p:spPr>
          <a:xfrm>
            <a:off x="4206240" y="6126480"/>
            <a:ext cx="3429000" cy="320040"/>
          </a:xfrm>
          <a:prstGeom prst="rect">
            <a:avLst/>
          </a:prstGeom>
          <a:noFill/>
          <a:ln/>
        </p:spPr>
        <p:txBody>
          <a:bodyPr wrap="square" rtlCol="0" anchor="ctr"/>
          <a:lstStyle/>
          <a:p>
            <a:pPr marL="0" indent="0" algn="ctr">
              <a:buNone/>
            </a:pPr>
            <a:r>
              <a:rPr lang="en-US" sz="1250" b="1" dirty="0">
                <a:solidFill>
                  <a:srgbClr val="38BDF8"/>
                </a:solidFill>
                <a:latin typeface="Calibri" pitchFamily="34" charset="0"/>
                <a:ea typeface="Calibri" pitchFamily="34" charset="-122"/>
                <a:cs typeface="Calibri" pitchFamily="34" charset="-120"/>
              </a:rPr>
              <a:t>8 features</a:t>
            </a:r>
            <a:endParaRPr lang="en-US" sz="1250" dirty="0"/>
          </a:p>
        </p:txBody>
      </p:sp>
      <p:sp>
        <p:nvSpPr>
          <p:cNvPr id="18" name="Shape 16"/>
          <p:cNvSpPr/>
          <p:nvPr/>
        </p:nvSpPr>
        <p:spPr>
          <a:xfrm>
            <a:off x="7863840" y="1115568"/>
            <a:ext cx="3977640" cy="5468112"/>
          </a:xfrm>
          <a:prstGeom prst="rect">
            <a:avLst/>
          </a:prstGeom>
          <a:solidFill>
            <a:srgbClr val="0A1628"/>
          </a:solidFill>
          <a:ln w="12700">
            <a:solidFill>
              <a:srgbClr val="1E3A5F"/>
            </a:solidFill>
            <a:prstDash val="solid"/>
          </a:ln>
        </p:spPr>
      </p:sp>
      <p:sp>
        <p:nvSpPr>
          <p:cNvPr id="19" name="Shape 17"/>
          <p:cNvSpPr/>
          <p:nvPr/>
        </p:nvSpPr>
        <p:spPr>
          <a:xfrm>
            <a:off x="7863840" y="1115568"/>
            <a:ext cx="3977640" cy="36576"/>
          </a:xfrm>
          <a:prstGeom prst="rect">
            <a:avLst/>
          </a:prstGeom>
          <a:solidFill>
            <a:srgbClr val="34D399"/>
          </a:solidFill>
          <a:ln w="12700">
            <a:solidFill>
              <a:srgbClr val="34D399"/>
            </a:solidFill>
            <a:prstDash val="solid"/>
          </a:ln>
        </p:spPr>
      </p:sp>
      <p:sp>
        <p:nvSpPr>
          <p:cNvPr id="20" name="Text 18"/>
          <p:cNvSpPr/>
          <p:nvPr/>
        </p:nvSpPr>
        <p:spPr>
          <a:xfrm>
            <a:off x="7955280" y="1188720"/>
            <a:ext cx="3794760" cy="402336"/>
          </a:xfrm>
          <a:prstGeom prst="rect">
            <a:avLst/>
          </a:prstGeom>
          <a:noFill/>
          <a:ln/>
        </p:spPr>
        <p:txBody>
          <a:bodyPr wrap="square" rtlCol="0" anchor="ctr"/>
          <a:lstStyle/>
          <a:p>
            <a:pPr marL="0" indent="0">
              <a:buNone/>
            </a:pPr>
            <a:r>
              <a:rPr lang="en-US" sz="1350" b="1" dirty="0">
                <a:solidFill>
                  <a:srgbClr val="34D399"/>
                </a:solidFill>
                <a:latin typeface="Calibri" pitchFamily="34" charset="0"/>
                <a:ea typeface="Calibri" pitchFamily="34" charset="-122"/>
                <a:cs typeface="Calibri" pitchFamily="34" charset="-120"/>
              </a:rPr>
              <a:t>Signal &amp; Shape Stats</a:t>
            </a:r>
            <a:endParaRPr lang="en-US" sz="1350" dirty="0"/>
          </a:p>
        </p:txBody>
      </p:sp>
      <p:sp>
        <p:nvSpPr>
          <p:cNvPr id="21" name="Text 19"/>
          <p:cNvSpPr/>
          <p:nvPr/>
        </p:nvSpPr>
        <p:spPr>
          <a:xfrm>
            <a:off x="7955280" y="1664208"/>
            <a:ext cx="3794760" cy="4370832"/>
          </a:xfrm>
          <a:prstGeom prst="rect">
            <a:avLst/>
          </a:prstGeom>
          <a:noFill/>
          <a:ln/>
        </p:spPr>
        <p:txBody>
          <a:bodyPr wrap="square" rtlCol="0" anchor="t"/>
          <a:lstStyle/>
          <a:p>
            <a:pPr marL="0" indent="0">
              <a:buNone/>
            </a:pPr>
            <a:r>
              <a:rPr lang="en-US" sz="1300" dirty="0">
                <a:solidFill>
                  <a:srgbClr val="8FBCDA"/>
                </a:solidFill>
                <a:latin typeface="Calibri" pitchFamily="34" charset="0"/>
                <a:ea typeface="Calibri" pitchFamily="34" charset="-122"/>
                <a:cs typeface="Calibri" pitchFamily="34" charset="-120"/>
              </a:rPr>
              <a:t>Time-domain and higher-order spectral features:</a:t>
            </a:r>
            <a:endParaRPr lang="en-US" sz="1300" dirty="0"/>
          </a:p>
          <a:p>
            <a:pPr marL="0" indent="0">
              <a:buNone/>
            </a:pPr>
            <a:endParaRPr lang="en-US" sz="1300" dirty="0"/>
          </a:p>
          <a:p>
            <a:pPr marL="0" indent="0">
              <a:buNone/>
            </a:pPr>
            <a:r>
              <a:rPr lang="en-US" sz="1300" dirty="0">
                <a:solidFill>
                  <a:srgbClr val="8FBCDA"/>
                </a:solidFill>
                <a:latin typeface="Calibri" pitchFamily="34" charset="0"/>
                <a:ea typeface="Calibri" pitchFamily="34" charset="-122"/>
                <a:cs typeface="Calibri" pitchFamily="34" charset="-120"/>
              </a:rPr>
              <a:t>· RMS — root mean square energy (pour intensity)</a:t>
            </a:r>
            <a:endParaRPr lang="en-US" sz="1300" dirty="0"/>
          </a:p>
          <a:p>
            <a:pPr marL="0" indent="0">
              <a:buNone/>
            </a:pPr>
            <a:r>
              <a:rPr lang="en-US" sz="1300" dirty="0">
                <a:solidFill>
                  <a:srgbClr val="8FBCDA"/>
                </a:solidFill>
                <a:latin typeface="Calibri" pitchFamily="34" charset="0"/>
                <a:ea typeface="Calibri" pitchFamily="34" charset="-122"/>
                <a:cs typeface="Calibri" pitchFamily="34" charset="-120"/>
              </a:rPr>
              <a:t>· ZCR — zero-crossing rate (noisiness indicator)</a:t>
            </a:r>
            <a:endParaRPr lang="en-US" sz="1300" dirty="0"/>
          </a:p>
          <a:p>
            <a:pPr marL="0" indent="0">
              <a:buNone/>
            </a:pPr>
            <a:r>
              <a:rPr lang="en-US" sz="1300" dirty="0">
                <a:solidFill>
                  <a:srgbClr val="8FBCDA"/>
                </a:solidFill>
                <a:latin typeface="Calibri" pitchFamily="34" charset="0"/>
                <a:ea typeface="Calibri" pitchFamily="34" charset="-122"/>
                <a:cs typeface="Calibri" pitchFamily="34" charset="-120"/>
              </a:rPr>
              <a:t>· Spectral Contrast — energy difference between peaks and valleys across 7 sub-bands</a:t>
            </a:r>
            <a:endParaRPr lang="en-US" sz="1300" dirty="0"/>
          </a:p>
          <a:p>
            <a:pPr marL="0" indent="0">
              <a:buNone/>
            </a:pPr>
            <a:r>
              <a:rPr lang="en-US" sz="1300" dirty="0">
                <a:solidFill>
                  <a:srgbClr val="8FBCDA"/>
                </a:solidFill>
                <a:latin typeface="Calibri" pitchFamily="34" charset="0"/>
                <a:ea typeface="Calibri" pitchFamily="34" charset="-122"/>
                <a:cs typeface="Calibri" pitchFamily="34" charset="-120"/>
              </a:rPr>
              <a:t>· Spectral Skewness — asymmetry of the power spectrum</a:t>
            </a:r>
            <a:endParaRPr lang="en-US" sz="1300" dirty="0"/>
          </a:p>
          <a:p>
            <a:pPr marL="0" indent="0">
              <a:buNone/>
            </a:pPr>
            <a:r>
              <a:rPr lang="en-US" sz="1300" dirty="0">
                <a:solidFill>
                  <a:srgbClr val="8FBCDA"/>
                </a:solidFill>
                <a:latin typeface="Calibri" pitchFamily="34" charset="0"/>
                <a:ea typeface="Calibri" pitchFamily="34" charset="-122"/>
                <a:cs typeface="Calibri" pitchFamily="34" charset="-120"/>
              </a:rPr>
              <a:t>· Spectral Kurtosis — peakedness of the spectrum</a:t>
            </a:r>
            <a:endParaRPr lang="en-US" sz="1300" dirty="0"/>
          </a:p>
        </p:txBody>
      </p:sp>
      <p:sp>
        <p:nvSpPr>
          <p:cNvPr id="22" name="Shape 20"/>
          <p:cNvSpPr/>
          <p:nvPr/>
        </p:nvSpPr>
        <p:spPr>
          <a:xfrm>
            <a:off x="7955280" y="6126480"/>
            <a:ext cx="3794760" cy="320040"/>
          </a:xfrm>
          <a:prstGeom prst="rect">
            <a:avLst/>
          </a:prstGeom>
          <a:solidFill>
            <a:srgbClr val="0A1F3A"/>
          </a:solidFill>
          <a:ln w="12700">
            <a:solidFill>
              <a:srgbClr val="34D399"/>
            </a:solidFill>
            <a:prstDash val="solid"/>
          </a:ln>
        </p:spPr>
      </p:sp>
      <p:sp>
        <p:nvSpPr>
          <p:cNvPr id="23" name="Text 21"/>
          <p:cNvSpPr/>
          <p:nvPr/>
        </p:nvSpPr>
        <p:spPr>
          <a:xfrm>
            <a:off x="7955280" y="6126480"/>
            <a:ext cx="3794760" cy="320040"/>
          </a:xfrm>
          <a:prstGeom prst="rect">
            <a:avLst/>
          </a:prstGeom>
          <a:noFill/>
          <a:ln/>
        </p:spPr>
        <p:txBody>
          <a:bodyPr wrap="square" rtlCol="0" anchor="ctr"/>
          <a:lstStyle/>
          <a:p>
            <a:pPr marL="0" indent="0" algn="ctr">
              <a:buNone/>
            </a:pPr>
            <a:r>
              <a:rPr lang="en-US" sz="1250" b="1" dirty="0">
                <a:solidFill>
                  <a:srgbClr val="34D399"/>
                </a:solidFill>
                <a:latin typeface="Calibri" pitchFamily="34" charset="0"/>
                <a:ea typeface="Calibri" pitchFamily="34" charset="-122"/>
                <a:cs typeface="Calibri" pitchFamily="34" charset="-120"/>
              </a:rPr>
              <a:t>9 features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2000" cy="6400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91440"/>
            <a:ext cx="11277600" cy="658368"/>
          </a:xfrm>
          <a:prstGeom prst="rect">
            <a:avLst/>
          </a:prstGeom>
          <a:noFill/>
        </p:spPr>
        <p:txBody>
          <a:bodyPr wrap="square">
            <a:spAutoFit/>
          </a:bodyPr>
          <a:lstStyle/>
          <a:p>
            <a:pPr algn="l"/>
            <a:r>
              <a:rPr sz="3200" b="1">
                <a:solidFill>
                  <a:srgbClr val="FFFFFF"/>
                </a:solidFill>
              </a:rPr>
              <a:t>Ablation Study — Feature Group Impact</a:t>
            </a:r>
          </a:p>
        </p:txBody>
      </p:sp>
      <p:sp>
        <p:nvSpPr>
          <p:cNvPr id="5" name="TextBox 4"/>
          <p:cNvSpPr txBox="1"/>
          <p:nvPr/>
        </p:nvSpPr>
        <p:spPr>
          <a:xfrm>
            <a:off x="457200" y="749808"/>
            <a:ext cx="11277600" cy="292608"/>
          </a:xfrm>
          <a:prstGeom prst="rect">
            <a:avLst/>
          </a:prstGeom>
          <a:noFill/>
        </p:spPr>
        <p:txBody>
          <a:bodyPr wrap="square">
            <a:spAutoFit/>
          </a:bodyPr>
          <a:lstStyle/>
          <a:p>
            <a:pPr algn="l"/>
            <a:r>
              <a:rPr sz="1600" b="0">
                <a:solidFill>
                  <a:srgbClr val="B4B4D2"/>
                </a:solidFill>
              </a:rPr>
              <a:t>What happens when we remove feature groups?</a:t>
            </a:r>
          </a:p>
        </p:txBody>
      </p:sp>
      <p:sp>
        <p:nvSpPr>
          <p:cNvPr id="6" name="TextBox 5"/>
          <p:cNvSpPr txBox="1"/>
          <p:nvPr/>
        </p:nvSpPr>
        <p:spPr>
          <a:xfrm>
            <a:off x="365760" y="6601968"/>
            <a:ext cx="11460480" cy="201168"/>
          </a:xfrm>
          <a:prstGeom prst="rect">
            <a:avLst/>
          </a:prstGeom>
          <a:noFill/>
        </p:spPr>
        <p:txBody>
          <a:bodyPr wrap="square">
            <a:spAutoFit/>
          </a:bodyPr>
          <a:lstStyle/>
          <a:p>
            <a:pPr algn="l"/>
            <a:r>
              <a:rPr sz="1100" b="0">
                <a:solidFill>
                  <a:srgbClr val="646482"/>
                </a:solidFill>
              </a:rPr>
              <a:t>Ablation Study</a:t>
            </a:r>
          </a:p>
        </p:txBody>
      </p:sp>
      <p:sp>
        <p:nvSpPr>
          <p:cNvPr id="7" name="Rectangle 6"/>
          <p:cNvSpPr/>
          <p:nvPr/>
        </p:nvSpPr>
        <p:spPr>
          <a:xfrm>
            <a:off x="365760" y="1200000"/>
            <a:ext cx="11460480" cy="5000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25760" y="1280000"/>
            <a:ext cx="3140000" cy="420000"/>
          </a:xfrm>
          <a:prstGeom prst="rect">
            <a:avLst/>
          </a:prstGeom>
          <a:noFill/>
        </p:spPr>
        <p:txBody>
          <a:bodyPr wrap="square">
            <a:spAutoFit/>
          </a:bodyPr>
          <a:lstStyle/>
          <a:p>
            <a:pPr algn="l"/>
            <a:r>
              <a:rPr sz="1200" b="1">
                <a:solidFill>
                  <a:srgbClr val="0D1B3E"/>
                </a:solidFill>
              </a:rPr>
              <a:t>Experiment</a:t>
            </a:r>
          </a:p>
        </p:txBody>
      </p:sp>
      <p:sp>
        <p:nvSpPr>
          <p:cNvPr id="9" name="TextBox 8"/>
          <p:cNvSpPr txBox="1"/>
          <p:nvPr/>
        </p:nvSpPr>
        <p:spPr>
          <a:xfrm>
            <a:off x="3625760" y="1280000"/>
            <a:ext cx="1140000" cy="420000"/>
          </a:xfrm>
          <a:prstGeom prst="rect">
            <a:avLst/>
          </a:prstGeom>
          <a:noFill/>
        </p:spPr>
        <p:txBody>
          <a:bodyPr wrap="square">
            <a:spAutoFit/>
          </a:bodyPr>
          <a:lstStyle/>
          <a:p>
            <a:pPr algn="l"/>
            <a:r>
              <a:rPr sz="1200" b="1">
                <a:solidFill>
                  <a:srgbClr val="0D1B3E"/>
                </a:solidFill>
              </a:rPr>
              <a:t>Precision</a:t>
            </a:r>
          </a:p>
        </p:txBody>
      </p:sp>
      <p:sp>
        <p:nvSpPr>
          <p:cNvPr id="10" name="TextBox 9"/>
          <p:cNvSpPr txBox="1"/>
          <p:nvPr/>
        </p:nvSpPr>
        <p:spPr>
          <a:xfrm>
            <a:off x="4825760" y="1280000"/>
            <a:ext cx="1040000" cy="420000"/>
          </a:xfrm>
          <a:prstGeom prst="rect">
            <a:avLst/>
          </a:prstGeom>
          <a:noFill/>
        </p:spPr>
        <p:txBody>
          <a:bodyPr wrap="square">
            <a:spAutoFit/>
          </a:bodyPr>
          <a:lstStyle/>
          <a:p>
            <a:pPr algn="l"/>
            <a:r>
              <a:rPr sz="1200" b="1">
                <a:solidFill>
                  <a:srgbClr val="0D1B3E"/>
                </a:solidFill>
              </a:rPr>
              <a:t>Recall</a:t>
            </a:r>
          </a:p>
        </p:txBody>
      </p:sp>
      <p:sp>
        <p:nvSpPr>
          <p:cNvPr id="11" name="TextBox 10"/>
          <p:cNvSpPr txBox="1"/>
          <p:nvPr/>
        </p:nvSpPr>
        <p:spPr>
          <a:xfrm>
            <a:off x="5925760" y="1280000"/>
            <a:ext cx="1040000" cy="420000"/>
          </a:xfrm>
          <a:prstGeom prst="rect">
            <a:avLst/>
          </a:prstGeom>
          <a:noFill/>
        </p:spPr>
        <p:txBody>
          <a:bodyPr wrap="square">
            <a:spAutoFit/>
          </a:bodyPr>
          <a:lstStyle/>
          <a:p>
            <a:pPr algn="l"/>
            <a:r>
              <a:rPr sz="1200" b="1">
                <a:solidFill>
                  <a:srgbClr val="0D1B3E"/>
                </a:solidFill>
              </a:rPr>
              <a:t>F1</a:t>
            </a:r>
          </a:p>
        </p:txBody>
      </p:sp>
      <p:sp>
        <p:nvSpPr>
          <p:cNvPr id="12" name="TextBox 11"/>
          <p:cNvSpPr txBox="1"/>
          <p:nvPr/>
        </p:nvSpPr>
        <p:spPr>
          <a:xfrm>
            <a:off x="7025760" y="1280000"/>
            <a:ext cx="1140000" cy="420000"/>
          </a:xfrm>
          <a:prstGeom prst="rect">
            <a:avLst/>
          </a:prstGeom>
          <a:noFill/>
        </p:spPr>
        <p:txBody>
          <a:bodyPr wrap="square">
            <a:spAutoFit/>
          </a:bodyPr>
          <a:lstStyle/>
          <a:p>
            <a:pPr algn="l"/>
            <a:r>
              <a:rPr sz="1200" b="1">
                <a:solidFill>
                  <a:srgbClr val="0D1B3E"/>
                </a:solidFill>
              </a:rPr>
              <a:t>AUC-ROC</a:t>
            </a:r>
          </a:p>
        </p:txBody>
      </p:sp>
      <p:sp>
        <p:nvSpPr>
          <p:cNvPr id="13" name="TextBox 12"/>
          <p:cNvSpPr txBox="1"/>
          <p:nvPr/>
        </p:nvSpPr>
        <p:spPr>
          <a:xfrm>
            <a:off x="8225760" y="1280000"/>
            <a:ext cx="1240000" cy="420000"/>
          </a:xfrm>
          <a:prstGeom prst="rect">
            <a:avLst/>
          </a:prstGeom>
          <a:noFill/>
        </p:spPr>
        <p:txBody>
          <a:bodyPr wrap="square">
            <a:spAutoFit/>
          </a:bodyPr>
          <a:lstStyle/>
          <a:p>
            <a:pPr algn="l"/>
            <a:r>
              <a:rPr sz="1200" b="1">
                <a:solidFill>
                  <a:srgbClr val="0D1B3E"/>
                </a:solidFill>
              </a:rPr>
              <a:t>Never Stops</a:t>
            </a:r>
          </a:p>
        </p:txBody>
      </p:sp>
      <p:sp>
        <p:nvSpPr>
          <p:cNvPr id="14" name="Rectangle 13"/>
          <p:cNvSpPr/>
          <p:nvPr/>
        </p:nvSpPr>
        <p:spPr>
          <a:xfrm>
            <a:off x="365760" y="1700000"/>
            <a:ext cx="11460480" cy="550000"/>
          </a:xfrm>
          <a:prstGeom prst="rect">
            <a:avLst/>
          </a:prstGeom>
          <a:solidFill>
            <a:srgbClr val="142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25760" y="1800000"/>
            <a:ext cx="3140000" cy="450000"/>
          </a:xfrm>
          <a:prstGeom prst="rect">
            <a:avLst/>
          </a:prstGeom>
          <a:noFill/>
        </p:spPr>
        <p:txBody>
          <a:bodyPr wrap="square">
            <a:spAutoFit/>
          </a:bodyPr>
          <a:lstStyle/>
          <a:p>
            <a:pPr algn="l"/>
            <a:r>
              <a:rPr sz="1300" b="1">
                <a:solidFill>
                  <a:srgbClr val="F59E0B"/>
                </a:solidFill>
              </a:rPr>
              <a:t>All features (56)</a:t>
            </a:r>
          </a:p>
        </p:txBody>
      </p:sp>
      <p:sp>
        <p:nvSpPr>
          <p:cNvPr id="16" name="TextBox 15"/>
          <p:cNvSpPr txBox="1"/>
          <p:nvPr/>
        </p:nvSpPr>
        <p:spPr>
          <a:xfrm>
            <a:off x="3625760" y="1800000"/>
            <a:ext cx="1140000" cy="450000"/>
          </a:xfrm>
          <a:prstGeom prst="rect">
            <a:avLst/>
          </a:prstGeom>
          <a:noFill/>
        </p:spPr>
        <p:txBody>
          <a:bodyPr wrap="square">
            <a:spAutoFit/>
          </a:bodyPr>
          <a:lstStyle/>
          <a:p>
            <a:pPr algn="ctr"/>
            <a:r>
              <a:rPr sz="1300" b="0">
                <a:solidFill>
                  <a:srgbClr val="02C39A"/>
                </a:solidFill>
              </a:rPr>
              <a:t>72.1%</a:t>
            </a:r>
          </a:p>
        </p:txBody>
      </p:sp>
      <p:sp>
        <p:nvSpPr>
          <p:cNvPr id="17" name="TextBox 16"/>
          <p:cNvSpPr txBox="1"/>
          <p:nvPr/>
        </p:nvSpPr>
        <p:spPr>
          <a:xfrm>
            <a:off x="4825760" y="1800000"/>
            <a:ext cx="1140000" cy="450000"/>
          </a:xfrm>
          <a:prstGeom prst="rect">
            <a:avLst/>
          </a:prstGeom>
          <a:noFill/>
        </p:spPr>
        <p:txBody>
          <a:bodyPr wrap="square">
            <a:spAutoFit/>
          </a:bodyPr>
          <a:lstStyle/>
          <a:p>
            <a:pPr algn="ctr"/>
            <a:r>
              <a:rPr sz="1300" b="0">
                <a:solidFill>
                  <a:srgbClr val="02C39A"/>
                </a:solidFill>
              </a:rPr>
              <a:t>75.1%</a:t>
            </a:r>
          </a:p>
        </p:txBody>
      </p:sp>
      <p:sp>
        <p:nvSpPr>
          <p:cNvPr id="18" name="TextBox 17"/>
          <p:cNvSpPr txBox="1"/>
          <p:nvPr/>
        </p:nvSpPr>
        <p:spPr>
          <a:xfrm>
            <a:off x="5925760" y="1800000"/>
            <a:ext cx="1140000" cy="450000"/>
          </a:xfrm>
          <a:prstGeom prst="rect">
            <a:avLst/>
          </a:prstGeom>
          <a:noFill/>
        </p:spPr>
        <p:txBody>
          <a:bodyPr wrap="square">
            <a:spAutoFit/>
          </a:bodyPr>
          <a:lstStyle/>
          <a:p>
            <a:pPr algn="ctr"/>
            <a:r>
              <a:rPr sz="1300" b="0">
                <a:solidFill>
                  <a:srgbClr val="02C39A"/>
                </a:solidFill>
              </a:rPr>
              <a:t>73.5%</a:t>
            </a:r>
          </a:p>
        </p:txBody>
      </p:sp>
      <p:sp>
        <p:nvSpPr>
          <p:cNvPr id="19" name="TextBox 18"/>
          <p:cNvSpPr txBox="1"/>
          <p:nvPr/>
        </p:nvSpPr>
        <p:spPr>
          <a:xfrm>
            <a:off x="7025760" y="1800000"/>
            <a:ext cx="1140000" cy="450000"/>
          </a:xfrm>
          <a:prstGeom prst="rect">
            <a:avLst/>
          </a:prstGeom>
          <a:noFill/>
        </p:spPr>
        <p:txBody>
          <a:bodyPr wrap="square">
            <a:spAutoFit/>
          </a:bodyPr>
          <a:lstStyle/>
          <a:p>
            <a:pPr algn="ctr"/>
            <a:r>
              <a:rPr sz="1300" b="0">
                <a:solidFill>
                  <a:srgbClr val="02C39A"/>
                </a:solidFill>
              </a:rPr>
              <a:t>0.968</a:t>
            </a:r>
          </a:p>
        </p:txBody>
      </p:sp>
      <p:sp>
        <p:nvSpPr>
          <p:cNvPr id="20" name="TextBox 19"/>
          <p:cNvSpPr txBox="1"/>
          <p:nvPr/>
        </p:nvSpPr>
        <p:spPr>
          <a:xfrm>
            <a:off x="8225760" y="1800000"/>
            <a:ext cx="1240000" cy="450000"/>
          </a:xfrm>
          <a:prstGeom prst="rect">
            <a:avLst/>
          </a:prstGeom>
          <a:noFill/>
        </p:spPr>
        <p:txBody>
          <a:bodyPr wrap="square">
            <a:spAutoFit/>
          </a:bodyPr>
          <a:lstStyle/>
          <a:p>
            <a:pPr algn="ctr"/>
            <a:r>
              <a:rPr sz="1400" b="1">
                <a:solidFill>
                  <a:srgbClr val="02C39A"/>
                </a:solidFill>
              </a:rPr>
              <a:t>0</a:t>
            </a:r>
          </a:p>
        </p:txBody>
      </p:sp>
      <p:sp>
        <p:nvSpPr>
          <p:cNvPr id="21" name="Rectangle 20"/>
          <p:cNvSpPr/>
          <p:nvPr/>
        </p:nvSpPr>
        <p:spPr>
          <a:xfrm>
            <a:off x="365760" y="2250000"/>
            <a:ext cx="11460480" cy="550000"/>
          </a:xfrm>
          <a:prstGeom prst="rect">
            <a:avLst/>
          </a:prstGeom>
          <a:solidFill>
            <a:srgbClr val="1020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25760" y="2350000"/>
            <a:ext cx="3140000" cy="450000"/>
          </a:xfrm>
          <a:prstGeom prst="rect">
            <a:avLst/>
          </a:prstGeom>
          <a:noFill/>
        </p:spPr>
        <p:txBody>
          <a:bodyPr wrap="square">
            <a:spAutoFit/>
          </a:bodyPr>
          <a:lstStyle/>
          <a:p>
            <a:pPr algn="l"/>
            <a:r>
              <a:rPr sz="1300" b="0">
                <a:solidFill>
                  <a:srgbClr val="FFFFFF"/>
                </a:solidFill>
              </a:rPr>
              <a:t>No delta/delta² (28)</a:t>
            </a:r>
          </a:p>
        </p:txBody>
      </p:sp>
      <p:sp>
        <p:nvSpPr>
          <p:cNvPr id="23" name="TextBox 22"/>
          <p:cNvSpPr txBox="1"/>
          <p:nvPr/>
        </p:nvSpPr>
        <p:spPr>
          <a:xfrm>
            <a:off x="3625760" y="2350000"/>
            <a:ext cx="1140000" cy="450000"/>
          </a:xfrm>
          <a:prstGeom prst="rect">
            <a:avLst/>
          </a:prstGeom>
          <a:noFill/>
        </p:spPr>
        <p:txBody>
          <a:bodyPr wrap="square">
            <a:spAutoFit/>
          </a:bodyPr>
          <a:lstStyle/>
          <a:p>
            <a:pPr algn="ctr"/>
            <a:r>
              <a:rPr sz="1300" b="0">
                <a:solidFill>
                  <a:srgbClr val="C8C8DC"/>
                </a:solidFill>
              </a:rPr>
              <a:t>57.1%</a:t>
            </a:r>
          </a:p>
        </p:txBody>
      </p:sp>
      <p:sp>
        <p:nvSpPr>
          <p:cNvPr id="24" name="TextBox 23"/>
          <p:cNvSpPr txBox="1"/>
          <p:nvPr/>
        </p:nvSpPr>
        <p:spPr>
          <a:xfrm>
            <a:off x="4825760" y="2350000"/>
            <a:ext cx="1140000" cy="450000"/>
          </a:xfrm>
          <a:prstGeom prst="rect">
            <a:avLst/>
          </a:prstGeom>
          <a:noFill/>
        </p:spPr>
        <p:txBody>
          <a:bodyPr wrap="square">
            <a:spAutoFit/>
          </a:bodyPr>
          <a:lstStyle/>
          <a:p>
            <a:pPr algn="ctr"/>
            <a:r>
              <a:rPr sz="1300" b="0">
                <a:solidFill>
                  <a:srgbClr val="C8C8DC"/>
                </a:solidFill>
              </a:rPr>
              <a:t>71.6%</a:t>
            </a:r>
          </a:p>
        </p:txBody>
      </p:sp>
      <p:sp>
        <p:nvSpPr>
          <p:cNvPr id="25" name="TextBox 24"/>
          <p:cNvSpPr txBox="1"/>
          <p:nvPr/>
        </p:nvSpPr>
        <p:spPr>
          <a:xfrm>
            <a:off x="5925760" y="2350000"/>
            <a:ext cx="1140000" cy="450000"/>
          </a:xfrm>
          <a:prstGeom prst="rect">
            <a:avLst/>
          </a:prstGeom>
          <a:noFill/>
        </p:spPr>
        <p:txBody>
          <a:bodyPr wrap="square">
            <a:spAutoFit/>
          </a:bodyPr>
          <a:lstStyle/>
          <a:p>
            <a:pPr algn="ctr"/>
            <a:r>
              <a:rPr sz="1300" b="0">
                <a:solidFill>
                  <a:srgbClr val="C8C8DC"/>
                </a:solidFill>
              </a:rPr>
              <a:t>63.3%</a:t>
            </a:r>
          </a:p>
        </p:txBody>
      </p:sp>
      <p:sp>
        <p:nvSpPr>
          <p:cNvPr id="26" name="TextBox 25"/>
          <p:cNvSpPr txBox="1"/>
          <p:nvPr/>
        </p:nvSpPr>
        <p:spPr>
          <a:xfrm>
            <a:off x="7025760" y="2350000"/>
            <a:ext cx="1140000" cy="450000"/>
          </a:xfrm>
          <a:prstGeom prst="rect">
            <a:avLst/>
          </a:prstGeom>
          <a:noFill/>
        </p:spPr>
        <p:txBody>
          <a:bodyPr wrap="square">
            <a:spAutoFit/>
          </a:bodyPr>
          <a:lstStyle/>
          <a:p>
            <a:pPr algn="ctr"/>
            <a:r>
              <a:rPr sz="1300" b="0">
                <a:solidFill>
                  <a:srgbClr val="C8C8DC"/>
                </a:solidFill>
              </a:rPr>
              <a:t>0.942</a:t>
            </a:r>
          </a:p>
        </p:txBody>
      </p:sp>
      <p:sp>
        <p:nvSpPr>
          <p:cNvPr id="27" name="TextBox 26"/>
          <p:cNvSpPr txBox="1"/>
          <p:nvPr/>
        </p:nvSpPr>
        <p:spPr>
          <a:xfrm>
            <a:off x="8225760" y="2350000"/>
            <a:ext cx="1240000" cy="450000"/>
          </a:xfrm>
          <a:prstGeom prst="rect">
            <a:avLst/>
          </a:prstGeom>
          <a:noFill/>
        </p:spPr>
        <p:txBody>
          <a:bodyPr wrap="square">
            <a:spAutoFit/>
          </a:bodyPr>
          <a:lstStyle/>
          <a:p>
            <a:pPr algn="ctr"/>
            <a:r>
              <a:rPr sz="1400" b="1">
                <a:solidFill>
                  <a:srgbClr val="EF4444"/>
                </a:solidFill>
              </a:rPr>
              <a:t>0</a:t>
            </a:r>
          </a:p>
        </p:txBody>
      </p:sp>
      <p:sp>
        <p:nvSpPr>
          <p:cNvPr id="28" name="Rectangle 27"/>
          <p:cNvSpPr/>
          <p:nvPr/>
        </p:nvSpPr>
        <p:spPr>
          <a:xfrm>
            <a:off x="365760" y="2800000"/>
            <a:ext cx="11460480" cy="550000"/>
          </a:xfrm>
          <a:prstGeom prst="rect">
            <a:avLst/>
          </a:prstGeom>
          <a:solidFill>
            <a:srgbClr val="142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25760" y="2900000"/>
            <a:ext cx="3140000" cy="450000"/>
          </a:xfrm>
          <a:prstGeom prst="rect">
            <a:avLst/>
          </a:prstGeom>
          <a:noFill/>
        </p:spPr>
        <p:txBody>
          <a:bodyPr wrap="square">
            <a:spAutoFit/>
          </a:bodyPr>
          <a:lstStyle/>
          <a:p>
            <a:pPr algn="l"/>
            <a:r>
              <a:rPr sz="1300" b="0">
                <a:solidFill>
                  <a:srgbClr val="FFFFFF"/>
                </a:solidFill>
              </a:rPr>
              <a:t>MFCC + basic only (17)</a:t>
            </a:r>
          </a:p>
        </p:txBody>
      </p:sp>
      <p:sp>
        <p:nvSpPr>
          <p:cNvPr id="30" name="TextBox 29"/>
          <p:cNvSpPr txBox="1"/>
          <p:nvPr/>
        </p:nvSpPr>
        <p:spPr>
          <a:xfrm>
            <a:off x="3625760" y="2900000"/>
            <a:ext cx="1140000" cy="450000"/>
          </a:xfrm>
          <a:prstGeom prst="rect">
            <a:avLst/>
          </a:prstGeom>
          <a:noFill/>
        </p:spPr>
        <p:txBody>
          <a:bodyPr wrap="square">
            <a:spAutoFit/>
          </a:bodyPr>
          <a:lstStyle/>
          <a:p>
            <a:pPr algn="ctr"/>
            <a:r>
              <a:rPr sz="1300" b="0">
                <a:solidFill>
                  <a:srgbClr val="C8C8DC"/>
                </a:solidFill>
              </a:rPr>
              <a:t>55.3%</a:t>
            </a:r>
          </a:p>
        </p:txBody>
      </p:sp>
      <p:sp>
        <p:nvSpPr>
          <p:cNvPr id="31" name="TextBox 30"/>
          <p:cNvSpPr txBox="1"/>
          <p:nvPr/>
        </p:nvSpPr>
        <p:spPr>
          <a:xfrm>
            <a:off x="4825760" y="2900000"/>
            <a:ext cx="1140000" cy="450000"/>
          </a:xfrm>
          <a:prstGeom prst="rect">
            <a:avLst/>
          </a:prstGeom>
          <a:noFill/>
        </p:spPr>
        <p:txBody>
          <a:bodyPr wrap="square">
            <a:spAutoFit/>
          </a:bodyPr>
          <a:lstStyle/>
          <a:p>
            <a:pPr algn="ctr"/>
            <a:r>
              <a:rPr sz="1300" b="0">
                <a:solidFill>
                  <a:srgbClr val="C8C8DC"/>
                </a:solidFill>
              </a:rPr>
              <a:t>72.4%</a:t>
            </a:r>
          </a:p>
        </p:txBody>
      </p:sp>
      <p:sp>
        <p:nvSpPr>
          <p:cNvPr id="32" name="TextBox 31"/>
          <p:cNvSpPr txBox="1"/>
          <p:nvPr/>
        </p:nvSpPr>
        <p:spPr>
          <a:xfrm>
            <a:off x="5925760" y="2900000"/>
            <a:ext cx="1140000" cy="450000"/>
          </a:xfrm>
          <a:prstGeom prst="rect">
            <a:avLst/>
          </a:prstGeom>
          <a:noFill/>
        </p:spPr>
        <p:txBody>
          <a:bodyPr wrap="square">
            <a:spAutoFit/>
          </a:bodyPr>
          <a:lstStyle/>
          <a:p>
            <a:pPr algn="ctr"/>
            <a:r>
              <a:rPr sz="1300" b="0">
                <a:solidFill>
                  <a:srgbClr val="C8C8DC"/>
                </a:solidFill>
              </a:rPr>
              <a:t>62.5%</a:t>
            </a:r>
          </a:p>
        </p:txBody>
      </p:sp>
      <p:sp>
        <p:nvSpPr>
          <p:cNvPr id="33" name="TextBox 32"/>
          <p:cNvSpPr txBox="1"/>
          <p:nvPr/>
        </p:nvSpPr>
        <p:spPr>
          <a:xfrm>
            <a:off x="7025760" y="2900000"/>
            <a:ext cx="1140000" cy="450000"/>
          </a:xfrm>
          <a:prstGeom prst="rect">
            <a:avLst/>
          </a:prstGeom>
          <a:noFill/>
        </p:spPr>
        <p:txBody>
          <a:bodyPr wrap="square">
            <a:spAutoFit/>
          </a:bodyPr>
          <a:lstStyle/>
          <a:p>
            <a:pPr algn="ctr"/>
            <a:r>
              <a:rPr sz="1300" b="0">
                <a:solidFill>
                  <a:srgbClr val="C8C8DC"/>
                </a:solidFill>
              </a:rPr>
              <a:t>0.936</a:t>
            </a:r>
          </a:p>
        </p:txBody>
      </p:sp>
      <p:sp>
        <p:nvSpPr>
          <p:cNvPr id="34" name="TextBox 33"/>
          <p:cNvSpPr txBox="1"/>
          <p:nvPr/>
        </p:nvSpPr>
        <p:spPr>
          <a:xfrm>
            <a:off x="8225760" y="2900000"/>
            <a:ext cx="1240000" cy="450000"/>
          </a:xfrm>
          <a:prstGeom prst="rect">
            <a:avLst/>
          </a:prstGeom>
          <a:noFill/>
        </p:spPr>
        <p:txBody>
          <a:bodyPr wrap="square">
            <a:spAutoFit/>
          </a:bodyPr>
          <a:lstStyle/>
          <a:p>
            <a:pPr algn="ctr"/>
            <a:r>
              <a:rPr sz="1400" b="1">
                <a:solidFill>
                  <a:srgbClr val="EF4444"/>
                </a:solidFill>
              </a:rPr>
              <a:t>0</a:t>
            </a:r>
          </a:p>
        </p:txBody>
      </p:sp>
      <p:sp>
        <p:nvSpPr>
          <p:cNvPr id="35" name="Rectangle 34"/>
          <p:cNvSpPr/>
          <p:nvPr/>
        </p:nvSpPr>
        <p:spPr>
          <a:xfrm>
            <a:off x="365760" y="3350000"/>
            <a:ext cx="11460480" cy="550000"/>
          </a:xfrm>
          <a:prstGeom prst="rect">
            <a:avLst/>
          </a:prstGeom>
          <a:solidFill>
            <a:srgbClr val="1020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25760" y="3450000"/>
            <a:ext cx="3140000" cy="292388"/>
          </a:xfrm>
          <a:prstGeom prst="rect">
            <a:avLst/>
          </a:prstGeom>
          <a:noFill/>
        </p:spPr>
        <p:txBody>
          <a:bodyPr wrap="square">
            <a:spAutoFit/>
          </a:bodyPr>
          <a:lstStyle/>
          <a:p>
            <a:pPr algn="l"/>
            <a:r>
              <a:rPr sz="1300" b="0" dirty="0">
                <a:solidFill>
                  <a:srgbClr val="FFFFFF"/>
                </a:solidFill>
              </a:rPr>
              <a:t>Basic + delta, no d² (</a:t>
            </a:r>
            <a:r>
              <a:rPr lang="en-US" sz="1300" b="0" dirty="0">
                <a:solidFill>
                  <a:srgbClr val="FFFFFF"/>
                </a:solidFill>
              </a:rPr>
              <a:t>42</a:t>
            </a:r>
            <a:r>
              <a:rPr sz="1300" b="0" dirty="0">
                <a:solidFill>
                  <a:srgbClr val="FFFFFF"/>
                </a:solidFill>
              </a:rPr>
              <a:t>)</a:t>
            </a:r>
          </a:p>
        </p:txBody>
      </p:sp>
      <p:sp>
        <p:nvSpPr>
          <p:cNvPr id="37" name="TextBox 36"/>
          <p:cNvSpPr txBox="1"/>
          <p:nvPr/>
        </p:nvSpPr>
        <p:spPr>
          <a:xfrm>
            <a:off x="3625760" y="3450000"/>
            <a:ext cx="1140000" cy="450000"/>
          </a:xfrm>
          <a:prstGeom prst="rect">
            <a:avLst/>
          </a:prstGeom>
          <a:noFill/>
        </p:spPr>
        <p:txBody>
          <a:bodyPr wrap="square">
            <a:spAutoFit/>
          </a:bodyPr>
          <a:lstStyle/>
          <a:p>
            <a:pPr algn="ctr"/>
            <a:r>
              <a:rPr sz="1300" b="0">
                <a:solidFill>
                  <a:srgbClr val="C8C8DC"/>
                </a:solidFill>
              </a:rPr>
              <a:t>71.6%</a:t>
            </a:r>
          </a:p>
        </p:txBody>
      </p:sp>
      <p:sp>
        <p:nvSpPr>
          <p:cNvPr id="38" name="TextBox 37"/>
          <p:cNvSpPr txBox="1"/>
          <p:nvPr/>
        </p:nvSpPr>
        <p:spPr>
          <a:xfrm>
            <a:off x="4825760" y="3450000"/>
            <a:ext cx="1140000" cy="450000"/>
          </a:xfrm>
          <a:prstGeom prst="rect">
            <a:avLst/>
          </a:prstGeom>
          <a:noFill/>
        </p:spPr>
        <p:txBody>
          <a:bodyPr wrap="square">
            <a:spAutoFit/>
          </a:bodyPr>
          <a:lstStyle/>
          <a:p>
            <a:pPr algn="ctr"/>
            <a:r>
              <a:rPr sz="1300" b="0">
                <a:solidFill>
                  <a:srgbClr val="C8C8DC"/>
                </a:solidFill>
              </a:rPr>
              <a:t>75.5%</a:t>
            </a:r>
          </a:p>
        </p:txBody>
      </p:sp>
      <p:sp>
        <p:nvSpPr>
          <p:cNvPr id="39" name="TextBox 38"/>
          <p:cNvSpPr txBox="1"/>
          <p:nvPr/>
        </p:nvSpPr>
        <p:spPr>
          <a:xfrm>
            <a:off x="5925760" y="3450000"/>
            <a:ext cx="1140000" cy="450000"/>
          </a:xfrm>
          <a:prstGeom prst="rect">
            <a:avLst/>
          </a:prstGeom>
          <a:noFill/>
        </p:spPr>
        <p:txBody>
          <a:bodyPr wrap="square">
            <a:spAutoFit/>
          </a:bodyPr>
          <a:lstStyle/>
          <a:p>
            <a:pPr algn="ctr"/>
            <a:r>
              <a:rPr sz="1300" b="0">
                <a:solidFill>
                  <a:srgbClr val="C8C8DC"/>
                </a:solidFill>
              </a:rPr>
              <a:t>73.4%</a:t>
            </a:r>
          </a:p>
        </p:txBody>
      </p:sp>
      <p:sp>
        <p:nvSpPr>
          <p:cNvPr id="40" name="TextBox 39"/>
          <p:cNvSpPr txBox="1"/>
          <p:nvPr/>
        </p:nvSpPr>
        <p:spPr>
          <a:xfrm>
            <a:off x="7025760" y="3450000"/>
            <a:ext cx="1140000" cy="450000"/>
          </a:xfrm>
          <a:prstGeom prst="rect">
            <a:avLst/>
          </a:prstGeom>
          <a:noFill/>
        </p:spPr>
        <p:txBody>
          <a:bodyPr wrap="square">
            <a:spAutoFit/>
          </a:bodyPr>
          <a:lstStyle/>
          <a:p>
            <a:pPr algn="ctr"/>
            <a:r>
              <a:rPr sz="1300" b="0">
                <a:solidFill>
                  <a:srgbClr val="C8C8DC"/>
                </a:solidFill>
              </a:rPr>
              <a:t>0.966</a:t>
            </a:r>
          </a:p>
        </p:txBody>
      </p:sp>
      <p:sp>
        <p:nvSpPr>
          <p:cNvPr id="41" name="TextBox 40"/>
          <p:cNvSpPr txBox="1"/>
          <p:nvPr/>
        </p:nvSpPr>
        <p:spPr>
          <a:xfrm>
            <a:off x="8225760" y="3450000"/>
            <a:ext cx="1240000" cy="450000"/>
          </a:xfrm>
          <a:prstGeom prst="rect">
            <a:avLst/>
          </a:prstGeom>
          <a:noFill/>
        </p:spPr>
        <p:txBody>
          <a:bodyPr wrap="square">
            <a:spAutoFit/>
          </a:bodyPr>
          <a:lstStyle/>
          <a:p>
            <a:pPr algn="ctr"/>
            <a:r>
              <a:rPr sz="1400" b="1">
                <a:solidFill>
                  <a:srgbClr val="02C39A"/>
                </a:solidFill>
              </a:rPr>
              <a:t>0</a:t>
            </a:r>
          </a:p>
        </p:txBody>
      </p:sp>
      <p:sp>
        <p:nvSpPr>
          <p:cNvPr id="42" name="Rectangle 41"/>
          <p:cNvSpPr/>
          <p:nvPr/>
        </p:nvSpPr>
        <p:spPr>
          <a:xfrm>
            <a:off x="365760" y="4100000"/>
            <a:ext cx="11460480" cy="700000"/>
          </a:xfrm>
          <a:prstGeom prst="rect">
            <a:avLst/>
          </a:prstGeom>
          <a:solidFill>
            <a:srgbClr val="143C28"/>
          </a:solidFill>
          <a:ln w="6350">
            <a:solidFill>
              <a:srgbClr val="02C3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85760" y="4200000"/>
            <a:ext cx="11220480" cy="500000"/>
          </a:xfrm>
          <a:prstGeom prst="rect">
            <a:avLst/>
          </a:prstGeom>
          <a:noFill/>
        </p:spPr>
        <p:txBody>
          <a:bodyPr wrap="square">
            <a:spAutoFit/>
          </a:bodyPr>
          <a:lstStyle/>
          <a:p>
            <a:pPr algn="l"/>
            <a:r>
              <a:rPr sz="1300" b="0">
                <a:solidFill>
                  <a:srgbClr val="FFFFFF"/>
                </a:solidFill>
              </a:rPr>
              <a:t>Key insight: Removing delta/delta2 features drops F1 by 10.2% (73.5% to 63.3%), proving temporal dynamics are critical. Adding delta2 on top of delta gives only +0.1% gain (73.4% to 73.5%).</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020617"/>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38BDF8"/>
          </a:solidFill>
          <a:ln w="12700">
            <a:solidFill>
              <a:srgbClr val="38BDF8"/>
            </a:solidFill>
            <a:prstDash val="solid"/>
          </a:ln>
        </p:spPr>
      </p:sp>
      <p:sp>
        <p:nvSpPr>
          <p:cNvPr id="3" name="Text 1"/>
          <p:cNvSpPr/>
          <p:nvPr/>
        </p:nvSpPr>
        <p:spPr>
          <a:xfrm>
            <a:off x="457200" y="91440"/>
            <a:ext cx="11274552" cy="658368"/>
          </a:xfrm>
          <a:prstGeom prst="rect">
            <a:avLst/>
          </a:prstGeom>
          <a:noFill/>
          <a:ln/>
        </p:spPr>
        <p:txBody>
          <a:bodyPr wrap="square" rtlCol="0" anchor="ctr"/>
          <a:lstStyle/>
          <a:p>
            <a:pPr marL="0" indent="0" algn="r">
              <a:buNone/>
            </a:pPr>
            <a:r>
              <a:rPr lang="en-US" sz="2600" b="1" dirty="0">
                <a:solidFill>
                  <a:srgbClr val="38BDF8"/>
                </a:solidFill>
                <a:latin typeface="Calibri" pitchFamily="34" charset="0"/>
                <a:ea typeface="Calibri" pitchFamily="34" charset="-122"/>
                <a:cs typeface="Calibri" pitchFamily="34" charset="-120"/>
              </a:rPr>
              <a:t>Model Training &amp; Selection</a:t>
            </a:r>
            <a:endParaRPr lang="en-US" sz="2600" dirty="0"/>
          </a:p>
        </p:txBody>
      </p:sp>
      <p:sp>
        <p:nvSpPr>
          <p:cNvPr id="4" name="Text 2"/>
          <p:cNvSpPr/>
          <p:nvPr/>
        </p:nvSpPr>
        <p:spPr>
          <a:xfrm>
            <a:off x="457200" y="749808"/>
            <a:ext cx="11274552" cy="292608"/>
          </a:xfrm>
          <a:prstGeom prst="rect">
            <a:avLst/>
          </a:prstGeom>
          <a:noFill/>
          <a:ln/>
        </p:spPr>
        <p:txBody>
          <a:bodyPr wrap="square" rtlCol="0" anchor="ctr"/>
          <a:lstStyle/>
          <a:p>
            <a:pPr marL="0" indent="0" algn="r">
              <a:buNone/>
            </a:pPr>
            <a:r>
              <a:rPr lang="en-US" sz="1450" dirty="0">
                <a:solidFill>
                  <a:srgbClr val="8FBCDA"/>
                </a:solidFill>
                <a:latin typeface="Calibri" pitchFamily="34" charset="0"/>
                <a:ea typeface="Calibri" pitchFamily="34" charset="-122"/>
                <a:cs typeface="Calibri" pitchFamily="34" charset="-120"/>
              </a:rPr>
              <a:t>10 classifiers, randomized search, two-phase evaluation</a:t>
            </a:r>
            <a:endParaRPr lang="en-US" sz="1450" dirty="0"/>
          </a:p>
        </p:txBody>
      </p:sp>
      <p:sp>
        <p:nvSpPr>
          <p:cNvPr id="5" name="Text 3"/>
          <p:cNvSpPr/>
          <p:nvPr/>
        </p:nvSpPr>
        <p:spPr>
          <a:xfrm>
            <a:off x="365760" y="6601968"/>
            <a:ext cx="11457432" cy="201168"/>
          </a:xfrm>
          <a:prstGeom prst="rect">
            <a:avLst/>
          </a:prstGeom>
          <a:noFill/>
          <a:ln/>
        </p:spPr>
        <p:txBody>
          <a:bodyPr wrap="square" rtlCol="0" anchor="ctr"/>
          <a:lstStyle/>
          <a:p>
            <a:pPr marL="0" indent="0" algn="r">
              <a:buNone/>
            </a:pPr>
            <a:r>
              <a:rPr lang="en-US" sz="1050" dirty="0">
                <a:solidFill>
                  <a:srgbClr val="1A3A5F"/>
                </a:solidFill>
                <a:latin typeface="Calibri" pitchFamily="34" charset="0"/>
                <a:ea typeface="Calibri" pitchFamily="34" charset="-122"/>
                <a:cs typeface="Calibri" pitchFamily="34" charset="-120"/>
              </a:rPr>
              <a:t>Model Training</a:t>
            </a:r>
            <a:endParaRPr lang="en-US" sz="1050" dirty="0"/>
          </a:p>
        </p:txBody>
      </p:sp>
      <p:sp>
        <p:nvSpPr>
          <p:cNvPr id="6" name="Shape 4"/>
          <p:cNvSpPr/>
          <p:nvPr/>
        </p:nvSpPr>
        <p:spPr>
          <a:xfrm>
            <a:off x="365760" y="1115568"/>
            <a:ext cx="3703320" cy="5468112"/>
          </a:xfrm>
          <a:prstGeom prst="rect">
            <a:avLst/>
          </a:prstGeom>
          <a:solidFill>
            <a:srgbClr val="0A1628"/>
          </a:solidFill>
          <a:ln w="12700">
            <a:solidFill>
              <a:srgbClr val="1E3A5F"/>
            </a:solidFill>
            <a:prstDash val="solid"/>
          </a:ln>
        </p:spPr>
      </p:sp>
      <p:sp>
        <p:nvSpPr>
          <p:cNvPr id="7" name="Shape 5"/>
          <p:cNvSpPr/>
          <p:nvPr/>
        </p:nvSpPr>
        <p:spPr>
          <a:xfrm>
            <a:off x="365760" y="1115568"/>
            <a:ext cx="3703320" cy="36576"/>
          </a:xfrm>
          <a:prstGeom prst="rect">
            <a:avLst/>
          </a:prstGeom>
          <a:solidFill>
            <a:srgbClr val="38BDF8"/>
          </a:solidFill>
          <a:ln w="12700">
            <a:solidFill>
              <a:srgbClr val="38BDF8"/>
            </a:solidFill>
            <a:prstDash val="solid"/>
          </a:ln>
        </p:spPr>
      </p:sp>
      <p:sp>
        <p:nvSpPr>
          <p:cNvPr id="8" name="Text 6"/>
          <p:cNvSpPr/>
          <p:nvPr/>
        </p:nvSpPr>
        <p:spPr>
          <a:xfrm>
            <a:off x="457200" y="1188720"/>
            <a:ext cx="3520440" cy="475488"/>
          </a:xfrm>
          <a:prstGeom prst="rect">
            <a:avLst/>
          </a:prstGeom>
          <a:noFill/>
          <a:ln/>
        </p:spPr>
        <p:txBody>
          <a:bodyPr wrap="square" rtlCol="0" anchor="ctr"/>
          <a:lstStyle/>
          <a:p>
            <a:pPr marL="0" indent="0">
              <a:buNone/>
            </a:pPr>
            <a:r>
              <a:rPr lang="en-US" sz="1500" b="1" dirty="0">
                <a:solidFill>
                  <a:srgbClr val="38BDF8"/>
                </a:solidFill>
                <a:latin typeface="Calibri" pitchFamily="34" charset="0"/>
                <a:ea typeface="Calibri" pitchFamily="34" charset="-122"/>
                <a:cs typeface="Calibri" pitchFamily="34" charset="-120"/>
              </a:rPr>
              <a:t>Phase 1: Hyperparameter Search</a:t>
            </a:r>
            <a:endParaRPr lang="en-US" sz="1500" dirty="0"/>
          </a:p>
        </p:txBody>
      </p:sp>
      <p:sp>
        <p:nvSpPr>
          <p:cNvPr id="9" name="Text 7"/>
          <p:cNvSpPr/>
          <p:nvPr/>
        </p:nvSpPr>
        <p:spPr>
          <a:xfrm>
            <a:off x="457200" y="1737360"/>
            <a:ext cx="3520440" cy="4736592"/>
          </a:xfrm>
          <a:prstGeom prst="rect">
            <a:avLst/>
          </a:prstGeom>
          <a:noFill/>
          <a:ln/>
        </p:spPr>
        <p:txBody>
          <a:bodyPr wrap="square" rtlCol="0" anchor="t"/>
          <a:lstStyle/>
          <a:p>
            <a:pPr marL="0" indent="0">
              <a:buNone/>
            </a:pPr>
            <a:r>
              <a:rPr lang="en-US" sz="1300" dirty="0">
                <a:solidFill>
                  <a:srgbClr val="8FBCDA"/>
                </a:solidFill>
                <a:latin typeface="Calibri" pitchFamily="34" charset="0"/>
                <a:ea typeface="Calibri" pitchFamily="34" charset="-122"/>
                <a:cs typeface="Calibri" pitchFamily="34" charset="-120"/>
              </a:rPr>
              <a:t>RandomizedSearchCV with 10 iterations per model family, scored on F1.</a:t>
            </a:r>
            <a:endParaRPr lang="en-US" sz="1300" dirty="0"/>
          </a:p>
          <a:p>
            <a:pPr marL="0" indent="0">
              <a:buNone/>
            </a:pPr>
            <a:endParaRPr lang="en-US" sz="1300" dirty="0"/>
          </a:p>
          <a:p>
            <a:pPr marL="0" indent="0">
              <a:buNone/>
            </a:pPr>
            <a:r>
              <a:rPr lang="en-US" sz="1300" dirty="0">
                <a:solidFill>
                  <a:srgbClr val="8FBCDA"/>
                </a:solidFill>
                <a:latin typeface="Calibri" pitchFamily="34" charset="0"/>
                <a:ea typeface="Calibri" pitchFamily="34" charset="-122"/>
                <a:cs typeface="Calibri" pitchFamily="34" charset="-120"/>
              </a:rPr>
              <a:t>GroupKFold (5 splits) on (cup, file) groups — no recording ever appears in both train and test folds.</a:t>
            </a:r>
            <a:endParaRPr lang="en-US" sz="1300" dirty="0"/>
          </a:p>
          <a:p>
            <a:pPr marL="0" indent="0">
              <a:buNone/>
            </a:pPr>
            <a:endParaRPr lang="en-US" sz="1300" dirty="0"/>
          </a:p>
          <a:p>
            <a:pPr marL="0" indent="0">
              <a:buNone/>
            </a:pPr>
            <a:r>
              <a:rPr lang="en-US" sz="1300" dirty="0">
                <a:solidFill>
                  <a:srgbClr val="8FBCDA"/>
                </a:solidFill>
                <a:latin typeface="Calibri" pitchFamily="34" charset="0"/>
                <a:ea typeface="Calibri" pitchFamily="34" charset="-122"/>
                <a:cs typeface="Calibri" pitchFamily="34" charset="-120"/>
              </a:rPr>
              <a:t>Models evaluated:</a:t>
            </a:r>
            <a:endParaRPr lang="en-US" sz="1300" dirty="0"/>
          </a:p>
          <a:p>
            <a:pPr marL="0" indent="0">
              <a:buNone/>
            </a:pPr>
            <a:r>
              <a:rPr lang="en-US" sz="1300" dirty="0">
                <a:solidFill>
                  <a:srgbClr val="8FBCDA"/>
                </a:solidFill>
                <a:latin typeface="Calibri" pitchFamily="34" charset="0"/>
                <a:ea typeface="Calibri" pitchFamily="34" charset="-122"/>
                <a:cs typeface="Calibri" pitchFamily="34" charset="-120"/>
              </a:rPr>
              <a:t>LightGBM, XGBoost, GradientBoosting, RandomForest, ExtraTrees, HistGradBoost, KNN, SVC, Logistic Regression, AdaBoost</a:t>
            </a:r>
            <a:endParaRPr lang="en-US" sz="1300" dirty="0"/>
          </a:p>
        </p:txBody>
      </p:sp>
      <p:sp>
        <p:nvSpPr>
          <p:cNvPr id="10" name="Shape 8"/>
          <p:cNvSpPr/>
          <p:nvPr/>
        </p:nvSpPr>
        <p:spPr>
          <a:xfrm>
            <a:off x="4206240" y="1115568"/>
            <a:ext cx="3703320" cy="5468112"/>
          </a:xfrm>
          <a:prstGeom prst="rect">
            <a:avLst/>
          </a:prstGeom>
          <a:solidFill>
            <a:srgbClr val="0A1628"/>
          </a:solidFill>
          <a:ln w="12700">
            <a:solidFill>
              <a:srgbClr val="1E3A5F"/>
            </a:solidFill>
            <a:prstDash val="solid"/>
          </a:ln>
        </p:spPr>
      </p:sp>
      <p:sp>
        <p:nvSpPr>
          <p:cNvPr id="11" name="Shape 9"/>
          <p:cNvSpPr/>
          <p:nvPr/>
        </p:nvSpPr>
        <p:spPr>
          <a:xfrm>
            <a:off x="4206240" y="1115568"/>
            <a:ext cx="3703320" cy="36576"/>
          </a:xfrm>
          <a:prstGeom prst="rect">
            <a:avLst/>
          </a:prstGeom>
          <a:solidFill>
            <a:srgbClr val="38BDF8"/>
          </a:solidFill>
          <a:ln w="12700">
            <a:solidFill>
              <a:srgbClr val="38BDF8"/>
            </a:solidFill>
            <a:prstDash val="solid"/>
          </a:ln>
        </p:spPr>
      </p:sp>
      <p:sp>
        <p:nvSpPr>
          <p:cNvPr id="12" name="Text 10"/>
          <p:cNvSpPr/>
          <p:nvPr/>
        </p:nvSpPr>
        <p:spPr>
          <a:xfrm>
            <a:off x="4297680" y="1188720"/>
            <a:ext cx="3520440" cy="475488"/>
          </a:xfrm>
          <a:prstGeom prst="rect">
            <a:avLst/>
          </a:prstGeom>
          <a:noFill/>
          <a:ln/>
        </p:spPr>
        <p:txBody>
          <a:bodyPr wrap="square" rtlCol="0" anchor="ctr"/>
          <a:lstStyle/>
          <a:p>
            <a:pPr marL="0" indent="0">
              <a:buNone/>
            </a:pPr>
            <a:r>
              <a:rPr lang="en-US" sz="1500" b="1" dirty="0">
                <a:solidFill>
                  <a:srgbClr val="38BDF8"/>
                </a:solidFill>
                <a:latin typeface="Calibri" pitchFamily="34" charset="0"/>
                <a:ea typeface="Calibri" pitchFamily="34" charset="-122"/>
                <a:cs typeface="Calibri" pitchFamily="34" charset="-120"/>
              </a:rPr>
              <a:t>Phase 2: Stop-Detection Simulation</a:t>
            </a:r>
            <a:endParaRPr lang="en-US" sz="1500" dirty="0"/>
          </a:p>
        </p:txBody>
      </p:sp>
      <p:sp>
        <p:nvSpPr>
          <p:cNvPr id="13" name="Text 11"/>
          <p:cNvSpPr/>
          <p:nvPr/>
        </p:nvSpPr>
        <p:spPr>
          <a:xfrm>
            <a:off x="4297680" y="1737360"/>
            <a:ext cx="3520440" cy="4736592"/>
          </a:xfrm>
          <a:prstGeom prst="rect">
            <a:avLst/>
          </a:prstGeom>
          <a:noFill/>
          <a:ln/>
        </p:spPr>
        <p:txBody>
          <a:bodyPr wrap="square" rtlCol="0" anchor="t"/>
          <a:lstStyle/>
          <a:p>
            <a:pPr marL="0" indent="0">
              <a:buNone/>
            </a:pPr>
            <a:r>
              <a:rPr lang="en-US" sz="1300" dirty="0">
                <a:solidFill>
                  <a:srgbClr val="8FBCDA"/>
                </a:solidFill>
                <a:latin typeface="Calibri" pitchFamily="34" charset="0"/>
                <a:ea typeface="Calibri" pitchFamily="34" charset="-122"/>
                <a:cs typeface="Calibri" pitchFamily="34" charset="-120"/>
              </a:rPr>
              <a:t>Each tuned model is re-evaluated by simulating the full real-time stop logic:</a:t>
            </a:r>
            <a:endParaRPr lang="en-US" sz="1300" dirty="0"/>
          </a:p>
          <a:p>
            <a:pPr marL="0" indent="0">
              <a:buNone/>
            </a:pPr>
            <a:endParaRPr lang="en-US" sz="1300" dirty="0"/>
          </a:p>
          <a:p>
            <a:pPr marL="0" indent="0">
              <a:buNone/>
            </a:pPr>
            <a:r>
              <a:rPr lang="en-US" sz="1300" dirty="0">
                <a:solidFill>
                  <a:srgbClr val="8FBCDA"/>
                </a:solidFill>
                <a:latin typeface="Calibri" pitchFamily="34" charset="0"/>
                <a:ea typeface="Calibri" pitchFamily="34" charset="-122"/>
                <a:cs typeface="Calibri" pitchFamily="34" charset="-120"/>
              </a:rPr>
              <a:t>1. Predict probability for each test frame</a:t>
            </a:r>
            <a:endParaRPr lang="en-US" sz="1300" dirty="0"/>
          </a:p>
          <a:p>
            <a:pPr marL="0" indent="0">
              <a:buNone/>
            </a:pPr>
            <a:r>
              <a:rPr lang="en-US" sz="1300" dirty="0">
                <a:solidFill>
                  <a:srgbClr val="8FBCDA"/>
                </a:solidFill>
                <a:latin typeface="Calibri" pitchFamily="34" charset="0"/>
                <a:ea typeface="Calibri" pitchFamily="34" charset="-122"/>
                <a:cs typeface="Calibri" pitchFamily="34" charset="-120"/>
              </a:rPr>
              <a:t>2. Apply 10-frame causal rolling average</a:t>
            </a:r>
            <a:endParaRPr lang="en-US" sz="1300" dirty="0"/>
          </a:p>
          <a:p>
            <a:pPr marL="0" indent="0">
              <a:buNone/>
            </a:pPr>
            <a:r>
              <a:rPr lang="en-US" sz="1300" dirty="0">
                <a:solidFill>
                  <a:srgbClr val="8FBCDA"/>
                </a:solidFill>
                <a:latin typeface="Calibri" pitchFamily="34" charset="0"/>
                <a:ea typeface="Calibri" pitchFamily="34" charset="-122"/>
                <a:cs typeface="Calibri" pitchFamily="34" charset="-120"/>
              </a:rPr>
              <a:t>3. Find first frame where avg_prob ≥ 0.35</a:t>
            </a:r>
            <a:endParaRPr lang="en-US" sz="1300" dirty="0"/>
          </a:p>
          <a:p>
            <a:pPr marL="0" indent="0">
              <a:buNone/>
            </a:pPr>
            <a:r>
              <a:rPr lang="en-US" sz="1300" dirty="0">
                <a:solidFill>
                  <a:srgbClr val="8FBCDA"/>
                </a:solidFill>
                <a:latin typeface="Calibri" pitchFamily="34" charset="0"/>
                <a:ea typeface="Calibri" pitchFamily="34" charset="-122"/>
                <a:cs typeface="Calibri" pitchFamily="34" charset="-120"/>
              </a:rPr>
              <a:t>4. Compute Δt = t_stop − t_target (90% fill time)</a:t>
            </a:r>
            <a:endParaRPr lang="en-US" sz="1300" dirty="0"/>
          </a:p>
          <a:p>
            <a:pPr marL="0" indent="0">
              <a:buNone/>
            </a:pPr>
            <a:endParaRPr lang="en-US" sz="1300" dirty="0"/>
          </a:p>
          <a:p>
            <a:pPr marL="0" indent="0">
              <a:buNone/>
            </a:pPr>
            <a:r>
              <a:rPr lang="en-US" sz="1300" dirty="0">
                <a:solidFill>
                  <a:srgbClr val="8FBCDA"/>
                </a:solidFill>
                <a:latin typeface="Calibri" pitchFamily="34" charset="0"/>
                <a:ea typeface="Calibri" pitchFamily="34" charset="-122"/>
                <a:cs typeface="Calibri" pitchFamily="34" charset="-120"/>
              </a:rPr>
              <a:t>Metrics: F1, AUC-ROC, Precision, Recall, count of Early / Late / Never stops</a:t>
            </a:r>
            <a:endParaRPr lang="en-US" sz="1300" dirty="0"/>
          </a:p>
        </p:txBody>
      </p:sp>
      <p:sp>
        <p:nvSpPr>
          <p:cNvPr id="14" name="Shape 12"/>
          <p:cNvSpPr/>
          <p:nvPr/>
        </p:nvSpPr>
        <p:spPr>
          <a:xfrm>
            <a:off x="8046720" y="1115568"/>
            <a:ext cx="3703320" cy="5468112"/>
          </a:xfrm>
          <a:prstGeom prst="rect">
            <a:avLst/>
          </a:prstGeom>
          <a:solidFill>
            <a:srgbClr val="0A1628"/>
          </a:solidFill>
          <a:ln w="12700">
            <a:solidFill>
              <a:srgbClr val="1E3A5F"/>
            </a:solidFill>
            <a:prstDash val="solid"/>
          </a:ln>
        </p:spPr>
      </p:sp>
      <p:sp>
        <p:nvSpPr>
          <p:cNvPr id="15" name="Shape 13"/>
          <p:cNvSpPr/>
          <p:nvPr/>
        </p:nvSpPr>
        <p:spPr>
          <a:xfrm>
            <a:off x="8046720" y="1115568"/>
            <a:ext cx="3703320" cy="36576"/>
          </a:xfrm>
          <a:prstGeom prst="rect">
            <a:avLst/>
          </a:prstGeom>
          <a:solidFill>
            <a:srgbClr val="34D399"/>
          </a:solidFill>
          <a:ln w="12700">
            <a:solidFill>
              <a:srgbClr val="34D399"/>
            </a:solidFill>
            <a:prstDash val="solid"/>
          </a:ln>
        </p:spPr>
      </p:sp>
      <p:sp>
        <p:nvSpPr>
          <p:cNvPr id="16" name="Text 14"/>
          <p:cNvSpPr/>
          <p:nvPr/>
        </p:nvSpPr>
        <p:spPr>
          <a:xfrm>
            <a:off x="8138160" y="1188720"/>
            <a:ext cx="3520440" cy="475488"/>
          </a:xfrm>
          <a:prstGeom prst="rect">
            <a:avLst/>
          </a:prstGeom>
          <a:noFill/>
          <a:ln/>
        </p:spPr>
        <p:txBody>
          <a:bodyPr wrap="square" rtlCol="0" anchor="ctr"/>
          <a:lstStyle/>
          <a:p>
            <a:pPr marL="0" indent="0">
              <a:buNone/>
            </a:pPr>
            <a:r>
              <a:rPr lang="en-US" sz="1500" b="1" dirty="0">
                <a:solidFill>
                  <a:srgbClr val="34D399"/>
                </a:solidFill>
                <a:latin typeface="Calibri" pitchFamily="34" charset="0"/>
                <a:ea typeface="Calibri" pitchFamily="34" charset="-122"/>
                <a:cs typeface="Calibri" pitchFamily="34" charset="-120"/>
              </a:rPr>
              <a:t>Selection Criterion (Composite Score)</a:t>
            </a:r>
            <a:endParaRPr lang="en-US" sz="1500" dirty="0"/>
          </a:p>
        </p:txBody>
      </p:sp>
      <p:sp>
        <p:nvSpPr>
          <p:cNvPr id="17" name="Text 15"/>
          <p:cNvSpPr/>
          <p:nvPr/>
        </p:nvSpPr>
        <p:spPr>
          <a:xfrm>
            <a:off x="8138160" y="1737360"/>
            <a:ext cx="3520440" cy="4736592"/>
          </a:xfrm>
          <a:prstGeom prst="rect">
            <a:avLst/>
          </a:prstGeom>
          <a:noFill/>
          <a:ln/>
        </p:spPr>
        <p:txBody>
          <a:bodyPr wrap="square" rtlCol="0" anchor="t"/>
          <a:lstStyle/>
          <a:p>
            <a:pPr marL="0" indent="0">
              <a:buNone/>
            </a:pPr>
            <a:r>
              <a:rPr lang="en-US" sz="1300" dirty="0">
                <a:solidFill>
                  <a:srgbClr val="8FBCDA"/>
                </a:solidFill>
                <a:latin typeface="Calibri" pitchFamily="34" charset="0"/>
                <a:ea typeface="Calibri" pitchFamily="34" charset="-122"/>
                <a:cs typeface="Calibri" pitchFamily="34" charset="-120"/>
              </a:rPr>
              <a:t>Custom safety-weighted score:</a:t>
            </a:r>
            <a:endParaRPr lang="en-US" sz="1300" dirty="0"/>
          </a:p>
          <a:p>
            <a:pPr marL="0" indent="0">
              <a:buNone/>
            </a:pPr>
            <a:endParaRPr lang="en-US" sz="1300" dirty="0"/>
          </a:p>
          <a:p>
            <a:r>
              <a:rPr lang="en-US" sz="1300" dirty="0">
                <a:solidFill>
                  <a:srgbClr val="8FBCDA"/>
                </a:solidFill>
                <a:latin typeface="Calibri" pitchFamily="34" charset="0"/>
                <a:ea typeface="Calibri" pitchFamily="34" charset="-122"/>
                <a:cs typeface="Calibri" pitchFamily="34" charset="-120"/>
              </a:rPr>
              <a:t>score = F1 − 0.10 × late_rate − 0.02 × |</a:t>
            </a:r>
            <a:r>
              <a:rPr lang="en-US" sz="1300" dirty="0" err="1">
                <a:solidFill>
                  <a:srgbClr val="8FBCDA"/>
                </a:solidFill>
                <a:latin typeface="Calibri" pitchFamily="34" charset="0"/>
                <a:ea typeface="Calibri" pitchFamily="34" charset="-122"/>
                <a:cs typeface="Calibri" pitchFamily="34" charset="-120"/>
              </a:rPr>
              <a:t>Δt_mean</a:t>
            </a:r>
            <a:r>
              <a:rPr lang="en-US" sz="1300" dirty="0">
                <a:solidFill>
                  <a:srgbClr val="8FBCDA"/>
                </a:solidFill>
                <a:latin typeface="Calibri" pitchFamily="34" charset="0"/>
                <a:ea typeface="Calibri" pitchFamily="34" charset="-122"/>
                <a:cs typeface="Calibri" pitchFamily="34" charset="-120"/>
              </a:rPr>
              <a:t>|</a:t>
            </a:r>
            <a:endParaRPr lang="en-US" sz="1300" dirty="0"/>
          </a:p>
          <a:p>
            <a:pPr marL="0" indent="0">
              <a:buNone/>
            </a:pPr>
            <a:r>
              <a:rPr lang="en-US" sz="1300" dirty="0">
                <a:solidFill>
                  <a:srgbClr val="8FBCDA"/>
                </a:solidFill>
                <a:latin typeface="Calibri" pitchFamily="34" charset="0"/>
                <a:ea typeface="Calibri" pitchFamily="34" charset="-122"/>
                <a:cs typeface="Calibri" pitchFamily="34" charset="-120"/>
              </a:rPr>
              <a:t> </a:t>
            </a:r>
            <a:endParaRPr lang="en-US" sz="1300" dirty="0"/>
          </a:p>
          <a:p>
            <a:pPr marL="0" indent="0">
              <a:buNone/>
            </a:pPr>
            <a:r>
              <a:rPr lang="en-US" sz="1300" dirty="0">
                <a:solidFill>
                  <a:srgbClr val="8FBCDA"/>
                </a:solidFill>
                <a:latin typeface="Calibri" pitchFamily="34" charset="0"/>
                <a:ea typeface="Calibri" pitchFamily="34" charset="-122"/>
                <a:cs typeface="Calibri" pitchFamily="34" charset="-120"/>
              </a:rPr>
              <a:t>Late stops (overflow risk) are penalized 5× more heavily than just missing F1. This formula picks a model that is both accurate and safe, not just maximally precise.</a:t>
            </a:r>
            <a:endParaRPr lang="en-US" sz="1300" dirty="0"/>
          </a:p>
          <a:p>
            <a:pPr marL="0" indent="0">
              <a:buNone/>
            </a:pPr>
            <a:endParaRPr lang="en-US" sz="1300" dirty="0"/>
          </a:p>
          <a:p>
            <a:pPr marL="0" indent="0">
              <a:buNone/>
            </a:pPr>
            <a:r>
              <a:rPr lang="en-US" sz="1300" dirty="0">
                <a:solidFill>
                  <a:srgbClr val="8FBCDA"/>
                </a:solidFill>
                <a:latin typeface="Calibri" pitchFamily="34" charset="0"/>
                <a:ea typeface="Calibri" pitchFamily="34" charset="-122"/>
                <a:cs typeface="Calibri" pitchFamily="34" charset="-120"/>
              </a:rPr>
              <a:t>Winner: LightGBM</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020617"/>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38BDF8"/>
          </a:solidFill>
          <a:ln w="12700">
            <a:solidFill>
              <a:srgbClr val="38BDF8"/>
            </a:solidFill>
            <a:prstDash val="solid"/>
          </a:ln>
        </p:spPr>
      </p:sp>
      <p:sp>
        <p:nvSpPr>
          <p:cNvPr id="3" name="Text 1"/>
          <p:cNvSpPr/>
          <p:nvPr/>
        </p:nvSpPr>
        <p:spPr>
          <a:xfrm>
            <a:off x="457200" y="91440"/>
            <a:ext cx="11274552" cy="658368"/>
          </a:xfrm>
          <a:prstGeom prst="rect">
            <a:avLst/>
          </a:prstGeom>
          <a:noFill/>
          <a:ln/>
        </p:spPr>
        <p:txBody>
          <a:bodyPr wrap="square" rtlCol="0" anchor="ctr"/>
          <a:lstStyle/>
          <a:p>
            <a:pPr marL="0" indent="0" algn="r">
              <a:buNone/>
            </a:pPr>
            <a:r>
              <a:rPr lang="en-US" sz="2600" b="1" dirty="0">
                <a:solidFill>
                  <a:srgbClr val="38BDF8"/>
                </a:solidFill>
                <a:latin typeface="Calibri" pitchFamily="34" charset="0"/>
                <a:ea typeface="Calibri" pitchFamily="34" charset="-122"/>
                <a:cs typeface="Calibri" pitchFamily="34" charset="-120"/>
              </a:rPr>
              <a:t>Model Comparison — Full Dataset</a:t>
            </a:r>
            <a:endParaRPr lang="en-US" sz="2600" dirty="0"/>
          </a:p>
        </p:txBody>
      </p:sp>
      <p:sp>
        <p:nvSpPr>
          <p:cNvPr id="4" name="Text 2"/>
          <p:cNvSpPr/>
          <p:nvPr/>
        </p:nvSpPr>
        <p:spPr>
          <a:xfrm>
            <a:off x="457200" y="749808"/>
            <a:ext cx="11274552" cy="292608"/>
          </a:xfrm>
          <a:prstGeom prst="rect">
            <a:avLst/>
          </a:prstGeom>
          <a:noFill/>
          <a:ln/>
        </p:spPr>
        <p:txBody>
          <a:bodyPr wrap="square" rtlCol="0" anchor="ctr"/>
          <a:lstStyle/>
          <a:p>
            <a:pPr marL="0" indent="0" algn="r">
              <a:buNone/>
            </a:pPr>
            <a:r>
              <a:rPr lang="en-US" sz="1450" dirty="0">
                <a:solidFill>
                  <a:srgbClr val="8FBCDA"/>
                </a:solidFill>
                <a:latin typeface="Calibri" pitchFamily="34" charset="0"/>
                <a:ea typeface="Calibri" pitchFamily="34" charset="-122"/>
                <a:cs typeface="Calibri" pitchFamily="34" charset="-120"/>
              </a:rPr>
              <a:t>All models evaluated with GroupKFold + rolling-average stop simulation</a:t>
            </a:r>
            <a:endParaRPr lang="en-US" sz="1450" dirty="0"/>
          </a:p>
        </p:txBody>
      </p:sp>
      <p:sp>
        <p:nvSpPr>
          <p:cNvPr id="5" name="Text 3"/>
          <p:cNvSpPr/>
          <p:nvPr/>
        </p:nvSpPr>
        <p:spPr>
          <a:xfrm>
            <a:off x="365760" y="6601968"/>
            <a:ext cx="11457432" cy="201168"/>
          </a:xfrm>
          <a:prstGeom prst="rect">
            <a:avLst/>
          </a:prstGeom>
          <a:noFill/>
          <a:ln/>
        </p:spPr>
        <p:txBody>
          <a:bodyPr wrap="square" rtlCol="0" anchor="ctr"/>
          <a:lstStyle/>
          <a:p>
            <a:pPr marL="0" indent="0" algn="r">
              <a:buNone/>
            </a:pPr>
            <a:r>
              <a:rPr lang="en-US" sz="1050" dirty="0">
                <a:solidFill>
                  <a:srgbClr val="1A3A5F"/>
                </a:solidFill>
                <a:latin typeface="Calibri" pitchFamily="34" charset="0"/>
                <a:ea typeface="Calibri" pitchFamily="34" charset="-122"/>
                <a:cs typeface="Calibri" pitchFamily="34" charset="-120"/>
              </a:rPr>
              <a:t>Model Comparison</a:t>
            </a:r>
            <a:endParaRPr lang="en-US" sz="1050" dirty="0"/>
          </a:p>
        </p:txBody>
      </p:sp>
      <p:pic>
        <p:nvPicPr>
          <p:cNvPr id="6" name="Image 0" descr="C:\waterOverFlow\models\model_comparison.png"/>
          <p:cNvPicPr>
            <a:picLocks noChangeAspect="1"/>
          </p:cNvPicPr>
          <p:nvPr/>
        </p:nvPicPr>
        <p:blipFill>
          <a:blip r:embed="rId3"/>
          <a:stretch>
            <a:fillRect/>
          </a:stretch>
        </p:blipFill>
        <p:spPr>
          <a:xfrm>
            <a:off x="365760" y="1097280"/>
            <a:ext cx="7863840" cy="5212080"/>
          </a:xfrm>
          <a:prstGeom prst="rect">
            <a:avLst/>
          </a:prstGeom>
        </p:spPr>
      </p:pic>
      <p:sp>
        <p:nvSpPr>
          <p:cNvPr id="7" name="Shape 4"/>
          <p:cNvSpPr/>
          <p:nvPr/>
        </p:nvSpPr>
        <p:spPr>
          <a:xfrm>
            <a:off x="8412480" y="1097280"/>
            <a:ext cx="3429000" cy="5212080"/>
          </a:xfrm>
          <a:prstGeom prst="rect">
            <a:avLst/>
          </a:prstGeom>
          <a:solidFill>
            <a:srgbClr val="0A1628"/>
          </a:solidFill>
          <a:ln w="12700">
            <a:solidFill>
              <a:srgbClr val="1E3A5F"/>
            </a:solidFill>
            <a:prstDash val="solid"/>
          </a:ln>
        </p:spPr>
      </p:sp>
      <p:sp>
        <p:nvSpPr>
          <p:cNvPr id="8" name="Text 5"/>
          <p:cNvSpPr/>
          <p:nvPr/>
        </p:nvSpPr>
        <p:spPr>
          <a:xfrm>
            <a:off x="8549640" y="1188720"/>
            <a:ext cx="3154680" cy="384048"/>
          </a:xfrm>
          <a:prstGeom prst="rect">
            <a:avLst/>
          </a:prstGeom>
          <a:noFill/>
          <a:ln/>
        </p:spPr>
        <p:txBody>
          <a:bodyPr wrap="square" rtlCol="0" anchor="ctr"/>
          <a:lstStyle/>
          <a:p>
            <a:pPr marL="0" indent="0">
              <a:buNone/>
            </a:pPr>
            <a:r>
              <a:rPr lang="en-US" sz="1600" b="1" dirty="0">
                <a:solidFill>
                  <a:srgbClr val="34D399"/>
                </a:solidFill>
                <a:latin typeface="Calibri" pitchFamily="34" charset="0"/>
                <a:ea typeface="Calibri" pitchFamily="34" charset="-122"/>
                <a:cs typeface="Calibri" pitchFamily="34" charset="-120"/>
              </a:rPr>
              <a:t>Winner: LightGBM</a:t>
            </a:r>
            <a:endParaRPr lang="en-US" sz="1600" dirty="0"/>
          </a:p>
        </p:txBody>
      </p:sp>
      <p:sp>
        <p:nvSpPr>
          <p:cNvPr id="9" name="Text 6"/>
          <p:cNvSpPr/>
          <p:nvPr/>
        </p:nvSpPr>
        <p:spPr>
          <a:xfrm>
            <a:off x="8549640" y="1719072"/>
            <a:ext cx="1920240" cy="320040"/>
          </a:xfrm>
          <a:prstGeom prst="rect">
            <a:avLst/>
          </a:prstGeom>
          <a:noFill/>
          <a:ln/>
        </p:spPr>
        <p:txBody>
          <a:bodyPr wrap="square" rtlCol="0" anchor="ctr"/>
          <a:lstStyle/>
          <a:p>
            <a:pPr marL="0" indent="0">
              <a:buNone/>
            </a:pPr>
            <a:r>
              <a:rPr lang="en-US" sz="1300" dirty="0">
                <a:solidFill>
                  <a:srgbClr val="8FBCDA"/>
                </a:solidFill>
                <a:latin typeface="Calibri" pitchFamily="34" charset="0"/>
                <a:ea typeface="Calibri" pitchFamily="34" charset="-122"/>
                <a:cs typeface="Calibri" pitchFamily="34" charset="-120"/>
              </a:rPr>
              <a:t>F1 Score</a:t>
            </a:r>
            <a:endParaRPr lang="en-US" sz="1300" dirty="0"/>
          </a:p>
        </p:txBody>
      </p:sp>
      <p:sp>
        <p:nvSpPr>
          <p:cNvPr id="10" name="Text 7"/>
          <p:cNvSpPr/>
          <p:nvPr/>
        </p:nvSpPr>
        <p:spPr>
          <a:xfrm>
            <a:off x="10469880" y="1719072"/>
            <a:ext cx="1280160" cy="320040"/>
          </a:xfrm>
          <a:prstGeom prst="rect">
            <a:avLst/>
          </a:prstGeom>
          <a:noFill/>
          <a:ln/>
        </p:spPr>
        <p:txBody>
          <a:bodyPr wrap="square" rtlCol="0" anchor="ctr"/>
          <a:lstStyle/>
          <a:p>
            <a:pPr marL="0" indent="0" algn="r">
              <a:buNone/>
            </a:pPr>
            <a:r>
              <a:rPr lang="en-US" sz="1300" b="1" dirty="0">
                <a:solidFill>
                  <a:srgbClr val="38BDF8"/>
                </a:solidFill>
                <a:latin typeface="Calibri" pitchFamily="34" charset="0"/>
                <a:ea typeface="Calibri" pitchFamily="34" charset="-122"/>
                <a:cs typeface="Calibri" pitchFamily="34" charset="-120"/>
              </a:rPr>
              <a:t>0.735</a:t>
            </a:r>
            <a:endParaRPr lang="en-US" sz="1300" dirty="0"/>
          </a:p>
        </p:txBody>
      </p:sp>
      <p:sp>
        <p:nvSpPr>
          <p:cNvPr id="11" name="Text 8"/>
          <p:cNvSpPr/>
          <p:nvPr/>
        </p:nvSpPr>
        <p:spPr>
          <a:xfrm>
            <a:off x="8549640" y="2286000"/>
            <a:ext cx="1920240" cy="320040"/>
          </a:xfrm>
          <a:prstGeom prst="rect">
            <a:avLst/>
          </a:prstGeom>
          <a:noFill/>
          <a:ln/>
        </p:spPr>
        <p:txBody>
          <a:bodyPr wrap="square" rtlCol="0" anchor="ctr"/>
          <a:lstStyle/>
          <a:p>
            <a:pPr marL="0" indent="0">
              <a:buNone/>
            </a:pPr>
            <a:r>
              <a:rPr lang="en-US" sz="1300" dirty="0">
                <a:solidFill>
                  <a:srgbClr val="8FBCDA"/>
                </a:solidFill>
                <a:latin typeface="Calibri" pitchFamily="34" charset="0"/>
                <a:ea typeface="Calibri" pitchFamily="34" charset="-122"/>
                <a:cs typeface="Calibri" pitchFamily="34" charset="-120"/>
              </a:rPr>
              <a:t>AUC-ROC</a:t>
            </a:r>
            <a:endParaRPr lang="en-US" sz="1300" dirty="0"/>
          </a:p>
        </p:txBody>
      </p:sp>
      <p:sp>
        <p:nvSpPr>
          <p:cNvPr id="12" name="Text 9"/>
          <p:cNvSpPr/>
          <p:nvPr/>
        </p:nvSpPr>
        <p:spPr>
          <a:xfrm>
            <a:off x="10469880" y="2286000"/>
            <a:ext cx="1280160" cy="320040"/>
          </a:xfrm>
          <a:prstGeom prst="rect">
            <a:avLst/>
          </a:prstGeom>
          <a:noFill/>
          <a:ln/>
        </p:spPr>
        <p:txBody>
          <a:bodyPr wrap="square" rtlCol="0" anchor="ctr"/>
          <a:lstStyle/>
          <a:p>
            <a:pPr marL="0" indent="0" algn="r">
              <a:buNone/>
            </a:pPr>
            <a:r>
              <a:rPr lang="en-US" sz="1300" b="1" dirty="0">
                <a:solidFill>
                  <a:srgbClr val="34D399"/>
                </a:solidFill>
                <a:latin typeface="Calibri" pitchFamily="34" charset="0"/>
                <a:ea typeface="Calibri" pitchFamily="34" charset="-122"/>
                <a:cs typeface="Calibri" pitchFamily="34" charset="-120"/>
              </a:rPr>
              <a:t>0.968</a:t>
            </a:r>
            <a:endParaRPr lang="en-US" sz="1300" dirty="0"/>
          </a:p>
        </p:txBody>
      </p:sp>
      <p:sp>
        <p:nvSpPr>
          <p:cNvPr id="13" name="Text 10"/>
          <p:cNvSpPr/>
          <p:nvPr/>
        </p:nvSpPr>
        <p:spPr>
          <a:xfrm>
            <a:off x="8549640" y="2852928"/>
            <a:ext cx="1920240" cy="320040"/>
          </a:xfrm>
          <a:prstGeom prst="rect">
            <a:avLst/>
          </a:prstGeom>
          <a:noFill/>
          <a:ln/>
        </p:spPr>
        <p:txBody>
          <a:bodyPr wrap="square" rtlCol="0" anchor="ctr"/>
          <a:lstStyle/>
          <a:p>
            <a:pPr marL="0" indent="0">
              <a:buNone/>
            </a:pPr>
            <a:r>
              <a:rPr lang="en-US" sz="1300" dirty="0">
                <a:solidFill>
                  <a:srgbClr val="8FBCDA"/>
                </a:solidFill>
                <a:latin typeface="Calibri" pitchFamily="34" charset="0"/>
                <a:ea typeface="Calibri" pitchFamily="34" charset="-122"/>
                <a:cs typeface="Calibri" pitchFamily="34" charset="-120"/>
              </a:rPr>
              <a:t>Precision</a:t>
            </a:r>
            <a:endParaRPr lang="en-US" sz="1300" dirty="0"/>
          </a:p>
        </p:txBody>
      </p:sp>
      <p:sp>
        <p:nvSpPr>
          <p:cNvPr id="14" name="Text 11"/>
          <p:cNvSpPr/>
          <p:nvPr/>
        </p:nvSpPr>
        <p:spPr>
          <a:xfrm>
            <a:off x="10469880" y="2852928"/>
            <a:ext cx="1280160" cy="320040"/>
          </a:xfrm>
          <a:prstGeom prst="rect">
            <a:avLst/>
          </a:prstGeom>
          <a:noFill/>
          <a:ln/>
        </p:spPr>
        <p:txBody>
          <a:bodyPr wrap="square" rtlCol="0" anchor="ctr"/>
          <a:lstStyle/>
          <a:p>
            <a:pPr marL="0" indent="0" algn="r">
              <a:buNone/>
            </a:pPr>
            <a:r>
              <a:rPr lang="en-US" sz="1300" b="1" dirty="0">
                <a:solidFill>
                  <a:srgbClr val="38BDF8"/>
                </a:solidFill>
                <a:latin typeface="Calibri" pitchFamily="34" charset="0"/>
                <a:ea typeface="Calibri" pitchFamily="34" charset="-122"/>
                <a:cs typeface="Calibri" pitchFamily="34" charset="-120"/>
              </a:rPr>
              <a:t>72.1%</a:t>
            </a:r>
            <a:endParaRPr lang="en-US" sz="1300" dirty="0"/>
          </a:p>
        </p:txBody>
      </p:sp>
      <p:sp>
        <p:nvSpPr>
          <p:cNvPr id="15" name="Text 12"/>
          <p:cNvSpPr/>
          <p:nvPr/>
        </p:nvSpPr>
        <p:spPr>
          <a:xfrm>
            <a:off x="8549640" y="3419856"/>
            <a:ext cx="1920240" cy="320040"/>
          </a:xfrm>
          <a:prstGeom prst="rect">
            <a:avLst/>
          </a:prstGeom>
          <a:noFill/>
          <a:ln/>
        </p:spPr>
        <p:txBody>
          <a:bodyPr wrap="square" rtlCol="0" anchor="ctr"/>
          <a:lstStyle/>
          <a:p>
            <a:pPr marL="0" indent="0">
              <a:buNone/>
            </a:pPr>
            <a:r>
              <a:rPr lang="en-US" sz="1300" dirty="0">
                <a:solidFill>
                  <a:srgbClr val="8FBCDA"/>
                </a:solidFill>
                <a:latin typeface="Calibri" pitchFamily="34" charset="0"/>
                <a:ea typeface="Calibri" pitchFamily="34" charset="-122"/>
                <a:cs typeface="Calibri" pitchFamily="34" charset="-120"/>
              </a:rPr>
              <a:t>Recall</a:t>
            </a:r>
            <a:endParaRPr lang="en-US" sz="1300" dirty="0"/>
          </a:p>
        </p:txBody>
      </p:sp>
      <p:sp>
        <p:nvSpPr>
          <p:cNvPr id="16" name="Text 13"/>
          <p:cNvSpPr/>
          <p:nvPr/>
        </p:nvSpPr>
        <p:spPr>
          <a:xfrm>
            <a:off x="10469880" y="3419856"/>
            <a:ext cx="1280160" cy="320040"/>
          </a:xfrm>
          <a:prstGeom prst="rect">
            <a:avLst/>
          </a:prstGeom>
          <a:noFill/>
          <a:ln/>
        </p:spPr>
        <p:txBody>
          <a:bodyPr wrap="square" rtlCol="0" anchor="ctr"/>
          <a:lstStyle/>
          <a:p>
            <a:pPr marL="0" indent="0" algn="r">
              <a:buNone/>
            </a:pPr>
            <a:r>
              <a:rPr lang="en-US" sz="1300" b="1" dirty="0">
                <a:solidFill>
                  <a:srgbClr val="38BDF8"/>
                </a:solidFill>
                <a:latin typeface="Calibri" pitchFamily="34" charset="0"/>
                <a:ea typeface="Calibri" pitchFamily="34" charset="-122"/>
                <a:cs typeface="Calibri" pitchFamily="34" charset="-120"/>
              </a:rPr>
              <a:t>75.1%</a:t>
            </a:r>
            <a:endParaRPr lang="en-US" sz="1300" dirty="0"/>
          </a:p>
        </p:txBody>
      </p:sp>
      <p:sp>
        <p:nvSpPr>
          <p:cNvPr id="17" name="Text 14"/>
          <p:cNvSpPr/>
          <p:nvPr/>
        </p:nvSpPr>
        <p:spPr>
          <a:xfrm>
            <a:off x="8549640" y="3986784"/>
            <a:ext cx="1920240" cy="320040"/>
          </a:xfrm>
          <a:prstGeom prst="rect">
            <a:avLst/>
          </a:prstGeom>
          <a:noFill/>
          <a:ln/>
        </p:spPr>
        <p:txBody>
          <a:bodyPr wrap="square" rtlCol="0" anchor="ctr"/>
          <a:lstStyle/>
          <a:p>
            <a:pPr marL="0" indent="0">
              <a:buNone/>
            </a:pPr>
            <a:r>
              <a:rPr lang="en-US" sz="1300" dirty="0">
                <a:solidFill>
                  <a:srgbClr val="8FBCDA"/>
                </a:solidFill>
                <a:latin typeface="Calibri" pitchFamily="34" charset="0"/>
                <a:ea typeface="Calibri" pitchFamily="34" charset="-122"/>
                <a:cs typeface="Calibri" pitchFamily="34" charset="-120"/>
              </a:rPr>
              <a:t>Late stops</a:t>
            </a:r>
            <a:endParaRPr lang="en-US" sz="1300" dirty="0"/>
          </a:p>
        </p:txBody>
      </p:sp>
      <p:sp>
        <p:nvSpPr>
          <p:cNvPr id="18" name="Text 15"/>
          <p:cNvSpPr/>
          <p:nvPr/>
        </p:nvSpPr>
        <p:spPr>
          <a:xfrm>
            <a:off x="10469880" y="3986784"/>
            <a:ext cx="1280160" cy="320040"/>
          </a:xfrm>
          <a:prstGeom prst="rect">
            <a:avLst/>
          </a:prstGeom>
          <a:noFill/>
          <a:ln/>
        </p:spPr>
        <p:txBody>
          <a:bodyPr wrap="square" rtlCol="0" anchor="ctr"/>
          <a:lstStyle/>
          <a:p>
            <a:pPr marL="0" indent="0" algn="r">
              <a:buNone/>
            </a:pPr>
            <a:r>
              <a:rPr lang="en-US" sz="1300" b="1" dirty="0">
                <a:solidFill>
                  <a:srgbClr val="F59E0B"/>
                </a:solidFill>
                <a:latin typeface="Calibri" pitchFamily="34" charset="0"/>
                <a:ea typeface="Calibri" pitchFamily="34" charset="-122"/>
                <a:cs typeface="Calibri" pitchFamily="34" charset="-120"/>
              </a:rPr>
              <a:t>40/120</a:t>
            </a:r>
            <a:endParaRPr lang="en-US" sz="1300" dirty="0"/>
          </a:p>
        </p:txBody>
      </p:sp>
      <p:sp>
        <p:nvSpPr>
          <p:cNvPr id="19" name="Text 16"/>
          <p:cNvSpPr/>
          <p:nvPr/>
        </p:nvSpPr>
        <p:spPr>
          <a:xfrm>
            <a:off x="8549640" y="4553712"/>
            <a:ext cx="1920240" cy="320040"/>
          </a:xfrm>
          <a:prstGeom prst="rect">
            <a:avLst/>
          </a:prstGeom>
          <a:noFill/>
          <a:ln/>
        </p:spPr>
        <p:txBody>
          <a:bodyPr wrap="square" rtlCol="0" anchor="ctr"/>
          <a:lstStyle/>
          <a:p>
            <a:pPr marL="0" indent="0">
              <a:buNone/>
            </a:pPr>
            <a:r>
              <a:rPr lang="en-US" sz="1300" dirty="0">
                <a:solidFill>
                  <a:srgbClr val="8FBCDA"/>
                </a:solidFill>
                <a:latin typeface="Calibri" pitchFamily="34" charset="0"/>
                <a:ea typeface="Calibri" pitchFamily="34" charset="-122"/>
                <a:cs typeface="Calibri" pitchFamily="34" charset="-120"/>
              </a:rPr>
              <a:t>Overflows</a:t>
            </a:r>
            <a:endParaRPr lang="en-US" sz="1300" dirty="0"/>
          </a:p>
        </p:txBody>
      </p:sp>
      <p:sp>
        <p:nvSpPr>
          <p:cNvPr id="20" name="Text 17"/>
          <p:cNvSpPr/>
          <p:nvPr/>
        </p:nvSpPr>
        <p:spPr>
          <a:xfrm>
            <a:off x="10469880" y="4553712"/>
            <a:ext cx="1280160" cy="320040"/>
          </a:xfrm>
          <a:prstGeom prst="rect">
            <a:avLst/>
          </a:prstGeom>
          <a:noFill/>
          <a:ln/>
        </p:spPr>
        <p:txBody>
          <a:bodyPr wrap="square" rtlCol="0" anchor="ctr"/>
          <a:lstStyle/>
          <a:p>
            <a:pPr marL="0" indent="0" algn="r">
              <a:buNone/>
            </a:pPr>
            <a:r>
              <a:rPr lang="en-US" sz="1300" b="1" dirty="0">
                <a:solidFill>
                  <a:srgbClr val="34D399"/>
                </a:solidFill>
                <a:latin typeface="Calibri" pitchFamily="34" charset="0"/>
                <a:ea typeface="Calibri" pitchFamily="34" charset="-122"/>
                <a:cs typeface="Calibri" pitchFamily="34" charset="-120"/>
              </a:rPr>
              <a:t>0 / 120</a:t>
            </a:r>
            <a:endParaRPr lang="en-US" sz="1300" dirty="0"/>
          </a:p>
        </p:txBody>
      </p:sp>
      <p:sp>
        <p:nvSpPr>
          <p:cNvPr id="21" name="Text 18"/>
          <p:cNvSpPr/>
          <p:nvPr/>
        </p:nvSpPr>
        <p:spPr>
          <a:xfrm>
            <a:off x="8549640" y="5321808"/>
            <a:ext cx="3154680" cy="868680"/>
          </a:xfrm>
          <a:prstGeom prst="rect">
            <a:avLst/>
          </a:prstGeom>
          <a:noFill/>
          <a:ln/>
        </p:spPr>
        <p:txBody>
          <a:bodyPr wrap="square" rtlCol="0" anchor="ctr"/>
          <a:lstStyle/>
          <a:p>
            <a:pPr marL="0" indent="0">
              <a:buNone/>
            </a:pPr>
            <a:r>
              <a:rPr lang="en-US" sz="1200" dirty="0">
                <a:solidFill>
                  <a:srgbClr val="8FBCDA"/>
                </a:solidFill>
                <a:latin typeface="Calibri" pitchFamily="34" charset="0"/>
                <a:ea typeface="Calibri" pitchFamily="34" charset="-122"/>
                <a:cs typeface="Calibri" pitchFamily="34" charset="-120"/>
              </a:rPr>
              <a:t>HistGradBoost had the fewest late stops (13) but lower F1 (0.692). The composite score favours LightGBM for best overall balance of accuracy and safety.</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020617"/>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38BDF8"/>
          </a:solidFill>
          <a:ln w="12700">
            <a:solidFill>
              <a:srgbClr val="38BDF8"/>
            </a:solidFill>
            <a:prstDash val="solid"/>
          </a:ln>
        </p:spPr>
      </p:sp>
      <p:sp>
        <p:nvSpPr>
          <p:cNvPr id="3" name="Text 1"/>
          <p:cNvSpPr/>
          <p:nvPr/>
        </p:nvSpPr>
        <p:spPr>
          <a:xfrm>
            <a:off x="457200" y="91440"/>
            <a:ext cx="11274552" cy="658368"/>
          </a:xfrm>
          <a:prstGeom prst="rect">
            <a:avLst/>
          </a:prstGeom>
          <a:noFill/>
          <a:ln/>
        </p:spPr>
        <p:txBody>
          <a:bodyPr wrap="square" rtlCol="0" anchor="ctr"/>
          <a:lstStyle/>
          <a:p>
            <a:pPr marL="0" indent="0" algn="r">
              <a:buNone/>
            </a:pPr>
            <a:r>
              <a:rPr lang="en-US" sz="2600" b="1" dirty="0">
                <a:solidFill>
                  <a:srgbClr val="38BDF8"/>
                </a:solidFill>
                <a:latin typeface="Calibri" pitchFamily="34" charset="0"/>
                <a:ea typeface="Calibri" pitchFamily="34" charset="-122"/>
                <a:cs typeface="Calibri" pitchFamily="34" charset="-120"/>
              </a:rPr>
              <a:t>Stop Decision Mechanism</a:t>
            </a:r>
            <a:endParaRPr lang="en-US" sz="2600" dirty="0"/>
          </a:p>
        </p:txBody>
      </p:sp>
      <p:sp>
        <p:nvSpPr>
          <p:cNvPr id="4" name="Text 2"/>
          <p:cNvSpPr/>
          <p:nvPr/>
        </p:nvSpPr>
        <p:spPr>
          <a:xfrm>
            <a:off x="457200" y="749808"/>
            <a:ext cx="11274552" cy="292608"/>
          </a:xfrm>
          <a:prstGeom prst="rect">
            <a:avLst/>
          </a:prstGeom>
          <a:noFill/>
          <a:ln/>
        </p:spPr>
        <p:txBody>
          <a:bodyPr wrap="square" rtlCol="0" anchor="ctr"/>
          <a:lstStyle/>
          <a:p>
            <a:pPr marL="0" indent="0" algn="r">
              <a:buNone/>
            </a:pPr>
            <a:r>
              <a:rPr lang="en-US" sz="1450" dirty="0">
                <a:solidFill>
                  <a:srgbClr val="8FBCDA"/>
                </a:solidFill>
                <a:latin typeface="Calibri" pitchFamily="34" charset="0"/>
                <a:ea typeface="Calibri" pitchFamily="34" charset="-122"/>
                <a:cs typeface="Calibri" pitchFamily="34" charset="-120"/>
              </a:rPr>
              <a:t>How the system decides when to stop filling</a:t>
            </a:r>
            <a:endParaRPr lang="en-US" sz="1450" dirty="0"/>
          </a:p>
        </p:txBody>
      </p:sp>
      <p:sp>
        <p:nvSpPr>
          <p:cNvPr id="5" name="Text 3"/>
          <p:cNvSpPr/>
          <p:nvPr/>
        </p:nvSpPr>
        <p:spPr>
          <a:xfrm>
            <a:off x="365760" y="6601968"/>
            <a:ext cx="11457432" cy="201168"/>
          </a:xfrm>
          <a:prstGeom prst="rect">
            <a:avLst/>
          </a:prstGeom>
          <a:noFill/>
          <a:ln/>
        </p:spPr>
        <p:txBody>
          <a:bodyPr wrap="square" rtlCol="0" anchor="ctr"/>
          <a:lstStyle/>
          <a:p>
            <a:pPr marL="0" indent="0" algn="r">
              <a:buNone/>
            </a:pPr>
            <a:r>
              <a:rPr lang="en-US" sz="1050" dirty="0">
                <a:solidFill>
                  <a:srgbClr val="1A3A5F"/>
                </a:solidFill>
                <a:latin typeface="Calibri" pitchFamily="34" charset="0"/>
                <a:ea typeface="Calibri" pitchFamily="34" charset="-122"/>
                <a:cs typeface="Calibri" pitchFamily="34" charset="-120"/>
              </a:rPr>
              <a:t>Stop Mechanism</a:t>
            </a:r>
            <a:endParaRPr lang="en-US" sz="1050" dirty="0"/>
          </a:p>
        </p:txBody>
      </p:sp>
      <p:sp>
        <p:nvSpPr>
          <p:cNvPr id="6" name="Shape 4"/>
          <p:cNvSpPr/>
          <p:nvPr/>
        </p:nvSpPr>
        <p:spPr>
          <a:xfrm>
            <a:off x="365760" y="1170432"/>
            <a:ext cx="2286000" cy="1298448"/>
          </a:xfrm>
          <a:prstGeom prst="rect">
            <a:avLst/>
          </a:prstGeom>
          <a:solidFill>
            <a:srgbClr val="061220"/>
          </a:solidFill>
          <a:ln w="12700">
            <a:solidFill>
              <a:srgbClr val="38BDF8"/>
            </a:solidFill>
            <a:prstDash val="solid"/>
          </a:ln>
        </p:spPr>
      </p:sp>
      <p:sp>
        <p:nvSpPr>
          <p:cNvPr id="7" name="Text 5"/>
          <p:cNvSpPr/>
          <p:nvPr/>
        </p:nvSpPr>
        <p:spPr>
          <a:xfrm>
            <a:off x="429768" y="1216152"/>
            <a:ext cx="2157984" cy="1207008"/>
          </a:xfrm>
          <a:prstGeom prst="rect">
            <a:avLst/>
          </a:prstGeom>
          <a:noFill/>
          <a:ln/>
        </p:spPr>
        <p:txBody>
          <a:bodyPr wrap="square" rtlCol="0" anchor="ctr"/>
          <a:lstStyle/>
          <a:p>
            <a:pPr marL="0" indent="0" algn="ctr">
              <a:buNone/>
            </a:pPr>
            <a:r>
              <a:rPr lang="en-US" sz="1450" b="1" dirty="0">
                <a:solidFill>
                  <a:srgbClr val="38BDF8"/>
                </a:solidFill>
                <a:latin typeface="Calibri" pitchFamily="34" charset="0"/>
                <a:ea typeface="Calibri" pitchFamily="34" charset="-122"/>
                <a:cs typeface="Calibri" pitchFamily="34" charset="-120"/>
              </a:rPr>
              <a:t>Frame</a:t>
            </a:r>
            <a:endParaRPr lang="en-US" sz="1450" dirty="0"/>
          </a:p>
          <a:p>
            <a:pPr marL="0" indent="0" algn="ctr">
              <a:buNone/>
            </a:pPr>
            <a:r>
              <a:rPr lang="en-US" sz="1450" b="1" dirty="0">
                <a:solidFill>
                  <a:srgbClr val="38BDF8"/>
                </a:solidFill>
                <a:latin typeface="Calibri" pitchFamily="34" charset="0"/>
                <a:ea typeface="Calibri" pitchFamily="34" charset="-122"/>
                <a:cs typeface="Calibri" pitchFamily="34" charset="-120"/>
              </a:rPr>
              <a:t>Probability</a:t>
            </a:r>
            <a:endParaRPr lang="en-US" sz="1450" dirty="0"/>
          </a:p>
        </p:txBody>
      </p:sp>
      <p:sp>
        <p:nvSpPr>
          <p:cNvPr id="8" name="Text 6"/>
          <p:cNvSpPr/>
          <p:nvPr/>
        </p:nvSpPr>
        <p:spPr>
          <a:xfrm>
            <a:off x="2606040" y="1581912"/>
            <a:ext cx="320040" cy="411480"/>
          </a:xfrm>
          <a:prstGeom prst="rect">
            <a:avLst/>
          </a:prstGeom>
          <a:noFill/>
          <a:ln/>
        </p:spPr>
        <p:txBody>
          <a:bodyPr wrap="square" rtlCol="0" anchor="ctr"/>
          <a:lstStyle/>
          <a:p>
            <a:pPr marL="0" indent="0" algn="ctr">
              <a:buNone/>
            </a:pPr>
            <a:r>
              <a:rPr lang="en-US" sz="2000" dirty="0">
                <a:solidFill>
                  <a:srgbClr val="8FBCDA"/>
                </a:solidFill>
                <a:latin typeface="Calibri" pitchFamily="34" charset="0"/>
                <a:ea typeface="Calibri" pitchFamily="34" charset="-122"/>
                <a:cs typeface="Calibri" pitchFamily="34" charset="-120"/>
              </a:rPr>
              <a:t>→</a:t>
            </a:r>
            <a:endParaRPr lang="en-US" sz="2000" dirty="0"/>
          </a:p>
        </p:txBody>
      </p:sp>
      <p:sp>
        <p:nvSpPr>
          <p:cNvPr id="9" name="Shape 7"/>
          <p:cNvSpPr/>
          <p:nvPr/>
        </p:nvSpPr>
        <p:spPr>
          <a:xfrm>
            <a:off x="2971800" y="1170432"/>
            <a:ext cx="2286000" cy="1298448"/>
          </a:xfrm>
          <a:prstGeom prst="rect">
            <a:avLst/>
          </a:prstGeom>
          <a:solidFill>
            <a:srgbClr val="061220"/>
          </a:solidFill>
          <a:ln w="12700">
            <a:solidFill>
              <a:srgbClr val="38BDF8"/>
            </a:solidFill>
            <a:prstDash val="solid"/>
          </a:ln>
        </p:spPr>
      </p:sp>
      <p:sp>
        <p:nvSpPr>
          <p:cNvPr id="10" name="Text 8"/>
          <p:cNvSpPr/>
          <p:nvPr/>
        </p:nvSpPr>
        <p:spPr>
          <a:xfrm>
            <a:off x="3035808" y="1216152"/>
            <a:ext cx="2157984" cy="1207008"/>
          </a:xfrm>
          <a:prstGeom prst="rect">
            <a:avLst/>
          </a:prstGeom>
          <a:noFill/>
          <a:ln/>
        </p:spPr>
        <p:txBody>
          <a:bodyPr wrap="square" rtlCol="0" anchor="ctr"/>
          <a:lstStyle/>
          <a:p>
            <a:pPr marL="0" indent="0" algn="ctr">
              <a:buNone/>
            </a:pPr>
            <a:r>
              <a:rPr lang="en-US" sz="1450" b="1" dirty="0">
                <a:solidFill>
                  <a:srgbClr val="38BDF8"/>
                </a:solidFill>
                <a:latin typeface="Calibri" pitchFamily="34" charset="0"/>
                <a:ea typeface="Calibri" pitchFamily="34" charset="-122"/>
                <a:cs typeface="Calibri" pitchFamily="34" charset="-120"/>
              </a:rPr>
              <a:t>10-Frame</a:t>
            </a:r>
            <a:endParaRPr lang="en-US" sz="1450" dirty="0"/>
          </a:p>
          <a:p>
            <a:pPr marL="0" indent="0" algn="ctr">
              <a:buNone/>
            </a:pPr>
            <a:r>
              <a:rPr lang="en-US" sz="1450" b="1" dirty="0">
                <a:solidFill>
                  <a:srgbClr val="38BDF8"/>
                </a:solidFill>
                <a:latin typeface="Calibri" pitchFamily="34" charset="0"/>
                <a:ea typeface="Calibri" pitchFamily="34" charset="-122"/>
                <a:cs typeface="Calibri" pitchFamily="34" charset="-120"/>
              </a:rPr>
              <a:t>Causal Rolling</a:t>
            </a:r>
            <a:endParaRPr lang="en-US" sz="1450" dirty="0"/>
          </a:p>
          <a:p>
            <a:pPr marL="0" indent="0" algn="ctr">
              <a:buNone/>
            </a:pPr>
            <a:r>
              <a:rPr lang="en-US" sz="1450" b="1" dirty="0">
                <a:solidFill>
                  <a:srgbClr val="38BDF8"/>
                </a:solidFill>
                <a:latin typeface="Calibri" pitchFamily="34" charset="0"/>
                <a:ea typeface="Calibri" pitchFamily="34" charset="-122"/>
                <a:cs typeface="Calibri" pitchFamily="34" charset="-120"/>
              </a:rPr>
              <a:t>Average</a:t>
            </a:r>
            <a:endParaRPr lang="en-US" sz="1450" dirty="0"/>
          </a:p>
        </p:txBody>
      </p:sp>
      <p:sp>
        <p:nvSpPr>
          <p:cNvPr id="11" name="Text 9"/>
          <p:cNvSpPr/>
          <p:nvPr/>
        </p:nvSpPr>
        <p:spPr>
          <a:xfrm>
            <a:off x="5212080" y="1581912"/>
            <a:ext cx="320040" cy="411480"/>
          </a:xfrm>
          <a:prstGeom prst="rect">
            <a:avLst/>
          </a:prstGeom>
          <a:noFill/>
          <a:ln/>
        </p:spPr>
        <p:txBody>
          <a:bodyPr wrap="square" rtlCol="0" anchor="ctr"/>
          <a:lstStyle/>
          <a:p>
            <a:pPr marL="0" indent="0" algn="ctr">
              <a:buNone/>
            </a:pPr>
            <a:r>
              <a:rPr lang="en-US" sz="2000" dirty="0">
                <a:solidFill>
                  <a:srgbClr val="8FBCDA"/>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5577840" y="1170432"/>
            <a:ext cx="2286000" cy="1298448"/>
          </a:xfrm>
          <a:prstGeom prst="rect">
            <a:avLst/>
          </a:prstGeom>
          <a:solidFill>
            <a:srgbClr val="061220"/>
          </a:solidFill>
          <a:ln w="12700">
            <a:solidFill>
              <a:srgbClr val="F59E0B"/>
            </a:solidFill>
            <a:prstDash val="solid"/>
          </a:ln>
        </p:spPr>
      </p:sp>
      <p:sp>
        <p:nvSpPr>
          <p:cNvPr id="13" name="Text 11"/>
          <p:cNvSpPr/>
          <p:nvPr/>
        </p:nvSpPr>
        <p:spPr>
          <a:xfrm>
            <a:off x="5641848" y="1216152"/>
            <a:ext cx="2157984" cy="1207008"/>
          </a:xfrm>
          <a:prstGeom prst="rect">
            <a:avLst/>
          </a:prstGeom>
          <a:noFill/>
          <a:ln/>
        </p:spPr>
        <p:txBody>
          <a:bodyPr wrap="square" rtlCol="0" anchor="ctr"/>
          <a:lstStyle/>
          <a:p>
            <a:pPr marL="0" indent="0" algn="ctr">
              <a:buNone/>
            </a:pPr>
            <a:r>
              <a:rPr lang="en-US" sz="1450" b="1" dirty="0">
                <a:solidFill>
                  <a:srgbClr val="F59E0B"/>
                </a:solidFill>
                <a:latin typeface="Calibri" pitchFamily="34" charset="0"/>
                <a:ea typeface="Calibri" pitchFamily="34" charset="-122"/>
                <a:cs typeface="Calibri" pitchFamily="34" charset="-120"/>
              </a:rPr>
              <a:t>Threshold</a:t>
            </a:r>
            <a:endParaRPr lang="en-US" sz="1450" dirty="0"/>
          </a:p>
          <a:p>
            <a:pPr marL="0" indent="0" algn="ctr">
              <a:buNone/>
            </a:pPr>
            <a:r>
              <a:rPr lang="en-US" sz="1450" b="1" dirty="0">
                <a:solidFill>
                  <a:srgbClr val="F59E0B"/>
                </a:solidFill>
                <a:latin typeface="Calibri" pitchFamily="34" charset="0"/>
                <a:ea typeface="Calibri" pitchFamily="34" charset="-122"/>
                <a:cs typeface="Calibri" pitchFamily="34" charset="-120"/>
              </a:rPr>
              <a:t>≥ 0.35 ?</a:t>
            </a:r>
            <a:endParaRPr lang="en-US" sz="1450" dirty="0"/>
          </a:p>
        </p:txBody>
      </p:sp>
      <p:sp>
        <p:nvSpPr>
          <p:cNvPr id="14" name="Text 12"/>
          <p:cNvSpPr/>
          <p:nvPr/>
        </p:nvSpPr>
        <p:spPr>
          <a:xfrm>
            <a:off x="7818120" y="1581912"/>
            <a:ext cx="320040" cy="411480"/>
          </a:xfrm>
          <a:prstGeom prst="rect">
            <a:avLst/>
          </a:prstGeom>
          <a:noFill/>
          <a:ln/>
        </p:spPr>
        <p:txBody>
          <a:bodyPr wrap="square" rtlCol="0" anchor="ctr"/>
          <a:lstStyle/>
          <a:p>
            <a:pPr marL="0" indent="0" algn="ctr">
              <a:buNone/>
            </a:pPr>
            <a:r>
              <a:rPr lang="en-US" sz="2000" dirty="0">
                <a:solidFill>
                  <a:srgbClr val="8FBCDA"/>
                </a:solidFill>
                <a:latin typeface="Calibri" pitchFamily="34" charset="0"/>
                <a:ea typeface="Calibri" pitchFamily="34" charset="-122"/>
                <a:cs typeface="Calibri" pitchFamily="34" charset="-120"/>
              </a:rPr>
              <a:t>→</a:t>
            </a:r>
            <a:endParaRPr lang="en-US" sz="2000" dirty="0"/>
          </a:p>
        </p:txBody>
      </p:sp>
      <p:sp>
        <p:nvSpPr>
          <p:cNvPr id="15" name="Shape 13"/>
          <p:cNvSpPr/>
          <p:nvPr/>
        </p:nvSpPr>
        <p:spPr>
          <a:xfrm>
            <a:off x="8183880" y="1170432"/>
            <a:ext cx="2286000" cy="1298448"/>
          </a:xfrm>
          <a:prstGeom prst="rect">
            <a:avLst/>
          </a:prstGeom>
          <a:solidFill>
            <a:srgbClr val="061220"/>
          </a:solidFill>
          <a:ln w="12700">
            <a:solidFill>
              <a:srgbClr val="34D399"/>
            </a:solidFill>
            <a:prstDash val="solid"/>
          </a:ln>
        </p:spPr>
      </p:sp>
      <p:sp>
        <p:nvSpPr>
          <p:cNvPr id="16" name="Text 14"/>
          <p:cNvSpPr/>
          <p:nvPr/>
        </p:nvSpPr>
        <p:spPr>
          <a:xfrm>
            <a:off x="8247888" y="1216152"/>
            <a:ext cx="2157984" cy="1207008"/>
          </a:xfrm>
          <a:prstGeom prst="rect">
            <a:avLst/>
          </a:prstGeom>
          <a:noFill/>
          <a:ln/>
        </p:spPr>
        <p:txBody>
          <a:bodyPr wrap="square" rtlCol="0" anchor="ctr"/>
          <a:lstStyle/>
          <a:p>
            <a:pPr marL="0" indent="0" algn="ctr">
              <a:buNone/>
            </a:pPr>
            <a:r>
              <a:rPr lang="en-US" sz="1450" b="1" dirty="0">
                <a:solidFill>
                  <a:srgbClr val="34D399"/>
                </a:solidFill>
                <a:latin typeface="Calibri" pitchFamily="34" charset="0"/>
                <a:ea typeface="Calibri" pitchFamily="34" charset="-122"/>
                <a:cs typeface="Calibri" pitchFamily="34" charset="-120"/>
              </a:rPr>
              <a:t>STOP</a:t>
            </a:r>
            <a:endParaRPr lang="en-US" sz="1450" dirty="0"/>
          </a:p>
          <a:p>
            <a:pPr marL="0" indent="0" algn="ctr">
              <a:buNone/>
            </a:pPr>
            <a:r>
              <a:rPr lang="en-US" sz="1450" b="1" dirty="0">
                <a:solidFill>
                  <a:srgbClr val="34D399"/>
                </a:solidFill>
                <a:latin typeface="Calibri" pitchFamily="34" charset="0"/>
                <a:ea typeface="Calibri" pitchFamily="34" charset="-122"/>
                <a:cs typeface="Calibri" pitchFamily="34" charset="-120"/>
              </a:rPr>
              <a:t>Command</a:t>
            </a:r>
            <a:endParaRPr lang="en-US" sz="1450" dirty="0"/>
          </a:p>
        </p:txBody>
      </p:sp>
      <p:sp>
        <p:nvSpPr>
          <p:cNvPr id="17" name="Text 15"/>
          <p:cNvSpPr/>
          <p:nvPr/>
        </p:nvSpPr>
        <p:spPr>
          <a:xfrm>
            <a:off x="8183880" y="2496312"/>
            <a:ext cx="2286000" cy="292608"/>
          </a:xfrm>
          <a:prstGeom prst="rect">
            <a:avLst/>
          </a:prstGeom>
          <a:noFill/>
          <a:ln/>
        </p:spPr>
        <p:txBody>
          <a:bodyPr wrap="square" rtlCol="0" anchor="ctr"/>
          <a:lstStyle/>
          <a:p>
            <a:pPr marL="0" indent="0" algn="ctr">
              <a:buNone/>
            </a:pPr>
            <a:r>
              <a:rPr lang="en-US" sz="1200" dirty="0">
                <a:solidFill>
                  <a:srgbClr val="F87171"/>
                </a:solidFill>
                <a:latin typeface="Calibri" pitchFamily="34" charset="0"/>
                <a:ea typeface="Calibri" pitchFamily="34" charset="-122"/>
                <a:cs typeface="Calibri" pitchFamily="34" charset="-120"/>
              </a:rPr>
              <a:t>NO → continue</a:t>
            </a:r>
            <a:endParaRPr lang="en-US" sz="1200" dirty="0"/>
          </a:p>
        </p:txBody>
      </p:sp>
      <p:sp>
        <p:nvSpPr>
          <p:cNvPr id="18" name="Shape 16"/>
          <p:cNvSpPr/>
          <p:nvPr/>
        </p:nvSpPr>
        <p:spPr>
          <a:xfrm>
            <a:off x="365760" y="2743200"/>
            <a:ext cx="3657600" cy="3456432"/>
          </a:xfrm>
          <a:prstGeom prst="rect">
            <a:avLst/>
          </a:prstGeom>
          <a:solidFill>
            <a:srgbClr val="0A1628"/>
          </a:solidFill>
          <a:ln w="12700">
            <a:solidFill>
              <a:srgbClr val="1E3A5F"/>
            </a:solidFill>
            <a:prstDash val="solid"/>
          </a:ln>
        </p:spPr>
      </p:sp>
      <p:sp>
        <p:nvSpPr>
          <p:cNvPr id="19" name="Shape 17"/>
          <p:cNvSpPr/>
          <p:nvPr/>
        </p:nvSpPr>
        <p:spPr>
          <a:xfrm>
            <a:off x="365760" y="2743200"/>
            <a:ext cx="3657600" cy="36576"/>
          </a:xfrm>
          <a:prstGeom prst="rect">
            <a:avLst/>
          </a:prstGeom>
          <a:solidFill>
            <a:srgbClr val="38BDF8"/>
          </a:solidFill>
          <a:ln w="12700">
            <a:solidFill>
              <a:srgbClr val="38BDF8"/>
            </a:solidFill>
            <a:prstDash val="solid"/>
          </a:ln>
        </p:spPr>
      </p:sp>
      <p:sp>
        <p:nvSpPr>
          <p:cNvPr id="20" name="Text 18"/>
          <p:cNvSpPr/>
          <p:nvPr/>
        </p:nvSpPr>
        <p:spPr>
          <a:xfrm>
            <a:off x="457200" y="2816352"/>
            <a:ext cx="3474720" cy="384048"/>
          </a:xfrm>
          <a:prstGeom prst="rect">
            <a:avLst/>
          </a:prstGeom>
          <a:noFill/>
          <a:ln/>
        </p:spPr>
        <p:txBody>
          <a:bodyPr wrap="square" rtlCol="0" anchor="ctr"/>
          <a:lstStyle/>
          <a:p>
            <a:pPr marL="0" indent="0">
              <a:buNone/>
            </a:pPr>
            <a:r>
              <a:rPr lang="en-US" sz="1450" b="1" dirty="0">
                <a:solidFill>
                  <a:srgbClr val="38BDF8"/>
                </a:solidFill>
                <a:latin typeface="Calibri" pitchFamily="34" charset="0"/>
                <a:ea typeface="Calibri" pitchFamily="34" charset="-122"/>
                <a:cs typeface="Calibri" pitchFamily="34" charset="-120"/>
              </a:rPr>
              <a:t>Why threshold 0.35?</a:t>
            </a:r>
            <a:endParaRPr lang="en-US" sz="1450" dirty="0"/>
          </a:p>
        </p:txBody>
      </p:sp>
      <p:sp>
        <p:nvSpPr>
          <p:cNvPr id="21" name="Text 19"/>
          <p:cNvSpPr/>
          <p:nvPr/>
        </p:nvSpPr>
        <p:spPr>
          <a:xfrm>
            <a:off x="457200" y="3273552"/>
            <a:ext cx="3474720" cy="2788920"/>
          </a:xfrm>
          <a:prstGeom prst="rect">
            <a:avLst/>
          </a:prstGeom>
          <a:noFill/>
          <a:ln/>
        </p:spPr>
        <p:txBody>
          <a:bodyPr wrap="square" rtlCol="0" anchor="t"/>
          <a:lstStyle/>
          <a:p>
            <a:pPr marL="0" indent="0">
              <a:buNone/>
            </a:pPr>
            <a:r>
              <a:rPr lang="en-US" sz="1300" dirty="0">
                <a:solidFill>
                  <a:srgbClr val="8FBCDA"/>
                </a:solidFill>
                <a:latin typeface="Calibri" pitchFamily="34" charset="0"/>
                <a:ea typeface="Calibri" pitchFamily="34" charset="-122"/>
                <a:cs typeface="Calibri" pitchFamily="34" charset="-120"/>
              </a:rPr>
              <a:t>Standard threshold of 0.5 lets borderline frames slip through. Using 0.35 adds a safety buffer of roughly 0.5–1.0 seconds before the cup would actually overflow.</a:t>
            </a:r>
            <a:endParaRPr lang="en-US" sz="1300" dirty="0"/>
          </a:p>
          <a:p>
            <a:pPr marL="0" indent="0">
              <a:buNone/>
            </a:pPr>
            <a:endParaRPr lang="en-US" sz="1300" dirty="0"/>
          </a:p>
          <a:p>
            <a:pPr marL="0" indent="0">
              <a:buNone/>
            </a:pPr>
            <a:r>
              <a:rPr lang="en-US" sz="1300" dirty="0">
                <a:solidFill>
                  <a:srgbClr val="8FBCDA"/>
                </a:solidFill>
                <a:latin typeface="Calibri" pitchFamily="34" charset="0"/>
                <a:ea typeface="Calibri" pitchFamily="34" charset="-122"/>
                <a:cs typeface="Calibri" pitchFamily="34" charset="-120"/>
              </a:rPr>
              <a:t>The cost: slightly more early stops.</a:t>
            </a:r>
            <a:endParaRPr lang="en-US" sz="1300" dirty="0"/>
          </a:p>
          <a:p>
            <a:pPr marL="0" indent="0">
              <a:buNone/>
            </a:pPr>
            <a:r>
              <a:rPr lang="en-US" sz="1300" dirty="0">
                <a:solidFill>
                  <a:srgbClr val="8FBCDA"/>
                </a:solidFill>
                <a:latin typeface="Calibri" pitchFamily="34" charset="0"/>
                <a:ea typeface="Calibri" pitchFamily="34" charset="-122"/>
                <a:cs typeface="Calibri" pitchFamily="34" charset="-120"/>
              </a:rPr>
              <a:t>The gain: zero overflow events across all 120 recordings.</a:t>
            </a:r>
            <a:endParaRPr lang="en-US" sz="1300" dirty="0"/>
          </a:p>
          <a:p>
            <a:pPr marL="0" indent="0">
              <a:buNone/>
            </a:pPr>
            <a:endParaRPr lang="en-US" sz="1300" dirty="0"/>
          </a:p>
          <a:p>
            <a:pPr marL="0" indent="0">
              <a:buNone/>
            </a:pPr>
            <a:r>
              <a:rPr lang="en-US" sz="1300" dirty="0">
                <a:solidFill>
                  <a:srgbClr val="8FBCDA"/>
                </a:solidFill>
                <a:latin typeface="Calibri" pitchFamily="34" charset="0"/>
                <a:ea typeface="Calibri" pitchFamily="34" charset="-122"/>
                <a:cs typeface="Calibri" pitchFamily="34" charset="-120"/>
              </a:rPr>
              <a:t>This asymmetric tradeoff is correct for a safety-critical system where a spill is worse than stopping 0.5s early.</a:t>
            </a:r>
            <a:endParaRPr lang="en-US" sz="1300" dirty="0"/>
          </a:p>
        </p:txBody>
      </p:sp>
      <p:sp>
        <p:nvSpPr>
          <p:cNvPr id="22" name="Shape 20"/>
          <p:cNvSpPr/>
          <p:nvPr/>
        </p:nvSpPr>
        <p:spPr>
          <a:xfrm>
            <a:off x="4206240" y="2743200"/>
            <a:ext cx="3657600" cy="3456432"/>
          </a:xfrm>
          <a:prstGeom prst="rect">
            <a:avLst/>
          </a:prstGeom>
          <a:solidFill>
            <a:srgbClr val="0A1628"/>
          </a:solidFill>
          <a:ln w="12700">
            <a:solidFill>
              <a:srgbClr val="1E3A5F"/>
            </a:solidFill>
            <a:prstDash val="solid"/>
          </a:ln>
        </p:spPr>
      </p:sp>
      <p:sp>
        <p:nvSpPr>
          <p:cNvPr id="23" name="Shape 21"/>
          <p:cNvSpPr/>
          <p:nvPr/>
        </p:nvSpPr>
        <p:spPr>
          <a:xfrm>
            <a:off x="4206240" y="2743200"/>
            <a:ext cx="3657600" cy="36576"/>
          </a:xfrm>
          <a:prstGeom prst="rect">
            <a:avLst/>
          </a:prstGeom>
          <a:solidFill>
            <a:srgbClr val="38BDF8"/>
          </a:solidFill>
          <a:ln w="12700">
            <a:solidFill>
              <a:srgbClr val="38BDF8"/>
            </a:solidFill>
            <a:prstDash val="solid"/>
          </a:ln>
        </p:spPr>
      </p:sp>
      <p:sp>
        <p:nvSpPr>
          <p:cNvPr id="24" name="Text 22"/>
          <p:cNvSpPr/>
          <p:nvPr/>
        </p:nvSpPr>
        <p:spPr>
          <a:xfrm>
            <a:off x="4297680" y="2816352"/>
            <a:ext cx="3474720" cy="384048"/>
          </a:xfrm>
          <a:prstGeom prst="rect">
            <a:avLst/>
          </a:prstGeom>
          <a:noFill/>
          <a:ln/>
        </p:spPr>
        <p:txBody>
          <a:bodyPr wrap="square" rtlCol="0" anchor="ctr"/>
          <a:lstStyle/>
          <a:p>
            <a:pPr marL="0" indent="0">
              <a:buNone/>
            </a:pPr>
            <a:r>
              <a:rPr lang="en-US" sz="1450" b="1" dirty="0">
                <a:solidFill>
                  <a:srgbClr val="38BDF8"/>
                </a:solidFill>
                <a:latin typeface="Calibri" pitchFamily="34" charset="0"/>
                <a:ea typeface="Calibri" pitchFamily="34" charset="-122"/>
                <a:cs typeface="Calibri" pitchFamily="34" charset="-120"/>
              </a:rPr>
              <a:t>Why rolling average?</a:t>
            </a:r>
            <a:endParaRPr lang="en-US" sz="1450" dirty="0"/>
          </a:p>
        </p:txBody>
      </p:sp>
      <p:sp>
        <p:nvSpPr>
          <p:cNvPr id="25" name="Text 23"/>
          <p:cNvSpPr/>
          <p:nvPr/>
        </p:nvSpPr>
        <p:spPr>
          <a:xfrm>
            <a:off x="4297680" y="3273552"/>
            <a:ext cx="3474720" cy="2788920"/>
          </a:xfrm>
          <a:prstGeom prst="rect">
            <a:avLst/>
          </a:prstGeom>
          <a:noFill/>
          <a:ln/>
        </p:spPr>
        <p:txBody>
          <a:bodyPr wrap="square" rtlCol="0" anchor="t"/>
          <a:lstStyle/>
          <a:p>
            <a:pPr marL="0" indent="0">
              <a:buNone/>
            </a:pPr>
            <a:r>
              <a:rPr lang="en-US" sz="1300" dirty="0">
                <a:solidFill>
                  <a:srgbClr val="8FBCDA"/>
                </a:solidFill>
                <a:latin typeface="Calibri" pitchFamily="34" charset="0"/>
                <a:ea typeface="Calibri" pitchFamily="34" charset="-122"/>
                <a:cs typeface="Calibri" pitchFamily="34" charset="-120"/>
              </a:rPr>
              <a:t>Per-frame LightGBM probabilities are noisy. A single anomalous sound (a cough, a bump) can spike the probability to 0.7+ and trigger a false stop.</a:t>
            </a:r>
            <a:endParaRPr lang="en-US" sz="1300" dirty="0"/>
          </a:p>
          <a:p>
            <a:pPr marL="0" indent="0">
              <a:buNone/>
            </a:pPr>
            <a:endParaRPr lang="en-US" sz="1300" dirty="0"/>
          </a:p>
          <a:p>
            <a:pPr marL="0" indent="0">
              <a:buNone/>
            </a:pPr>
            <a:r>
              <a:rPr lang="en-US" sz="1300" dirty="0">
                <a:solidFill>
                  <a:srgbClr val="8FBCDA"/>
                </a:solidFill>
                <a:latin typeface="Calibri" pitchFamily="34" charset="0"/>
                <a:ea typeface="Calibri" pitchFamily="34" charset="-122"/>
                <a:cs typeface="Calibri" pitchFamily="34" charset="-120"/>
              </a:rPr>
              <a:t>The 10-frame causal rolling average (~250ms window) smooths these transient spikes. 'Causal' means only past frames are used — no look-ahead into future frames.</a:t>
            </a:r>
            <a:endParaRPr lang="en-US" sz="1300" dirty="0"/>
          </a:p>
          <a:p>
            <a:pPr marL="0" indent="0">
              <a:buNone/>
            </a:pPr>
            <a:endParaRPr lang="en-US" sz="1300" dirty="0"/>
          </a:p>
          <a:p>
            <a:pPr marL="0" indent="0">
              <a:buNone/>
            </a:pPr>
            <a:r>
              <a:rPr lang="en-US" sz="1300" dirty="0">
                <a:solidFill>
                  <a:srgbClr val="8FBCDA"/>
                </a:solidFill>
                <a:latin typeface="Calibri" pitchFamily="34" charset="0"/>
                <a:ea typeface="Calibri" pitchFamily="34" charset="-122"/>
                <a:cs typeface="Calibri" pitchFamily="34" charset="-120"/>
              </a:rPr>
              <a:t>Smoothing adds ~125ms latency but eliminates virtually all false triggers.</a:t>
            </a:r>
            <a:endParaRPr lang="en-US" sz="1300" dirty="0"/>
          </a:p>
        </p:txBody>
      </p:sp>
      <p:sp>
        <p:nvSpPr>
          <p:cNvPr id="26" name="Shape 24"/>
          <p:cNvSpPr/>
          <p:nvPr/>
        </p:nvSpPr>
        <p:spPr>
          <a:xfrm>
            <a:off x="8046720" y="2743200"/>
            <a:ext cx="3657600" cy="3456432"/>
          </a:xfrm>
          <a:prstGeom prst="rect">
            <a:avLst/>
          </a:prstGeom>
          <a:solidFill>
            <a:srgbClr val="0A1628"/>
          </a:solidFill>
          <a:ln w="12700">
            <a:solidFill>
              <a:srgbClr val="1E3A5F"/>
            </a:solidFill>
            <a:prstDash val="solid"/>
          </a:ln>
        </p:spPr>
      </p:sp>
      <p:sp>
        <p:nvSpPr>
          <p:cNvPr id="27" name="Shape 25"/>
          <p:cNvSpPr/>
          <p:nvPr/>
        </p:nvSpPr>
        <p:spPr>
          <a:xfrm>
            <a:off x="8046720" y="2743200"/>
            <a:ext cx="3657600" cy="36576"/>
          </a:xfrm>
          <a:prstGeom prst="rect">
            <a:avLst/>
          </a:prstGeom>
          <a:solidFill>
            <a:srgbClr val="34D399"/>
          </a:solidFill>
          <a:ln w="12700">
            <a:solidFill>
              <a:srgbClr val="34D399"/>
            </a:solidFill>
            <a:prstDash val="solid"/>
          </a:ln>
        </p:spPr>
      </p:sp>
      <p:sp>
        <p:nvSpPr>
          <p:cNvPr id="28" name="Text 26"/>
          <p:cNvSpPr/>
          <p:nvPr/>
        </p:nvSpPr>
        <p:spPr>
          <a:xfrm>
            <a:off x="8138160" y="2816352"/>
            <a:ext cx="3474720" cy="384048"/>
          </a:xfrm>
          <a:prstGeom prst="rect">
            <a:avLst/>
          </a:prstGeom>
          <a:noFill/>
          <a:ln/>
        </p:spPr>
        <p:txBody>
          <a:bodyPr wrap="square" rtlCol="0" anchor="ctr"/>
          <a:lstStyle/>
          <a:p>
            <a:pPr marL="0" indent="0">
              <a:buNone/>
            </a:pPr>
            <a:r>
              <a:rPr lang="en-US" sz="1450" b="1" dirty="0">
                <a:solidFill>
                  <a:srgbClr val="34D399"/>
                </a:solidFill>
                <a:latin typeface="Calibri" pitchFamily="34" charset="0"/>
                <a:ea typeface="Calibri" pitchFamily="34" charset="-122"/>
                <a:cs typeface="Calibri" pitchFamily="34" charset="-120"/>
              </a:rPr>
              <a:t>Results Across All Recordings</a:t>
            </a:r>
            <a:endParaRPr lang="en-US" sz="1450" dirty="0"/>
          </a:p>
        </p:txBody>
      </p:sp>
      <p:sp>
        <p:nvSpPr>
          <p:cNvPr id="29" name="Text 27"/>
          <p:cNvSpPr/>
          <p:nvPr/>
        </p:nvSpPr>
        <p:spPr>
          <a:xfrm>
            <a:off x="8138160" y="3273552"/>
            <a:ext cx="3474720" cy="2788920"/>
          </a:xfrm>
          <a:prstGeom prst="rect">
            <a:avLst/>
          </a:prstGeom>
          <a:noFill/>
          <a:ln/>
        </p:spPr>
        <p:txBody>
          <a:bodyPr wrap="square" rtlCol="0" anchor="t"/>
          <a:lstStyle/>
          <a:p>
            <a:pPr marL="0" indent="0">
              <a:buNone/>
            </a:pPr>
            <a:r>
              <a:rPr lang="en-US" sz="1300" dirty="0">
                <a:solidFill>
                  <a:srgbClr val="8FBCDA"/>
                </a:solidFill>
                <a:latin typeface="Calibri" pitchFamily="34" charset="0"/>
                <a:ea typeface="Calibri" pitchFamily="34" charset="-122"/>
                <a:cs typeface="Calibri" pitchFamily="34" charset="-120"/>
              </a:rPr>
              <a:t>120 recordings tested:</a:t>
            </a:r>
            <a:endParaRPr lang="en-US" sz="1300" dirty="0"/>
          </a:p>
          <a:p>
            <a:pPr marL="0" indent="0">
              <a:buNone/>
            </a:pPr>
            <a:endParaRPr lang="en-US" sz="1300" dirty="0"/>
          </a:p>
          <a:p>
            <a:pPr marL="0" indent="0">
              <a:buNone/>
            </a:pPr>
            <a:r>
              <a:rPr lang="en-US" sz="1300" dirty="0">
                <a:solidFill>
                  <a:srgbClr val="8FBCDA"/>
                </a:solidFill>
                <a:latin typeface="Calibri" pitchFamily="34" charset="0"/>
                <a:ea typeface="Calibri" pitchFamily="34" charset="-122"/>
                <a:cs typeface="Calibri" pitchFamily="34" charset="-120"/>
              </a:rPr>
              <a:t>• 0 overflow events (0% failure rate)</a:t>
            </a:r>
            <a:endParaRPr lang="en-US" sz="1300" dirty="0"/>
          </a:p>
          <a:p>
            <a:pPr marL="0" indent="0">
              <a:buNone/>
            </a:pPr>
            <a:r>
              <a:rPr lang="en-US" sz="1300" dirty="0">
                <a:solidFill>
                  <a:srgbClr val="8FBCDA"/>
                </a:solidFill>
                <a:latin typeface="Calibri" pitchFamily="34" charset="0"/>
                <a:ea typeface="Calibri" pitchFamily="34" charset="-122"/>
                <a:cs typeface="Calibri" pitchFamily="34" charset="-120"/>
              </a:rPr>
              <a:t>• 120 / 120 stops fired successfully</a:t>
            </a:r>
            <a:endParaRPr lang="en-US" sz="1300" dirty="0"/>
          </a:p>
          <a:p>
            <a:pPr marL="0" indent="0">
              <a:buNone/>
            </a:pPr>
            <a:r>
              <a:rPr lang="en-US" sz="1300" dirty="0">
                <a:solidFill>
                  <a:srgbClr val="8FBCDA"/>
                </a:solidFill>
                <a:latin typeface="Calibri" pitchFamily="34" charset="0"/>
                <a:ea typeface="Calibri" pitchFamily="34" charset="-122"/>
                <a:cs typeface="Calibri" pitchFamily="34" charset="-120"/>
              </a:rPr>
              <a:t>• 0 / 120 never stopped</a:t>
            </a:r>
            <a:endParaRPr lang="en-US" sz="1300" dirty="0"/>
          </a:p>
          <a:p>
            <a:pPr marL="0" indent="0">
              <a:buNone/>
            </a:pPr>
            <a:r>
              <a:rPr lang="en-US" sz="1300" dirty="0">
                <a:solidFill>
                  <a:srgbClr val="8FBCDA"/>
                </a:solidFill>
                <a:latin typeface="Calibri" pitchFamily="34" charset="0"/>
                <a:ea typeface="Calibri" pitchFamily="34" charset="-122"/>
                <a:cs typeface="Calibri" pitchFamily="34" charset="-120"/>
              </a:rPr>
              <a:t>• All stops within 47–100ms after 90% target</a:t>
            </a:r>
            <a:endParaRPr lang="en-US" sz="1300" dirty="0"/>
          </a:p>
          <a:p>
            <a:pPr marL="0" indent="0">
              <a:buNone/>
            </a:pPr>
            <a:r>
              <a:rPr lang="en-US" sz="1300" dirty="0">
                <a:solidFill>
                  <a:srgbClr val="8FBCDA"/>
                </a:solidFill>
                <a:latin typeface="Calibri" pitchFamily="34" charset="0"/>
                <a:ea typeface="Calibri" pitchFamily="34" charset="-122"/>
                <a:cs typeface="Calibri" pitchFamily="34" charset="-120"/>
              </a:rPr>
              <a:t>• Avg Δt: +0.080s (80ms late — within safe margin)</a:t>
            </a:r>
            <a:endParaRPr lang="en-US" sz="1300" dirty="0"/>
          </a:p>
          <a:p>
            <a:pPr marL="0" indent="0">
              <a:buNone/>
            </a:pPr>
            <a:r>
              <a:rPr lang="en-US" sz="1300" dirty="0">
                <a:solidFill>
                  <a:srgbClr val="8FBCDA"/>
                </a:solidFill>
                <a:latin typeface="Calibri" pitchFamily="34" charset="0"/>
                <a:ea typeface="Calibri" pitchFamily="34" charset="-122"/>
                <a:cs typeface="Calibri" pitchFamily="34" charset="-120"/>
              </a:rPr>
              <a:t>• Conservative threshold prevents any overflow</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020617"/>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38BDF8"/>
          </a:solidFill>
          <a:ln w="12700">
            <a:solidFill>
              <a:srgbClr val="38BDF8"/>
            </a:solidFill>
            <a:prstDash val="solid"/>
          </a:ln>
        </p:spPr>
      </p:sp>
      <p:sp>
        <p:nvSpPr>
          <p:cNvPr id="3" name="Text 1"/>
          <p:cNvSpPr/>
          <p:nvPr/>
        </p:nvSpPr>
        <p:spPr>
          <a:xfrm>
            <a:off x="457200" y="91440"/>
            <a:ext cx="11274552" cy="658368"/>
          </a:xfrm>
          <a:prstGeom prst="rect">
            <a:avLst/>
          </a:prstGeom>
          <a:noFill/>
          <a:ln/>
        </p:spPr>
        <p:txBody>
          <a:bodyPr wrap="square" rtlCol="0" anchor="ctr"/>
          <a:lstStyle/>
          <a:p>
            <a:pPr marL="0" indent="0" algn="r">
              <a:buNone/>
            </a:pPr>
            <a:r>
              <a:rPr lang="en-US" sz="2600" b="1" dirty="0">
                <a:solidFill>
                  <a:srgbClr val="38BDF8"/>
                </a:solidFill>
                <a:latin typeface="Calibri" pitchFamily="34" charset="0"/>
                <a:ea typeface="Calibri" pitchFamily="34" charset="-122"/>
                <a:cs typeface="Calibri" pitchFamily="34" charset="-120"/>
              </a:rPr>
              <a:t>Results: Confusion Matrix</a:t>
            </a:r>
            <a:endParaRPr lang="en-US" sz="2600" dirty="0"/>
          </a:p>
        </p:txBody>
      </p:sp>
      <p:sp>
        <p:nvSpPr>
          <p:cNvPr id="4" name="Text 2"/>
          <p:cNvSpPr/>
          <p:nvPr/>
        </p:nvSpPr>
        <p:spPr>
          <a:xfrm>
            <a:off x="457200" y="749808"/>
            <a:ext cx="11274552" cy="292608"/>
          </a:xfrm>
          <a:prstGeom prst="rect">
            <a:avLst/>
          </a:prstGeom>
          <a:noFill/>
          <a:ln/>
        </p:spPr>
        <p:txBody>
          <a:bodyPr wrap="square" rtlCol="0" anchor="ctr"/>
          <a:lstStyle/>
          <a:p>
            <a:pPr marL="0" indent="0" algn="r">
              <a:buNone/>
            </a:pPr>
            <a:r>
              <a:rPr lang="en-US" sz="1450" dirty="0">
                <a:solidFill>
                  <a:srgbClr val="8FBCDA"/>
                </a:solidFill>
                <a:latin typeface="Calibri" pitchFamily="34" charset="0"/>
                <a:ea typeface="Calibri" pitchFamily="34" charset="-122"/>
                <a:cs typeface="Calibri" pitchFamily="34" charset="-120"/>
              </a:rPr>
              <a:t>LightGBM evaluated on held-out test folds (GroupKFold)</a:t>
            </a:r>
            <a:endParaRPr lang="en-US" sz="1450" dirty="0"/>
          </a:p>
        </p:txBody>
      </p:sp>
      <p:sp>
        <p:nvSpPr>
          <p:cNvPr id="5" name="Text 3"/>
          <p:cNvSpPr/>
          <p:nvPr/>
        </p:nvSpPr>
        <p:spPr>
          <a:xfrm>
            <a:off x="365760" y="6601968"/>
            <a:ext cx="11457432" cy="201168"/>
          </a:xfrm>
          <a:prstGeom prst="rect">
            <a:avLst/>
          </a:prstGeom>
          <a:noFill/>
          <a:ln/>
        </p:spPr>
        <p:txBody>
          <a:bodyPr wrap="square" rtlCol="0" anchor="ctr"/>
          <a:lstStyle/>
          <a:p>
            <a:pPr marL="0" indent="0" algn="r">
              <a:buNone/>
            </a:pPr>
            <a:r>
              <a:rPr lang="en-US" sz="1050" dirty="0">
                <a:solidFill>
                  <a:srgbClr val="1A3A5F"/>
                </a:solidFill>
                <a:latin typeface="Calibri" pitchFamily="34" charset="0"/>
                <a:ea typeface="Calibri" pitchFamily="34" charset="-122"/>
                <a:cs typeface="Calibri" pitchFamily="34" charset="-120"/>
              </a:rPr>
              <a:t>Final Results</a:t>
            </a:r>
            <a:endParaRPr lang="en-US" sz="1050" dirty="0"/>
          </a:p>
        </p:txBody>
      </p:sp>
      <p:pic>
        <p:nvPicPr>
          <p:cNvPr id="6" name="Image 0" descr="C:\waterOverFlow\models\confusion_matrix.png"/>
          <p:cNvPicPr>
            <a:picLocks noChangeAspect="1"/>
          </p:cNvPicPr>
          <p:nvPr/>
        </p:nvPicPr>
        <p:blipFill>
          <a:blip r:embed="rId3"/>
          <a:stretch>
            <a:fillRect/>
          </a:stretch>
        </p:blipFill>
        <p:spPr>
          <a:xfrm>
            <a:off x="365760" y="1097280"/>
            <a:ext cx="7040880" cy="5212080"/>
          </a:xfrm>
          <a:prstGeom prst="rect">
            <a:avLst/>
          </a:prstGeom>
        </p:spPr>
      </p:pic>
      <p:sp>
        <p:nvSpPr>
          <p:cNvPr id="7" name="Shape 4"/>
          <p:cNvSpPr/>
          <p:nvPr/>
        </p:nvSpPr>
        <p:spPr>
          <a:xfrm>
            <a:off x="7589520" y="1097280"/>
            <a:ext cx="4251960" cy="5389784"/>
          </a:xfrm>
          <a:prstGeom prst="rect">
            <a:avLst/>
          </a:prstGeom>
          <a:solidFill>
            <a:srgbClr val="0A1628"/>
          </a:solidFill>
          <a:ln w="12700">
            <a:solidFill>
              <a:srgbClr val="1E3A5F"/>
            </a:solidFill>
            <a:prstDash val="solid"/>
          </a:ln>
        </p:spPr>
      </p:sp>
      <p:sp>
        <p:nvSpPr>
          <p:cNvPr id="8" name="Text 5"/>
          <p:cNvSpPr/>
          <p:nvPr/>
        </p:nvSpPr>
        <p:spPr>
          <a:xfrm>
            <a:off x="7726680" y="1188720"/>
            <a:ext cx="3977640" cy="384048"/>
          </a:xfrm>
          <a:prstGeom prst="rect">
            <a:avLst/>
          </a:prstGeom>
          <a:noFill/>
          <a:ln/>
        </p:spPr>
        <p:txBody>
          <a:bodyPr wrap="square" rtlCol="0" anchor="ctr"/>
          <a:lstStyle/>
          <a:p>
            <a:pPr marL="0" indent="0">
              <a:buNone/>
            </a:pPr>
            <a:r>
              <a:rPr lang="en-US" sz="1600" b="1" dirty="0">
                <a:solidFill>
                  <a:srgbClr val="38BDF8"/>
                </a:solidFill>
                <a:latin typeface="Calibri" pitchFamily="34" charset="0"/>
                <a:ea typeface="Calibri" pitchFamily="34" charset="-122"/>
                <a:cs typeface="Calibri" pitchFamily="34" charset="-120"/>
              </a:rPr>
              <a:t>Classification Metrics</a:t>
            </a:r>
            <a:endParaRPr lang="en-US" sz="1600" dirty="0"/>
          </a:p>
        </p:txBody>
      </p:sp>
      <p:sp>
        <p:nvSpPr>
          <p:cNvPr id="9" name="Shape 6"/>
          <p:cNvSpPr/>
          <p:nvPr/>
        </p:nvSpPr>
        <p:spPr>
          <a:xfrm>
            <a:off x="7726680" y="1737360"/>
            <a:ext cx="3977640" cy="576072"/>
          </a:xfrm>
          <a:prstGeom prst="rect">
            <a:avLst/>
          </a:prstGeom>
          <a:solidFill>
            <a:srgbClr val="061220"/>
          </a:solidFill>
          <a:ln w="12700">
            <a:solidFill>
              <a:srgbClr val="38BDF8"/>
            </a:solidFill>
            <a:prstDash val="solid"/>
          </a:ln>
        </p:spPr>
      </p:sp>
      <p:sp>
        <p:nvSpPr>
          <p:cNvPr id="10" name="Text 7"/>
          <p:cNvSpPr/>
          <p:nvPr/>
        </p:nvSpPr>
        <p:spPr>
          <a:xfrm>
            <a:off x="7818120" y="1792224"/>
            <a:ext cx="1965960" cy="475488"/>
          </a:xfrm>
          <a:prstGeom prst="rect">
            <a:avLst/>
          </a:prstGeom>
          <a:noFill/>
          <a:ln/>
        </p:spPr>
        <p:txBody>
          <a:bodyPr wrap="square" rtlCol="0" anchor="ctr"/>
          <a:lstStyle/>
          <a:p>
            <a:pPr marL="0" indent="0">
              <a:buNone/>
            </a:pPr>
            <a:r>
              <a:rPr lang="en-US" sz="1400" dirty="0">
                <a:solidFill>
                  <a:srgbClr val="8FBCDA"/>
                </a:solidFill>
                <a:latin typeface="Calibri" pitchFamily="34" charset="0"/>
                <a:ea typeface="Calibri" pitchFamily="34" charset="-122"/>
                <a:cs typeface="Calibri" pitchFamily="34" charset="-120"/>
              </a:rPr>
              <a:t>Accuracy</a:t>
            </a:r>
            <a:endParaRPr lang="en-US" sz="1400" dirty="0"/>
          </a:p>
        </p:txBody>
      </p:sp>
      <p:sp>
        <p:nvSpPr>
          <p:cNvPr id="11" name="Text 8"/>
          <p:cNvSpPr/>
          <p:nvPr/>
        </p:nvSpPr>
        <p:spPr>
          <a:xfrm>
            <a:off x="9784080" y="1792224"/>
            <a:ext cx="1783080" cy="475488"/>
          </a:xfrm>
          <a:prstGeom prst="rect">
            <a:avLst/>
          </a:prstGeom>
          <a:noFill/>
          <a:ln/>
        </p:spPr>
        <p:txBody>
          <a:bodyPr wrap="square" rtlCol="0" anchor="ctr"/>
          <a:lstStyle/>
          <a:p>
            <a:pPr marL="0" indent="0" algn="r">
              <a:buNone/>
            </a:pPr>
            <a:r>
              <a:rPr lang="en-US" sz="1600" b="1" dirty="0">
                <a:solidFill>
                  <a:srgbClr val="38BDF8"/>
                </a:solidFill>
                <a:latin typeface="Calibri" pitchFamily="34" charset="0"/>
                <a:ea typeface="Calibri" pitchFamily="34" charset="-122"/>
                <a:cs typeface="Calibri" pitchFamily="34" charset="-120"/>
              </a:rPr>
              <a:t>94.4%</a:t>
            </a:r>
            <a:endParaRPr lang="en-US" sz="1600" dirty="0"/>
          </a:p>
        </p:txBody>
      </p:sp>
      <p:sp>
        <p:nvSpPr>
          <p:cNvPr id="12" name="Shape 9"/>
          <p:cNvSpPr/>
          <p:nvPr/>
        </p:nvSpPr>
        <p:spPr>
          <a:xfrm>
            <a:off x="7726680" y="2395728"/>
            <a:ext cx="3977640" cy="576072"/>
          </a:xfrm>
          <a:prstGeom prst="rect">
            <a:avLst/>
          </a:prstGeom>
          <a:solidFill>
            <a:srgbClr val="061220"/>
          </a:solidFill>
          <a:ln w="12700">
            <a:solidFill>
              <a:srgbClr val="38BDF8"/>
            </a:solidFill>
            <a:prstDash val="solid"/>
          </a:ln>
        </p:spPr>
      </p:sp>
      <p:sp>
        <p:nvSpPr>
          <p:cNvPr id="13" name="Text 10"/>
          <p:cNvSpPr/>
          <p:nvPr/>
        </p:nvSpPr>
        <p:spPr>
          <a:xfrm>
            <a:off x="7818120" y="2450592"/>
            <a:ext cx="1965960" cy="475488"/>
          </a:xfrm>
          <a:prstGeom prst="rect">
            <a:avLst/>
          </a:prstGeom>
          <a:noFill/>
          <a:ln/>
        </p:spPr>
        <p:txBody>
          <a:bodyPr wrap="square" rtlCol="0" anchor="ctr"/>
          <a:lstStyle/>
          <a:p>
            <a:pPr marL="0" indent="0">
              <a:buNone/>
            </a:pPr>
            <a:r>
              <a:rPr lang="en-US" sz="1400" dirty="0">
                <a:solidFill>
                  <a:srgbClr val="8FBCDA"/>
                </a:solidFill>
                <a:latin typeface="Calibri" pitchFamily="34" charset="0"/>
                <a:ea typeface="Calibri" pitchFamily="34" charset="-122"/>
                <a:cs typeface="Calibri" pitchFamily="34" charset="-120"/>
              </a:rPr>
              <a:t>Precision</a:t>
            </a:r>
            <a:endParaRPr lang="en-US" sz="1400" dirty="0"/>
          </a:p>
        </p:txBody>
      </p:sp>
      <p:sp>
        <p:nvSpPr>
          <p:cNvPr id="14" name="Text 11"/>
          <p:cNvSpPr/>
          <p:nvPr/>
        </p:nvSpPr>
        <p:spPr>
          <a:xfrm>
            <a:off x="9784080" y="2450592"/>
            <a:ext cx="1783080" cy="475488"/>
          </a:xfrm>
          <a:prstGeom prst="rect">
            <a:avLst/>
          </a:prstGeom>
          <a:noFill/>
          <a:ln/>
        </p:spPr>
        <p:txBody>
          <a:bodyPr wrap="square" rtlCol="0" anchor="ctr"/>
          <a:lstStyle/>
          <a:p>
            <a:pPr marL="0" indent="0" algn="r">
              <a:buNone/>
            </a:pPr>
            <a:r>
              <a:rPr lang="en-US" sz="1600" b="1" dirty="0">
                <a:solidFill>
                  <a:srgbClr val="38BDF8"/>
                </a:solidFill>
                <a:latin typeface="Calibri" pitchFamily="34" charset="0"/>
                <a:ea typeface="Calibri" pitchFamily="34" charset="-122"/>
                <a:cs typeface="Calibri" pitchFamily="34" charset="-120"/>
              </a:rPr>
              <a:t>72.1%</a:t>
            </a:r>
            <a:endParaRPr lang="en-US" sz="1600" dirty="0"/>
          </a:p>
        </p:txBody>
      </p:sp>
      <p:sp>
        <p:nvSpPr>
          <p:cNvPr id="15" name="Shape 12"/>
          <p:cNvSpPr/>
          <p:nvPr/>
        </p:nvSpPr>
        <p:spPr>
          <a:xfrm>
            <a:off x="7726680" y="3054096"/>
            <a:ext cx="3977640" cy="576072"/>
          </a:xfrm>
          <a:prstGeom prst="rect">
            <a:avLst/>
          </a:prstGeom>
          <a:solidFill>
            <a:srgbClr val="061220"/>
          </a:solidFill>
          <a:ln w="12700">
            <a:solidFill>
              <a:srgbClr val="38BDF8"/>
            </a:solidFill>
            <a:prstDash val="solid"/>
          </a:ln>
        </p:spPr>
      </p:sp>
      <p:sp>
        <p:nvSpPr>
          <p:cNvPr id="16" name="Text 13"/>
          <p:cNvSpPr/>
          <p:nvPr/>
        </p:nvSpPr>
        <p:spPr>
          <a:xfrm>
            <a:off x="7818120" y="3108960"/>
            <a:ext cx="1965960" cy="475488"/>
          </a:xfrm>
          <a:prstGeom prst="rect">
            <a:avLst/>
          </a:prstGeom>
          <a:noFill/>
          <a:ln/>
        </p:spPr>
        <p:txBody>
          <a:bodyPr wrap="square" rtlCol="0" anchor="ctr"/>
          <a:lstStyle/>
          <a:p>
            <a:pPr marL="0" indent="0">
              <a:buNone/>
            </a:pPr>
            <a:r>
              <a:rPr lang="en-US" sz="1400" dirty="0">
                <a:solidFill>
                  <a:srgbClr val="8FBCDA"/>
                </a:solidFill>
                <a:latin typeface="Calibri" pitchFamily="34" charset="0"/>
                <a:ea typeface="Calibri" pitchFamily="34" charset="-122"/>
                <a:cs typeface="Calibri" pitchFamily="34" charset="-120"/>
              </a:rPr>
              <a:t>Recall</a:t>
            </a:r>
            <a:endParaRPr lang="en-US" sz="1400" dirty="0"/>
          </a:p>
        </p:txBody>
      </p:sp>
      <p:sp>
        <p:nvSpPr>
          <p:cNvPr id="17" name="Text 14"/>
          <p:cNvSpPr/>
          <p:nvPr/>
        </p:nvSpPr>
        <p:spPr>
          <a:xfrm>
            <a:off x="9784080" y="3108960"/>
            <a:ext cx="1783080" cy="475488"/>
          </a:xfrm>
          <a:prstGeom prst="rect">
            <a:avLst/>
          </a:prstGeom>
          <a:noFill/>
          <a:ln/>
        </p:spPr>
        <p:txBody>
          <a:bodyPr wrap="square" rtlCol="0" anchor="ctr"/>
          <a:lstStyle/>
          <a:p>
            <a:pPr marL="0" indent="0" algn="r">
              <a:buNone/>
            </a:pPr>
            <a:r>
              <a:rPr lang="en-US" sz="1600" b="1" dirty="0">
                <a:solidFill>
                  <a:srgbClr val="38BDF8"/>
                </a:solidFill>
                <a:latin typeface="Calibri" pitchFamily="34" charset="0"/>
                <a:ea typeface="Calibri" pitchFamily="34" charset="-122"/>
                <a:cs typeface="Calibri" pitchFamily="34" charset="-120"/>
              </a:rPr>
              <a:t>75.1%</a:t>
            </a:r>
            <a:endParaRPr lang="en-US" sz="1600" dirty="0"/>
          </a:p>
        </p:txBody>
      </p:sp>
      <p:sp>
        <p:nvSpPr>
          <p:cNvPr id="18" name="Shape 15"/>
          <p:cNvSpPr/>
          <p:nvPr/>
        </p:nvSpPr>
        <p:spPr>
          <a:xfrm>
            <a:off x="7726680" y="3712464"/>
            <a:ext cx="3977640" cy="576072"/>
          </a:xfrm>
          <a:prstGeom prst="rect">
            <a:avLst/>
          </a:prstGeom>
          <a:solidFill>
            <a:srgbClr val="061220"/>
          </a:solidFill>
          <a:ln w="12700">
            <a:solidFill>
              <a:srgbClr val="38BDF8"/>
            </a:solidFill>
            <a:prstDash val="solid"/>
          </a:ln>
        </p:spPr>
      </p:sp>
      <p:sp>
        <p:nvSpPr>
          <p:cNvPr id="19" name="Text 16"/>
          <p:cNvSpPr/>
          <p:nvPr/>
        </p:nvSpPr>
        <p:spPr>
          <a:xfrm>
            <a:off x="7818120" y="3767328"/>
            <a:ext cx="1965960" cy="475488"/>
          </a:xfrm>
          <a:prstGeom prst="rect">
            <a:avLst/>
          </a:prstGeom>
          <a:noFill/>
          <a:ln/>
        </p:spPr>
        <p:txBody>
          <a:bodyPr wrap="square" rtlCol="0" anchor="ctr"/>
          <a:lstStyle/>
          <a:p>
            <a:pPr marL="0" indent="0">
              <a:buNone/>
            </a:pPr>
            <a:r>
              <a:rPr lang="en-US" sz="1400" dirty="0">
                <a:solidFill>
                  <a:srgbClr val="8FBCDA"/>
                </a:solidFill>
                <a:latin typeface="Calibri" pitchFamily="34" charset="0"/>
                <a:ea typeface="Calibri" pitchFamily="34" charset="-122"/>
                <a:cs typeface="Calibri" pitchFamily="34" charset="-120"/>
              </a:rPr>
              <a:t>F1 Score</a:t>
            </a:r>
            <a:endParaRPr lang="en-US" sz="1400" dirty="0"/>
          </a:p>
        </p:txBody>
      </p:sp>
      <p:sp>
        <p:nvSpPr>
          <p:cNvPr id="20" name="Text 17"/>
          <p:cNvSpPr/>
          <p:nvPr/>
        </p:nvSpPr>
        <p:spPr>
          <a:xfrm>
            <a:off x="9784080" y="3767328"/>
            <a:ext cx="1783080" cy="475488"/>
          </a:xfrm>
          <a:prstGeom prst="rect">
            <a:avLst/>
          </a:prstGeom>
          <a:noFill/>
          <a:ln/>
        </p:spPr>
        <p:txBody>
          <a:bodyPr wrap="square" rtlCol="0" anchor="ctr"/>
          <a:lstStyle/>
          <a:p>
            <a:pPr marL="0" indent="0" algn="r">
              <a:buNone/>
            </a:pPr>
            <a:r>
              <a:rPr lang="en-US" sz="1600" b="1" dirty="0">
                <a:solidFill>
                  <a:srgbClr val="38BDF8"/>
                </a:solidFill>
                <a:latin typeface="Calibri" pitchFamily="34" charset="0"/>
                <a:ea typeface="Calibri" pitchFamily="34" charset="-122"/>
                <a:cs typeface="Calibri" pitchFamily="34" charset="-120"/>
              </a:rPr>
              <a:t>73.5%</a:t>
            </a:r>
            <a:endParaRPr lang="en-US" sz="1600" dirty="0"/>
          </a:p>
        </p:txBody>
      </p:sp>
      <p:sp>
        <p:nvSpPr>
          <p:cNvPr id="21" name="Shape 18"/>
          <p:cNvSpPr/>
          <p:nvPr/>
        </p:nvSpPr>
        <p:spPr>
          <a:xfrm>
            <a:off x="7726680" y="4370832"/>
            <a:ext cx="3977640" cy="576072"/>
          </a:xfrm>
          <a:prstGeom prst="rect">
            <a:avLst/>
          </a:prstGeom>
          <a:solidFill>
            <a:srgbClr val="061220"/>
          </a:solidFill>
          <a:ln w="12700">
            <a:solidFill>
              <a:srgbClr val="34D399"/>
            </a:solidFill>
            <a:prstDash val="solid"/>
          </a:ln>
        </p:spPr>
      </p:sp>
      <p:sp>
        <p:nvSpPr>
          <p:cNvPr id="22" name="Text 19"/>
          <p:cNvSpPr/>
          <p:nvPr/>
        </p:nvSpPr>
        <p:spPr>
          <a:xfrm>
            <a:off x="7818120" y="4425696"/>
            <a:ext cx="1965960" cy="475488"/>
          </a:xfrm>
          <a:prstGeom prst="rect">
            <a:avLst/>
          </a:prstGeom>
          <a:noFill/>
          <a:ln/>
        </p:spPr>
        <p:txBody>
          <a:bodyPr wrap="square" rtlCol="0" anchor="ctr"/>
          <a:lstStyle/>
          <a:p>
            <a:pPr marL="0" indent="0">
              <a:buNone/>
            </a:pPr>
            <a:r>
              <a:rPr lang="en-US" sz="1400" dirty="0">
                <a:solidFill>
                  <a:srgbClr val="8FBCDA"/>
                </a:solidFill>
                <a:latin typeface="Calibri" pitchFamily="34" charset="0"/>
                <a:ea typeface="Calibri" pitchFamily="34" charset="-122"/>
                <a:cs typeface="Calibri" pitchFamily="34" charset="-120"/>
              </a:rPr>
              <a:t>AUC-ROC</a:t>
            </a:r>
            <a:endParaRPr lang="en-US" sz="1400" dirty="0"/>
          </a:p>
        </p:txBody>
      </p:sp>
      <p:sp>
        <p:nvSpPr>
          <p:cNvPr id="23" name="Text 20"/>
          <p:cNvSpPr/>
          <p:nvPr/>
        </p:nvSpPr>
        <p:spPr>
          <a:xfrm>
            <a:off x="9784080" y="4425696"/>
            <a:ext cx="1783080" cy="475488"/>
          </a:xfrm>
          <a:prstGeom prst="rect">
            <a:avLst/>
          </a:prstGeom>
          <a:noFill/>
          <a:ln/>
        </p:spPr>
        <p:txBody>
          <a:bodyPr wrap="square" rtlCol="0" anchor="ctr"/>
          <a:lstStyle/>
          <a:p>
            <a:pPr marL="0" indent="0" algn="r">
              <a:buNone/>
            </a:pPr>
            <a:r>
              <a:rPr lang="en-US" sz="1600" b="1" dirty="0">
                <a:solidFill>
                  <a:srgbClr val="34D399"/>
                </a:solidFill>
                <a:latin typeface="Calibri" pitchFamily="34" charset="0"/>
                <a:ea typeface="Calibri" pitchFamily="34" charset="-122"/>
                <a:cs typeface="Calibri" pitchFamily="34" charset="-120"/>
              </a:rPr>
              <a:t>0.968</a:t>
            </a:r>
            <a:endParaRPr lang="en-US" sz="1600" dirty="0"/>
          </a:p>
        </p:txBody>
      </p:sp>
      <p:sp>
        <p:nvSpPr>
          <p:cNvPr id="24" name="Text 21"/>
          <p:cNvSpPr/>
          <p:nvPr/>
        </p:nvSpPr>
        <p:spPr>
          <a:xfrm>
            <a:off x="7726680" y="5166360"/>
            <a:ext cx="3977640" cy="1005840"/>
          </a:xfrm>
          <a:prstGeom prst="rect">
            <a:avLst/>
          </a:prstGeom>
          <a:noFill/>
          <a:ln/>
        </p:spPr>
        <p:txBody>
          <a:bodyPr wrap="square" rtlCol="0" anchor="ctr"/>
          <a:lstStyle/>
          <a:p>
            <a:pPr marL="0" indent="0">
              <a:buNone/>
            </a:pPr>
            <a:r>
              <a:rPr lang="en-US" sz="1200" dirty="0">
                <a:solidFill>
                  <a:srgbClr val="8FBCDA"/>
                </a:solidFill>
                <a:latin typeface="Calibri" pitchFamily="34" charset="0"/>
                <a:ea typeface="Calibri" pitchFamily="34" charset="-122"/>
                <a:cs typeface="Calibri" pitchFamily="34" charset="-120"/>
              </a:rPr>
              <a:t>Note: the high accuracy (94.4%) reflects class imbalance — most frames are 'not full'. The meaningful metrics are Precision and Recall on the positive class.</a:t>
            </a:r>
            <a:endParaRPr lang="en-US" sz="1200" dirty="0"/>
          </a:p>
          <a:p>
            <a:pPr marL="0" indent="0">
              <a:buNone/>
            </a:pPr>
            <a:endParaRPr lang="en-US" sz="1200" dirty="0"/>
          </a:p>
          <a:p>
            <a:pPr marL="0" indent="0">
              <a:buNone/>
            </a:pPr>
            <a:r>
              <a:rPr lang="en-US" sz="1200" dirty="0">
                <a:solidFill>
                  <a:srgbClr val="8FBCDA"/>
                </a:solidFill>
                <a:latin typeface="Calibri" pitchFamily="34" charset="0"/>
                <a:ea typeface="Calibri" pitchFamily="34" charset="-122"/>
                <a:cs typeface="Calibri" pitchFamily="34" charset="-120"/>
              </a:rPr>
              <a:t>False Negatives (missed 'full' frames) are more dangerous than False Positives — the conservative 0.35 threshold and rolling average together ensure that edge cases are caught by the safety margin rather than causing overflow.</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020617"/>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38BDF8"/>
          </a:solidFill>
          <a:ln w="12700">
            <a:solidFill>
              <a:srgbClr val="38BDF8"/>
            </a:solidFill>
            <a:prstDash val="solid"/>
          </a:ln>
        </p:spPr>
      </p:sp>
      <p:sp>
        <p:nvSpPr>
          <p:cNvPr id="3" name="Text 1"/>
          <p:cNvSpPr/>
          <p:nvPr/>
        </p:nvSpPr>
        <p:spPr>
          <a:xfrm>
            <a:off x="457200" y="91440"/>
            <a:ext cx="11274552" cy="658368"/>
          </a:xfrm>
          <a:prstGeom prst="rect">
            <a:avLst/>
          </a:prstGeom>
          <a:noFill/>
          <a:ln/>
        </p:spPr>
        <p:txBody>
          <a:bodyPr wrap="square" rtlCol="0" anchor="ctr"/>
          <a:lstStyle/>
          <a:p>
            <a:pPr marL="0" indent="0" algn="r">
              <a:buNone/>
            </a:pPr>
            <a:r>
              <a:rPr lang="en-US" sz="2600" b="1" dirty="0">
                <a:solidFill>
                  <a:srgbClr val="38BDF8"/>
                </a:solidFill>
                <a:latin typeface="Calibri" pitchFamily="34" charset="0"/>
                <a:ea typeface="Calibri" pitchFamily="34" charset="-122"/>
                <a:cs typeface="Calibri" pitchFamily="34" charset="-120"/>
              </a:rPr>
              <a:t>Feature Importance — Top 20 Features</a:t>
            </a:r>
            <a:endParaRPr lang="en-US" sz="2600" dirty="0"/>
          </a:p>
        </p:txBody>
      </p:sp>
      <p:sp>
        <p:nvSpPr>
          <p:cNvPr id="4" name="Text 2"/>
          <p:cNvSpPr/>
          <p:nvPr/>
        </p:nvSpPr>
        <p:spPr>
          <a:xfrm>
            <a:off x="457200" y="749808"/>
            <a:ext cx="11274552" cy="292608"/>
          </a:xfrm>
          <a:prstGeom prst="rect">
            <a:avLst/>
          </a:prstGeom>
          <a:noFill/>
          <a:ln/>
        </p:spPr>
        <p:txBody>
          <a:bodyPr wrap="square" rtlCol="0" anchor="ctr"/>
          <a:lstStyle/>
          <a:p>
            <a:pPr marL="0" indent="0" algn="r">
              <a:buNone/>
            </a:pPr>
            <a:r>
              <a:rPr lang="en-US" sz="1450" dirty="0">
                <a:solidFill>
                  <a:srgbClr val="8FBCDA"/>
                </a:solidFill>
                <a:latin typeface="Calibri" pitchFamily="34" charset="0"/>
                <a:ea typeface="Calibri" pitchFamily="34" charset="-122"/>
                <a:cs typeface="Calibri" pitchFamily="34" charset="-120"/>
              </a:rPr>
              <a:t>LightGBM  |  56 acoustic features extracted via STFT</a:t>
            </a:r>
            <a:endParaRPr lang="en-US" sz="1450" dirty="0"/>
          </a:p>
        </p:txBody>
      </p:sp>
      <p:sp>
        <p:nvSpPr>
          <p:cNvPr id="5" name="Text 3"/>
          <p:cNvSpPr/>
          <p:nvPr/>
        </p:nvSpPr>
        <p:spPr>
          <a:xfrm>
            <a:off x="365760" y="6601968"/>
            <a:ext cx="11457432" cy="201168"/>
          </a:xfrm>
          <a:prstGeom prst="rect">
            <a:avLst/>
          </a:prstGeom>
          <a:noFill/>
          <a:ln/>
        </p:spPr>
        <p:txBody>
          <a:bodyPr wrap="square" rtlCol="0" anchor="ctr"/>
          <a:lstStyle/>
          <a:p>
            <a:pPr marL="0" indent="0" algn="r">
              <a:buNone/>
            </a:pPr>
            <a:r>
              <a:rPr lang="en-US" sz="1050" dirty="0">
                <a:solidFill>
                  <a:srgbClr val="1A3A5F"/>
                </a:solidFill>
                <a:latin typeface="Calibri" pitchFamily="34" charset="0"/>
                <a:ea typeface="Calibri" pitchFamily="34" charset="-122"/>
                <a:cs typeface="Calibri" pitchFamily="34" charset="-120"/>
              </a:rPr>
              <a:t>Feature Importance</a:t>
            </a:r>
            <a:endParaRPr lang="en-US" sz="1050" dirty="0"/>
          </a:p>
        </p:txBody>
      </p:sp>
      <p:pic>
        <p:nvPicPr>
          <p:cNvPr id="6" name="Image 0" descr="C:\waterOverFlow\models\feature_importance_LightGBM.png"/>
          <p:cNvPicPr>
            <a:picLocks noChangeAspect="1"/>
          </p:cNvPicPr>
          <p:nvPr/>
        </p:nvPicPr>
        <p:blipFill>
          <a:blip r:embed="rId3"/>
          <a:stretch>
            <a:fillRect/>
          </a:stretch>
        </p:blipFill>
        <p:spPr>
          <a:xfrm>
            <a:off x="365760" y="1097280"/>
            <a:ext cx="7863840" cy="5212080"/>
          </a:xfrm>
          <a:prstGeom prst="rect">
            <a:avLst/>
          </a:prstGeom>
        </p:spPr>
      </p:pic>
      <p:sp>
        <p:nvSpPr>
          <p:cNvPr id="7" name="Shape 4"/>
          <p:cNvSpPr/>
          <p:nvPr/>
        </p:nvSpPr>
        <p:spPr>
          <a:xfrm>
            <a:off x="8412480" y="1097280"/>
            <a:ext cx="3429000" cy="5212080"/>
          </a:xfrm>
          <a:prstGeom prst="rect">
            <a:avLst/>
          </a:prstGeom>
          <a:solidFill>
            <a:srgbClr val="0A1628"/>
          </a:solidFill>
          <a:ln w="12700">
            <a:solidFill>
              <a:srgbClr val="1E3A5F"/>
            </a:solidFill>
            <a:prstDash val="solid"/>
          </a:ln>
        </p:spPr>
      </p:sp>
      <p:sp>
        <p:nvSpPr>
          <p:cNvPr id="8" name="Text 5"/>
          <p:cNvSpPr/>
          <p:nvPr/>
        </p:nvSpPr>
        <p:spPr>
          <a:xfrm>
            <a:off x="8549640" y="1188720"/>
            <a:ext cx="3154680" cy="384048"/>
          </a:xfrm>
          <a:prstGeom prst="rect">
            <a:avLst/>
          </a:prstGeom>
          <a:noFill/>
          <a:ln/>
        </p:spPr>
        <p:txBody>
          <a:bodyPr wrap="square" rtlCol="0" anchor="ctr"/>
          <a:lstStyle/>
          <a:p>
            <a:pPr marL="0" indent="0">
              <a:buNone/>
            </a:pPr>
            <a:r>
              <a:rPr lang="en-US" sz="1600" b="1" dirty="0">
                <a:solidFill>
                  <a:srgbClr val="38BDF8"/>
                </a:solidFill>
                <a:latin typeface="Calibri" pitchFamily="34" charset="0"/>
                <a:ea typeface="Calibri" pitchFamily="34" charset="-122"/>
                <a:cs typeface="Calibri" pitchFamily="34" charset="-120"/>
              </a:rPr>
              <a:t>Top 5 Features</a:t>
            </a:r>
            <a:endParaRPr lang="en-US" sz="1600" dirty="0"/>
          </a:p>
        </p:txBody>
      </p:sp>
      <p:sp>
        <p:nvSpPr>
          <p:cNvPr id="9" name="Text 6"/>
          <p:cNvSpPr/>
          <p:nvPr/>
        </p:nvSpPr>
        <p:spPr>
          <a:xfrm>
            <a:off x="8549640" y="1828800"/>
            <a:ext cx="3154680" cy="292608"/>
          </a:xfrm>
          <a:prstGeom prst="rect">
            <a:avLst/>
          </a:prstGeom>
          <a:noFill/>
          <a:ln/>
        </p:spPr>
        <p:txBody>
          <a:bodyPr wrap="square" rtlCol="0" anchor="ctr"/>
          <a:lstStyle/>
          <a:p>
            <a:pPr marL="0" indent="0">
              <a:buNone/>
            </a:pPr>
            <a:r>
              <a:rPr lang="en-US" sz="1300" b="1" dirty="0">
                <a:solidFill>
                  <a:srgbClr val="FFFFFF"/>
                </a:solidFill>
                <a:latin typeface="Courier New" pitchFamily="34" charset="0"/>
                <a:ea typeface="Courier New" pitchFamily="34" charset="-122"/>
                <a:cs typeface="Courier New" pitchFamily="34" charset="-120"/>
              </a:rPr>
              <a:t>#1  mfcc_1</a:t>
            </a:r>
            <a:endParaRPr lang="en-US" sz="1300" dirty="0"/>
          </a:p>
        </p:txBody>
      </p:sp>
      <p:sp>
        <p:nvSpPr>
          <p:cNvPr id="10" name="Text 7"/>
          <p:cNvSpPr/>
          <p:nvPr/>
        </p:nvSpPr>
        <p:spPr>
          <a:xfrm>
            <a:off x="8549640" y="2139696"/>
            <a:ext cx="3154680" cy="475488"/>
          </a:xfrm>
          <a:prstGeom prst="rect">
            <a:avLst/>
          </a:prstGeom>
          <a:noFill/>
          <a:ln/>
        </p:spPr>
        <p:txBody>
          <a:bodyPr wrap="square" rtlCol="0" anchor="ctr"/>
          <a:lstStyle/>
          <a:p>
            <a:pPr marL="0" indent="0">
              <a:buNone/>
            </a:pPr>
            <a:r>
              <a:rPr lang="en-US" sz="1200" dirty="0">
                <a:solidFill>
                  <a:srgbClr val="8FBCDA"/>
                </a:solidFill>
                <a:latin typeface="Calibri" pitchFamily="34" charset="0"/>
                <a:ea typeface="Calibri" pitchFamily="34" charset="-122"/>
                <a:cs typeface="Calibri" pitchFamily="34" charset="-120"/>
              </a:rPr>
              <a:t>Dominant spectral energy — captures spectral envelope shape of the pour</a:t>
            </a:r>
            <a:endParaRPr lang="en-US" sz="1200" dirty="0"/>
          </a:p>
        </p:txBody>
      </p:sp>
      <p:sp>
        <p:nvSpPr>
          <p:cNvPr id="11" name="Text 8"/>
          <p:cNvSpPr/>
          <p:nvPr/>
        </p:nvSpPr>
        <p:spPr>
          <a:xfrm>
            <a:off x="8549640" y="2697480"/>
            <a:ext cx="3154680" cy="292608"/>
          </a:xfrm>
          <a:prstGeom prst="rect">
            <a:avLst/>
          </a:prstGeom>
          <a:noFill/>
          <a:ln/>
        </p:spPr>
        <p:txBody>
          <a:bodyPr wrap="square" rtlCol="0" anchor="ctr"/>
          <a:lstStyle/>
          <a:p>
            <a:pPr marL="0" indent="0">
              <a:buNone/>
            </a:pPr>
            <a:r>
              <a:rPr lang="en-US" sz="1300" b="1" dirty="0">
                <a:solidFill>
                  <a:srgbClr val="FFFFFF"/>
                </a:solidFill>
                <a:latin typeface="Courier New" pitchFamily="34" charset="0"/>
                <a:ea typeface="Courier New" pitchFamily="34" charset="-122"/>
                <a:cs typeface="Courier New" pitchFamily="34" charset="-120"/>
              </a:rPr>
              <a:t>#2  delta_centroid</a:t>
            </a:r>
            <a:endParaRPr lang="en-US" sz="1300" dirty="0"/>
          </a:p>
        </p:txBody>
      </p:sp>
      <p:sp>
        <p:nvSpPr>
          <p:cNvPr id="12" name="Text 9"/>
          <p:cNvSpPr/>
          <p:nvPr/>
        </p:nvSpPr>
        <p:spPr>
          <a:xfrm>
            <a:off x="8549640" y="3008376"/>
            <a:ext cx="3154680" cy="475488"/>
          </a:xfrm>
          <a:prstGeom prst="rect">
            <a:avLst/>
          </a:prstGeom>
          <a:noFill/>
          <a:ln/>
        </p:spPr>
        <p:txBody>
          <a:bodyPr wrap="square" rtlCol="0" anchor="ctr"/>
          <a:lstStyle/>
          <a:p>
            <a:pPr marL="0" indent="0">
              <a:buNone/>
            </a:pPr>
            <a:r>
              <a:rPr lang="en-US" sz="1200" dirty="0">
                <a:solidFill>
                  <a:srgbClr val="8FBCDA"/>
                </a:solidFill>
                <a:latin typeface="Calibri" pitchFamily="34" charset="0"/>
                <a:ea typeface="Calibri" pitchFamily="34" charset="-122"/>
                <a:cs typeface="Calibri" pitchFamily="34" charset="-120"/>
              </a:rPr>
              <a:t>Rate of spectral center-of-mass shift during fill</a:t>
            </a:r>
            <a:endParaRPr lang="en-US" sz="1200" dirty="0"/>
          </a:p>
        </p:txBody>
      </p:sp>
      <p:sp>
        <p:nvSpPr>
          <p:cNvPr id="13" name="Text 10"/>
          <p:cNvSpPr/>
          <p:nvPr/>
        </p:nvSpPr>
        <p:spPr>
          <a:xfrm>
            <a:off x="8549640" y="3566160"/>
            <a:ext cx="3154680" cy="292608"/>
          </a:xfrm>
          <a:prstGeom prst="rect">
            <a:avLst/>
          </a:prstGeom>
          <a:noFill/>
          <a:ln/>
        </p:spPr>
        <p:txBody>
          <a:bodyPr wrap="square" rtlCol="0" anchor="ctr"/>
          <a:lstStyle/>
          <a:p>
            <a:pPr marL="0" indent="0">
              <a:buNone/>
            </a:pPr>
            <a:r>
              <a:rPr lang="en-US" sz="1300" b="1" dirty="0">
                <a:solidFill>
                  <a:srgbClr val="FFFFFF"/>
                </a:solidFill>
                <a:latin typeface="Courier New" pitchFamily="34" charset="0"/>
                <a:ea typeface="Courier New" pitchFamily="34" charset="-122"/>
                <a:cs typeface="Courier New" pitchFamily="34" charset="-120"/>
              </a:rPr>
              <a:t>#3  rms</a:t>
            </a:r>
            <a:endParaRPr lang="en-US" sz="1300" dirty="0"/>
          </a:p>
        </p:txBody>
      </p:sp>
      <p:sp>
        <p:nvSpPr>
          <p:cNvPr id="14" name="Text 11"/>
          <p:cNvSpPr/>
          <p:nvPr/>
        </p:nvSpPr>
        <p:spPr>
          <a:xfrm>
            <a:off x="8549640" y="3877056"/>
            <a:ext cx="3154680" cy="475488"/>
          </a:xfrm>
          <a:prstGeom prst="rect">
            <a:avLst/>
          </a:prstGeom>
          <a:noFill/>
          <a:ln/>
        </p:spPr>
        <p:txBody>
          <a:bodyPr wrap="square" rtlCol="0" anchor="ctr"/>
          <a:lstStyle/>
          <a:p>
            <a:pPr marL="0" indent="0">
              <a:buNone/>
            </a:pPr>
            <a:r>
              <a:rPr lang="en-US" sz="1200" dirty="0">
                <a:solidFill>
                  <a:srgbClr val="8FBCDA"/>
                </a:solidFill>
                <a:latin typeface="Calibri" pitchFamily="34" charset="0"/>
                <a:ea typeface="Calibri" pitchFamily="34" charset="-122"/>
                <a:cs typeface="Calibri" pitchFamily="34" charset="-120"/>
              </a:rPr>
              <a:t>Signal amplitude / pour intensity level</a:t>
            </a:r>
            <a:endParaRPr lang="en-US" sz="1200" dirty="0"/>
          </a:p>
        </p:txBody>
      </p:sp>
      <p:sp>
        <p:nvSpPr>
          <p:cNvPr id="15" name="Text 12"/>
          <p:cNvSpPr/>
          <p:nvPr/>
        </p:nvSpPr>
        <p:spPr>
          <a:xfrm>
            <a:off x="8549640" y="4434840"/>
            <a:ext cx="3154680" cy="292608"/>
          </a:xfrm>
          <a:prstGeom prst="rect">
            <a:avLst/>
          </a:prstGeom>
          <a:noFill/>
          <a:ln/>
        </p:spPr>
        <p:txBody>
          <a:bodyPr wrap="square" rtlCol="0" anchor="ctr"/>
          <a:lstStyle/>
          <a:p>
            <a:pPr marL="0" indent="0">
              <a:buNone/>
            </a:pPr>
            <a:r>
              <a:rPr lang="en-US" sz="1300" b="1" dirty="0">
                <a:solidFill>
                  <a:srgbClr val="FFFFFF"/>
                </a:solidFill>
                <a:latin typeface="Courier New" pitchFamily="34" charset="0"/>
                <a:ea typeface="Courier New" pitchFamily="34" charset="-122"/>
                <a:cs typeface="Courier New" pitchFamily="34" charset="-120"/>
              </a:rPr>
              <a:t>#4  delta_mfcc_1</a:t>
            </a:r>
            <a:endParaRPr lang="en-US" sz="1300" dirty="0"/>
          </a:p>
        </p:txBody>
      </p:sp>
      <p:sp>
        <p:nvSpPr>
          <p:cNvPr id="16" name="Text 13"/>
          <p:cNvSpPr/>
          <p:nvPr/>
        </p:nvSpPr>
        <p:spPr>
          <a:xfrm>
            <a:off x="8549640" y="4745736"/>
            <a:ext cx="3154680" cy="475488"/>
          </a:xfrm>
          <a:prstGeom prst="rect">
            <a:avLst/>
          </a:prstGeom>
          <a:noFill/>
          <a:ln/>
        </p:spPr>
        <p:txBody>
          <a:bodyPr wrap="square" rtlCol="0" anchor="ctr"/>
          <a:lstStyle/>
          <a:p>
            <a:pPr marL="0" indent="0">
              <a:buNone/>
            </a:pPr>
            <a:r>
              <a:rPr lang="en-US" sz="1200" dirty="0">
                <a:solidFill>
                  <a:srgbClr val="8FBCDA"/>
                </a:solidFill>
                <a:latin typeface="Calibri" pitchFamily="34" charset="0"/>
                <a:ea typeface="Calibri" pitchFamily="34" charset="-122"/>
                <a:cs typeface="Calibri" pitchFamily="34" charset="-120"/>
              </a:rPr>
              <a:t>Rate of change in the spectral envelope over time</a:t>
            </a:r>
            <a:endParaRPr lang="en-US" sz="1200" dirty="0"/>
          </a:p>
        </p:txBody>
      </p:sp>
      <p:sp>
        <p:nvSpPr>
          <p:cNvPr id="17" name="Text 14"/>
          <p:cNvSpPr/>
          <p:nvPr/>
        </p:nvSpPr>
        <p:spPr>
          <a:xfrm>
            <a:off x="8549640" y="5303520"/>
            <a:ext cx="3154680" cy="292608"/>
          </a:xfrm>
          <a:prstGeom prst="rect">
            <a:avLst/>
          </a:prstGeom>
          <a:noFill/>
          <a:ln/>
        </p:spPr>
        <p:txBody>
          <a:bodyPr wrap="square" rtlCol="0" anchor="ctr"/>
          <a:lstStyle/>
          <a:p>
            <a:pPr marL="0" indent="0">
              <a:buNone/>
            </a:pPr>
            <a:r>
              <a:rPr lang="en-US" sz="1300" b="1" dirty="0">
                <a:solidFill>
                  <a:srgbClr val="FFFFFF"/>
                </a:solidFill>
                <a:latin typeface="Courier New" pitchFamily="34" charset="0"/>
                <a:ea typeface="Courier New" pitchFamily="34" charset="-122"/>
                <a:cs typeface="Courier New" pitchFamily="34" charset="-120"/>
              </a:rPr>
              <a:t>#5  spectral_bw</a:t>
            </a:r>
            <a:endParaRPr lang="en-US" sz="1300" dirty="0"/>
          </a:p>
        </p:txBody>
      </p:sp>
      <p:sp>
        <p:nvSpPr>
          <p:cNvPr id="18" name="Text 15"/>
          <p:cNvSpPr/>
          <p:nvPr/>
        </p:nvSpPr>
        <p:spPr>
          <a:xfrm>
            <a:off x="8549640" y="5614416"/>
            <a:ext cx="3154680" cy="475488"/>
          </a:xfrm>
          <a:prstGeom prst="rect">
            <a:avLst/>
          </a:prstGeom>
          <a:noFill/>
          <a:ln/>
        </p:spPr>
        <p:txBody>
          <a:bodyPr wrap="square" rtlCol="0" anchor="ctr"/>
          <a:lstStyle/>
          <a:p>
            <a:pPr marL="0" indent="0">
              <a:buNone/>
            </a:pPr>
            <a:r>
              <a:rPr lang="en-US" sz="1200" dirty="0">
                <a:solidFill>
                  <a:srgbClr val="8FBCDA"/>
                </a:solidFill>
                <a:latin typeface="Calibri" pitchFamily="34" charset="0"/>
                <a:ea typeface="Calibri" pitchFamily="34" charset="-122"/>
                <a:cs typeface="Calibri" pitchFamily="34" charset="-120"/>
              </a:rPr>
              <a:t>Spectral spread around the centroid</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020617"/>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38BDF8"/>
          </a:solidFill>
          <a:ln w="12700">
            <a:solidFill>
              <a:srgbClr val="38BDF8"/>
            </a:solidFill>
            <a:prstDash val="solid"/>
          </a:ln>
        </p:spPr>
      </p:sp>
      <p:sp>
        <p:nvSpPr>
          <p:cNvPr id="3" name="Text 1"/>
          <p:cNvSpPr/>
          <p:nvPr/>
        </p:nvSpPr>
        <p:spPr>
          <a:xfrm>
            <a:off x="457200" y="91440"/>
            <a:ext cx="11274552" cy="658368"/>
          </a:xfrm>
          <a:prstGeom prst="rect">
            <a:avLst/>
          </a:prstGeom>
          <a:noFill/>
          <a:ln/>
        </p:spPr>
        <p:txBody>
          <a:bodyPr wrap="square" rtlCol="0" anchor="ctr"/>
          <a:lstStyle/>
          <a:p>
            <a:pPr marL="0" indent="0" algn="r">
              <a:buNone/>
            </a:pPr>
            <a:r>
              <a:rPr lang="en-US" sz="2600" b="1" dirty="0">
                <a:solidFill>
                  <a:srgbClr val="38BDF8"/>
                </a:solidFill>
                <a:latin typeface="Calibri" pitchFamily="34" charset="0"/>
                <a:ea typeface="Calibri" pitchFamily="34" charset="-122"/>
                <a:cs typeface="Calibri" pitchFamily="34" charset="-120"/>
              </a:rPr>
              <a:t>Acoustic Features in Practice</a:t>
            </a:r>
            <a:endParaRPr lang="en-US" sz="2600" dirty="0"/>
          </a:p>
        </p:txBody>
      </p:sp>
      <p:sp>
        <p:nvSpPr>
          <p:cNvPr id="4" name="Text 2"/>
          <p:cNvSpPr/>
          <p:nvPr/>
        </p:nvSpPr>
        <p:spPr>
          <a:xfrm>
            <a:off x="457200" y="749808"/>
            <a:ext cx="11274552" cy="292608"/>
          </a:xfrm>
          <a:prstGeom prst="rect">
            <a:avLst/>
          </a:prstGeom>
          <a:noFill/>
          <a:ln/>
        </p:spPr>
        <p:txBody>
          <a:bodyPr wrap="square" rtlCol="0" anchor="ctr"/>
          <a:lstStyle/>
          <a:p>
            <a:pPr marL="0" indent="0" algn="r">
              <a:buNone/>
            </a:pPr>
            <a:r>
              <a:rPr lang="en-US" sz="1450" dirty="0">
                <a:solidFill>
                  <a:srgbClr val="8FBCDA"/>
                </a:solidFill>
                <a:latin typeface="Calibri" pitchFamily="34" charset="0"/>
                <a:ea typeface="Calibri" pitchFamily="34" charset="-122"/>
                <a:cs typeface="Calibri" pitchFamily="34" charset="-120"/>
              </a:rPr>
              <a:t>Real data from cup8 — what the model actually sees</a:t>
            </a:r>
            <a:endParaRPr lang="en-US" sz="1450" dirty="0"/>
          </a:p>
        </p:txBody>
      </p:sp>
      <p:sp>
        <p:nvSpPr>
          <p:cNvPr id="5" name="Text 3"/>
          <p:cNvSpPr/>
          <p:nvPr/>
        </p:nvSpPr>
        <p:spPr>
          <a:xfrm>
            <a:off x="365760" y="6601968"/>
            <a:ext cx="11457432" cy="201168"/>
          </a:xfrm>
          <a:prstGeom prst="rect">
            <a:avLst/>
          </a:prstGeom>
          <a:noFill/>
          <a:ln/>
        </p:spPr>
        <p:txBody>
          <a:bodyPr wrap="square" rtlCol="0" anchor="ctr"/>
          <a:lstStyle/>
          <a:p>
            <a:pPr marL="0" indent="0" algn="r">
              <a:buNone/>
            </a:pPr>
            <a:r>
              <a:rPr lang="en-US" sz="1050" dirty="0">
                <a:solidFill>
                  <a:srgbClr val="1A3A5F"/>
                </a:solidFill>
                <a:latin typeface="Calibri" pitchFamily="34" charset="0"/>
                <a:ea typeface="Calibri" pitchFamily="34" charset="-122"/>
                <a:cs typeface="Calibri" pitchFamily="34" charset="-120"/>
              </a:rPr>
              <a:t>Acoustic Evidence</a:t>
            </a:r>
            <a:endParaRPr lang="en-US" sz="1050" dirty="0"/>
          </a:p>
        </p:txBody>
      </p:sp>
      <p:pic>
        <p:nvPicPr>
          <p:cNvPr id="6" name="Image 0" descr="C:\waterOverFlow\predictedExperiment\cup8_20260602-083604\04_acoustic_features.png"/>
          <p:cNvPicPr>
            <a:picLocks noChangeAspect="1"/>
          </p:cNvPicPr>
          <p:nvPr/>
        </p:nvPicPr>
        <p:blipFill>
          <a:blip r:embed="rId3"/>
          <a:stretch>
            <a:fillRect/>
          </a:stretch>
        </p:blipFill>
        <p:spPr>
          <a:xfrm>
            <a:off x="320040" y="1143000"/>
            <a:ext cx="7955280" cy="5349240"/>
          </a:xfrm>
          <a:prstGeom prst="rect">
            <a:avLst/>
          </a:prstGeom>
        </p:spPr>
      </p:pic>
      <p:sp>
        <p:nvSpPr>
          <p:cNvPr id="7" name="Shape 4"/>
          <p:cNvSpPr/>
          <p:nvPr/>
        </p:nvSpPr>
        <p:spPr>
          <a:xfrm>
            <a:off x="8412480" y="1170432"/>
            <a:ext cx="3611880" cy="1234440"/>
          </a:xfrm>
          <a:prstGeom prst="rect">
            <a:avLst/>
          </a:prstGeom>
          <a:solidFill>
            <a:srgbClr val="0A1628"/>
          </a:solidFill>
          <a:ln w="12700">
            <a:solidFill>
              <a:srgbClr val="38BDF8"/>
            </a:solidFill>
            <a:prstDash val="solid"/>
          </a:ln>
        </p:spPr>
      </p:sp>
      <p:sp>
        <p:nvSpPr>
          <p:cNvPr id="8" name="Shape 5"/>
          <p:cNvSpPr/>
          <p:nvPr/>
        </p:nvSpPr>
        <p:spPr>
          <a:xfrm>
            <a:off x="8485632" y="1170432"/>
            <a:ext cx="3465576" cy="36576"/>
          </a:xfrm>
          <a:prstGeom prst="rect">
            <a:avLst/>
          </a:prstGeom>
          <a:solidFill>
            <a:srgbClr val="38BDF8"/>
          </a:solidFill>
          <a:ln w="12700">
            <a:solidFill>
              <a:srgbClr val="38BDF8"/>
            </a:solidFill>
            <a:prstDash val="solid"/>
          </a:ln>
        </p:spPr>
      </p:sp>
      <p:sp>
        <p:nvSpPr>
          <p:cNvPr id="9" name="Text 6"/>
          <p:cNvSpPr/>
          <p:nvPr/>
        </p:nvSpPr>
        <p:spPr>
          <a:xfrm>
            <a:off x="8503920" y="1243584"/>
            <a:ext cx="3429000" cy="292608"/>
          </a:xfrm>
          <a:prstGeom prst="rect">
            <a:avLst/>
          </a:prstGeom>
          <a:noFill/>
          <a:ln/>
        </p:spPr>
        <p:txBody>
          <a:bodyPr wrap="square" rtlCol="0" anchor="ctr"/>
          <a:lstStyle/>
          <a:p>
            <a:pPr marL="0" indent="0">
              <a:buNone/>
            </a:pPr>
            <a:r>
              <a:rPr lang="en-US" sz="1250" b="1" dirty="0">
                <a:solidFill>
                  <a:srgbClr val="38BDF8"/>
                </a:solidFill>
                <a:latin typeface="Calibri" pitchFamily="34" charset="0"/>
                <a:ea typeface="Calibri" pitchFamily="34" charset="-122"/>
                <a:cs typeface="Calibri" pitchFamily="34" charset="-120"/>
              </a:rPr>
              <a:t>RMS peak → plateau</a:t>
            </a:r>
            <a:endParaRPr lang="en-US" sz="1250" dirty="0"/>
          </a:p>
        </p:txBody>
      </p:sp>
      <p:sp>
        <p:nvSpPr>
          <p:cNvPr id="10" name="Text 7"/>
          <p:cNvSpPr/>
          <p:nvPr/>
        </p:nvSpPr>
        <p:spPr>
          <a:xfrm>
            <a:off x="8503920" y="1572768"/>
            <a:ext cx="3429000" cy="768096"/>
          </a:xfrm>
          <a:prstGeom prst="rect">
            <a:avLst/>
          </a:prstGeom>
          <a:noFill/>
          <a:ln/>
        </p:spPr>
        <p:txBody>
          <a:bodyPr wrap="square" rtlCol="0" anchor="ctr"/>
          <a:lstStyle/>
          <a:p>
            <a:pPr marL="0" indent="0">
              <a:buNone/>
            </a:pPr>
            <a:r>
              <a:rPr lang="en-US" sz="1100" dirty="0">
                <a:solidFill>
                  <a:srgbClr val="8FBCDA"/>
                </a:solidFill>
                <a:latin typeface="Calibri" pitchFamily="34" charset="0"/>
                <a:ea typeface="Calibri" pitchFamily="34" charset="-122"/>
                <a:cs typeface="Calibri" pitchFamily="34" charset="-120"/>
              </a:rPr>
              <a:t>Energy spikes when pouring starts (water hits hard surface), then stabilises as pour steadies. Tapers near the end.</a:t>
            </a:r>
            <a:endParaRPr lang="en-US" sz="1100" dirty="0"/>
          </a:p>
        </p:txBody>
      </p:sp>
      <p:sp>
        <p:nvSpPr>
          <p:cNvPr id="11" name="Shape 8"/>
          <p:cNvSpPr/>
          <p:nvPr/>
        </p:nvSpPr>
        <p:spPr>
          <a:xfrm>
            <a:off x="8412480" y="2496312"/>
            <a:ext cx="3611880" cy="1234440"/>
          </a:xfrm>
          <a:prstGeom prst="rect">
            <a:avLst/>
          </a:prstGeom>
          <a:solidFill>
            <a:srgbClr val="0A1628"/>
          </a:solidFill>
          <a:ln w="12700">
            <a:solidFill>
              <a:srgbClr val="F59E0B"/>
            </a:solidFill>
            <a:prstDash val="solid"/>
          </a:ln>
        </p:spPr>
      </p:sp>
      <p:sp>
        <p:nvSpPr>
          <p:cNvPr id="12" name="Shape 9"/>
          <p:cNvSpPr/>
          <p:nvPr/>
        </p:nvSpPr>
        <p:spPr>
          <a:xfrm>
            <a:off x="8485632" y="2496312"/>
            <a:ext cx="3465576" cy="36576"/>
          </a:xfrm>
          <a:prstGeom prst="rect">
            <a:avLst/>
          </a:prstGeom>
          <a:solidFill>
            <a:srgbClr val="F59E0B"/>
          </a:solidFill>
          <a:ln w="12700">
            <a:solidFill>
              <a:srgbClr val="F59E0B"/>
            </a:solidFill>
            <a:prstDash val="solid"/>
          </a:ln>
        </p:spPr>
      </p:sp>
      <p:sp>
        <p:nvSpPr>
          <p:cNvPr id="13" name="Text 10"/>
          <p:cNvSpPr/>
          <p:nvPr/>
        </p:nvSpPr>
        <p:spPr>
          <a:xfrm>
            <a:off x="8503920" y="2569464"/>
            <a:ext cx="3429000" cy="292608"/>
          </a:xfrm>
          <a:prstGeom prst="rect">
            <a:avLst/>
          </a:prstGeom>
          <a:noFill/>
          <a:ln/>
        </p:spPr>
        <p:txBody>
          <a:bodyPr wrap="square" rtlCol="0" anchor="ctr"/>
          <a:lstStyle/>
          <a:p>
            <a:pPr marL="0" indent="0">
              <a:buNone/>
            </a:pPr>
            <a:r>
              <a:rPr lang="en-US" sz="1250" b="1" dirty="0">
                <a:solidFill>
                  <a:srgbClr val="F59E0B"/>
                </a:solidFill>
                <a:latin typeface="Calibri" pitchFamily="34" charset="0"/>
                <a:ea typeface="Calibri" pitchFamily="34" charset="-122"/>
                <a:cs typeface="Calibri" pitchFamily="34" charset="-120"/>
              </a:rPr>
              <a:t>Centroid drops sharply</a:t>
            </a:r>
            <a:endParaRPr lang="en-US" sz="1250" dirty="0"/>
          </a:p>
        </p:txBody>
      </p:sp>
      <p:sp>
        <p:nvSpPr>
          <p:cNvPr id="14" name="Text 11"/>
          <p:cNvSpPr/>
          <p:nvPr/>
        </p:nvSpPr>
        <p:spPr>
          <a:xfrm>
            <a:off x="8503920" y="2898648"/>
            <a:ext cx="3429000" cy="768096"/>
          </a:xfrm>
          <a:prstGeom prst="rect">
            <a:avLst/>
          </a:prstGeom>
          <a:noFill/>
          <a:ln/>
        </p:spPr>
        <p:txBody>
          <a:bodyPr wrap="square" rtlCol="0" anchor="ctr"/>
          <a:lstStyle/>
          <a:p>
            <a:pPr marL="0" indent="0">
              <a:buNone/>
            </a:pPr>
            <a:r>
              <a:rPr lang="en-US" sz="1100" dirty="0">
                <a:solidFill>
                  <a:srgbClr val="8FBCDA"/>
                </a:solidFill>
                <a:latin typeface="Calibri" pitchFamily="34" charset="0"/>
                <a:ea typeface="Calibri" pitchFamily="34" charset="-122"/>
                <a:cs typeface="Calibri" pitchFamily="34" charset="-120"/>
              </a:rPr>
              <a:t>At ~90% fill the centroid collapses — liquid hits liquid, killing the high-freq splash components.</a:t>
            </a:r>
            <a:endParaRPr lang="en-US" sz="1100" dirty="0"/>
          </a:p>
        </p:txBody>
      </p:sp>
      <p:sp>
        <p:nvSpPr>
          <p:cNvPr id="15" name="Shape 12"/>
          <p:cNvSpPr/>
          <p:nvPr/>
        </p:nvSpPr>
        <p:spPr>
          <a:xfrm>
            <a:off x="8412480" y="3822192"/>
            <a:ext cx="3611880" cy="1234440"/>
          </a:xfrm>
          <a:prstGeom prst="rect">
            <a:avLst/>
          </a:prstGeom>
          <a:solidFill>
            <a:srgbClr val="0A1628"/>
          </a:solidFill>
          <a:ln w="12700">
            <a:solidFill>
              <a:srgbClr val="34D399"/>
            </a:solidFill>
            <a:prstDash val="solid"/>
          </a:ln>
        </p:spPr>
      </p:sp>
      <p:sp>
        <p:nvSpPr>
          <p:cNvPr id="16" name="Shape 13"/>
          <p:cNvSpPr/>
          <p:nvPr/>
        </p:nvSpPr>
        <p:spPr>
          <a:xfrm>
            <a:off x="8485632" y="3822192"/>
            <a:ext cx="3465576" cy="36576"/>
          </a:xfrm>
          <a:prstGeom prst="rect">
            <a:avLst/>
          </a:prstGeom>
          <a:solidFill>
            <a:srgbClr val="34D399"/>
          </a:solidFill>
          <a:ln w="12700">
            <a:solidFill>
              <a:srgbClr val="34D399"/>
            </a:solidFill>
            <a:prstDash val="solid"/>
          </a:ln>
        </p:spPr>
      </p:sp>
      <p:sp>
        <p:nvSpPr>
          <p:cNvPr id="17" name="Text 14"/>
          <p:cNvSpPr/>
          <p:nvPr/>
        </p:nvSpPr>
        <p:spPr>
          <a:xfrm>
            <a:off x="8503920" y="3895344"/>
            <a:ext cx="3429000" cy="292608"/>
          </a:xfrm>
          <a:prstGeom prst="rect">
            <a:avLst/>
          </a:prstGeom>
          <a:noFill/>
          <a:ln/>
        </p:spPr>
        <p:txBody>
          <a:bodyPr wrap="square" rtlCol="0" anchor="ctr"/>
          <a:lstStyle/>
          <a:p>
            <a:pPr marL="0" indent="0">
              <a:buNone/>
            </a:pPr>
            <a:r>
              <a:rPr lang="en-US" sz="1250" b="1" dirty="0">
                <a:solidFill>
                  <a:srgbClr val="34D399"/>
                </a:solidFill>
                <a:latin typeface="Calibri" pitchFamily="34" charset="0"/>
                <a:ea typeface="Calibri" pitchFamily="34" charset="-122"/>
                <a:cs typeface="Calibri" pitchFamily="34" charset="-120"/>
              </a:rPr>
              <a:t>Δ Centroid goes negative</a:t>
            </a:r>
            <a:endParaRPr lang="en-US" sz="1250" dirty="0"/>
          </a:p>
        </p:txBody>
      </p:sp>
      <p:sp>
        <p:nvSpPr>
          <p:cNvPr id="18" name="Text 15"/>
          <p:cNvSpPr/>
          <p:nvPr/>
        </p:nvSpPr>
        <p:spPr>
          <a:xfrm>
            <a:off x="8503920" y="4224528"/>
            <a:ext cx="3429000" cy="768096"/>
          </a:xfrm>
          <a:prstGeom prst="rect">
            <a:avLst/>
          </a:prstGeom>
          <a:noFill/>
          <a:ln/>
        </p:spPr>
        <p:txBody>
          <a:bodyPr wrap="square" rtlCol="0" anchor="ctr"/>
          <a:lstStyle/>
          <a:p>
            <a:pPr marL="0" indent="0">
              <a:buNone/>
            </a:pPr>
            <a:r>
              <a:rPr lang="en-US" sz="1100" dirty="0">
                <a:solidFill>
                  <a:srgbClr val="8FBCDA"/>
                </a:solidFill>
                <a:latin typeface="Calibri" pitchFamily="34" charset="0"/>
                <a:ea typeface="Calibri" pitchFamily="34" charset="-122"/>
                <a:cs typeface="Calibri" pitchFamily="34" charset="-120"/>
              </a:rPr>
              <a:t>The rate of change flips strongly negative right at the stop point — the model's #2 most important feature.</a:t>
            </a:r>
            <a:endParaRPr lang="en-US" sz="1100" dirty="0"/>
          </a:p>
        </p:txBody>
      </p:sp>
      <p:sp>
        <p:nvSpPr>
          <p:cNvPr id="19" name="Shape 16"/>
          <p:cNvSpPr/>
          <p:nvPr/>
        </p:nvSpPr>
        <p:spPr>
          <a:xfrm>
            <a:off x="8412480" y="5148072"/>
            <a:ext cx="3611880" cy="1234440"/>
          </a:xfrm>
          <a:prstGeom prst="rect">
            <a:avLst/>
          </a:prstGeom>
          <a:solidFill>
            <a:srgbClr val="0A1628"/>
          </a:solidFill>
          <a:ln w="12700">
            <a:solidFill>
              <a:srgbClr val="FFFFFF"/>
            </a:solidFill>
            <a:prstDash val="solid"/>
          </a:ln>
        </p:spPr>
      </p:sp>
      <p:sp>
        <p:nvSpPr>
          <p:cNvPr id="20" name="Shape 17"/>
          <p:cNvSpPr/>
          <p:nvPr/>
        </p:nvSpPr>
        <p:spPr>
          <a:xfrm>
            <a:off x="8485632" y="5148072"/>
            <a:ext cx="3465576" cy="36576"/>
          </a:xfrm>
          <a:prstGeom prst="rect">
            <a:avLst/>
          </a:prstGeom>
          <a:solidFill>
            <a:srgbClr val="FFFFFF"/>
          </a:solidFill>
          <a:ln w="12700">
            <a:solidFill>
              <a:srgbClr val="FFFFFF"/>
            </a:solidFill>
            <a:prstDash val="solid"/>
          </a:ln>
        </p:spPr>
      </p:sp>
      <p:sp>
        <p:nvSpPr>
          <p:cNvPr id="21" name="Text 18"/>
          <p:cNvSpPr/>
          <p:nvPr/>
        </p:nvSpPr>
        <p:spPr>
          <a:xfrm>
            <a:off x="8503920" y="5221224"/>
            <a:ext cx="3429000" cy="292608"/>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MFCC 1 rises then flattens</a:t>
            </a:r>
            <a:endParaRPr lang="en-US" sz="1250" dirty="0"/>
          </a:p>
        </p:txBody>
      </p:sp>
      <p:sp>
        <p:nvSpPr>
          <p:cNvPr id="22" name="Text 19"/>
          <p:cNvSpPr/>
          <p:nvPr/>
        </p:nvSpPr>
        <p:spPr>
          <a:xfrm>
            <a:off x="8503920" y="5550408"/>
            <a:ext cx="3429000" cy="768096"/>
          </a:xfrm>
          <a:prstGeom prst="rect">
            <a:avLst/>
          </a:prstGeom>
          <a:noFill/>
          <a:ln/>
        </p:spPr>
        <p:txBody>
          <a:bodyPr wrap="square" rtlCol="0" anchor="ctr"/>
          <a:lstStyle/>
          <a:p>
            <a:pPr marL="0" indent="0">
              <a:buNone/>
            </a:pPr>
            <a:r>
              <a:rPr lang="en-US" sz="1100" dirty="0">
                <a:solidFill>
                  <a:srgbClr val="8FBCDA"/>
                </a:solidFill>
                <a:latin typeface="Calibri" pitchFamily="34" charset="0"/>
                <a:ea typeface="Calibri" pitchFamily="34" charset="-122"/>
                <a:cs typeface="Calibri" pitchFamily="34" charset="-120"/>
              </a:rPr>
              <a:t>Spectral envelope (#1 feature) shifts during active pour and stabilises as the cup nears full.</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020617"/>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38BDF8"/>
          </a:solidFill>
          <a:ln w="12700">
            <a:solidFill>
              <a:srgbClr val="38BDF8"/>
            </a:solidFill>
            <a:prstDash val="solid"/>
          </a:ln>
        </p:spPr>
      </p:sp>
      <p:sp>
        <p:nvSpPr>
          <p:cNvPr id="3" name="Text 1"/>
          <p:cNvSpPr/>
          <p:nvPr/>
        </p:nvSpPr>
        <p:spPr>
          <a:xfrm>
            <a:off x="457200" y="91440"/>
            <a:ext cx="11274552" cy="658368"/>
          </a:xfrm>
          <a:prstGeom prst="rect">
            <a:avLst/>
          </a:prstGeom>
          <a:noFill/>
          <a:ln/>
        </p:spPr>
        <p:txBody>
          <a:bodyPr wrap="square" rtlCol="0" anchor="ctr"/>
          <a:lstStyle/>
          <a:p>
            <a:pPr marL="0" indent="0" algn="r">
              <a:buNone/>
            </a:pPr>
            <a:r>
              <a:rPr lang="en-US" sz="2600" b="1" dirty="0">
                <a:solidFill>
                  <a:srgbClr val="38BDF8"/>
                </a:solidFill>
                <a:latin typeface="Calibri" pitchFamily="34" charset="0"/>
                <a:ea typeface="Calibri" pitchFamily="34" charset="-122"/>
                <a:cs typeface="Calibri" pitchFamily="34" charset="-120"/>
              </a:rPr>
              <a:t>Live Prediction — Cup 8 (Real Recording)</a:t>
            </a:r>
            <a:endParaRPr lang="en-US" sz="2600" dirty="0"/>
          </a:p>
        </p:txBody>
      </p:sp>
      <p:sp>
        <p:nvSpPr>
          <p:cNvPr id="4" name="Text 2"/>
          <p:cNvSpPr/>
          <p:nvPr/>
        </p:nvSpPr>
        <p:spPr>
          <a:xfrm>
            <a:off x="457200" y="749808"/>
            <a:ext cx="11274552" cy="292608"/>
          </a:xfrm>
          <a:prstGeom prst="rect">
            <a:avLst/>
          </a:prstGeom>
          <a:noFill/>
          <a:ln/>
        </p:spPr>
        <p:txBody>
          <a:bodyPr wrap="square" rtlCol="0" anchor="ctr"/>
          <a:lstStyle/>
          <a:p>
            <a:pPr marL="0" indent="0" algn="r">
              <a:buNone/>
            </a:pPr>
            <a:r>
              <a:rPr lang="en-US" sz="1450" dirty="0">
                <a:solidFill>
                  <a:srgbClr val="8FBCDA"/>
                </a:solidFill>
                <a:latin typeface="Calibri" pitchFamily="34" charset="0"/>
                <a:ea typeface="Calibri" pitchFamily="34" charset="-122"/>
                <a:cs typeface="Calibri" pitchFamily="34" charset="-120"/>
              </a:rPr>
              <a:t>Fill level over time (top)  |  Model probability + stop decision (bottom)</a:t>
            </a:r>
            <a:endParaRPr lang="en-US" sz="1450" dirty="0"/>
          </a:p>
        </p:txBody>
      </p:sp>
      <p:sp>
        <p:nvSpPr>
          <p:cNvPr id="5" name="Text 3"/>
          <p:cNvSpPr/>
          <p:nvPr/>
        </p:nvSpPr>
        <p:spPr>
          <a:xfrm>
            <a:off x="365760" y="6601968"/>
            <a:ext cx="11457432" cy="201168"/>
          </a:xfrm>
          <a:prstGeom prst="rect">
            <a:avLst/>
          </a:prstGeom>
          <a:noFill/>
          <a:ln/>
        </p:spPr>
        <p:txBody>
          <a:bodyPr wrap="square" rtlCol="0" anchor="ctr"/>
          <a:lstStyle/>
          <a:p>
            <a:pPr marL="0" indent="0" algn="r">
              <a:buNone/>
            </a:pPr>
            <a:r>
              <a:rPr lang="en-US" sz="1050" dirty="0">
                <a:solidFill>
                  <a:srgbClr val="1A3A5F"/>
                </a:solidFill>
                <a:latin typeface="Calibri" pitchFamily="34" charset="0"/>
                <a:ea typeface="Calibri" pitchFamily="34" charset="-122"/>
                <a:cs typeface="Calibri" pitchFamily="34" charset="-120"/>
              </a:rPr>
              <a:t>Live Prediction</a:t>
            </a:r>
            <a:endParaRPr lang="en-US" sz="1050" dirty="0"/>
          </a:p>
        </p:txBody>
      </p:sp>
      <p:pic>
        <p:nvPicPr>
          <p:cNvPr id="6" name="Image 0" descr="C:\waterOverFlow\predictedExperiment\cup8_20260602-083604\01_fill_level.png"/>
          <p:cNvPicPr>
            <a:picLocks noChangeAspect="1"/>
          </p:cNvPicPr>
          <p:nvPr/>
        </p:nvPicPr>
        <p:blipFill>
          <a:blip r:embed="rId3"/>
          <a:stretch>
            <a:fillRect/>
          </a:stretch>
        </p:blipFill>
        <p:spPr>
          <a:xfrm>
            <a:off x="365760" y="1097280"/>
            <a:ext cx="7863840" cy="2331720"/>
          </a:xfrm>
          <a:prstGeom prst="rect">
            <a:avLst/>
          </a:prstGeom>
        </p:spPr>
      </p:pic>
      <p:pic>
        <p:nvPicPr>
          <p:cNvPr id="7" name="Image 1" descr="C:\waterOverFlow\predictedExperiment\cup8_20260602-083604\02_probability.png"/>
          <p:cNvPicPr>
            <a:picLocks noChangeAspect="1"/>
          </p:cNvPicPr>
          <p:nvPr/>
        </p:nvPicPr>
        <p:blipFill>
          <a:blip r:embed="rId4"/>
          <a:stretch>
            <a:fillRect/>
          </a:stretch>
        </p:blipFill>
        <p:spPr>
          <a:xfrm>
            <a:off x="365760" y="3520440"/>
            <a:ext cx="7863840" cy="2788920"/>
          </a:xfrm>
          <a:prstGeom prst="rect">
            <a:avLst/>
          </a:prstGeom>
        </p:spPr>
      </p:pic>
      <p:sp>
        <p:nvSpPr>
          <p:cNvPr id="8" name="Shape 4"/>
          <p:cNvSpPr/>
          <p:nvPr/>
        </p:nvSpPr>
        <p:spPr>
          <a:xfrm>
            <a:off x="8412480" y="1097280"/>
            <a:ext cx="3429000" cy="5212080"/>
          </a:xfrm>
          <a:prstGeom prst="rect">
            <a:avLst/>
          </a:prstGeom>
          <a:solidFill>
            <a:srgbClr val="0A1628"/>
          </a:solidFill>
          <a:ln w="12700">
            <a:solidFill>
              <a:srgbClr val="1E3A5F"/>
            </a:solidFill>
            <a:prstDash val="solid"/>
          </a:ln>
        </p:spPr>
      </p:sp>
      <p:sp>
        <p:nvSpPr>
          <p:cNvPr id="9" name="Text 5"/>
          <p:cNvSpPr/>
          <p:nvPr/>
        </p:nvSpPr>
        <p:spPr>
          <a:xfrm>
            <a:off x="8549640" y="1188720"/>
            <a:ext cx="3154680" cy="384048"/>
          </a:xfrm>
          <a:prstGeom prst="rect">
            <a:avLst/>
          </a:prstGeom>
          <a:noFill/>
          <a:ln/>
        </p:spPr>
        <p:txBody>
          <a:bodyPr wrap="square" rtlCol="0" anchor="ctr"/>
          <a:lstStyle/>
          <a:p>
            <a:pPr marL="0" indent="0">
              <a:buNone/>
            </a:pPr>
            <a:r>
              <a:rPr lang="en-US" sz="1600" b="1" dirty="0">
                <a:solidFill>
                  <a:srgbClr val="38BDF8"/>
                </a:solidFill>
                <a:latin typeface="Calibri" pitchFamily="34" charset="0"/>
                <a:ea typeface="Calibri" pitchFamily="34" charset="-122"/>
                <a:cs typeface="Calibri" pitchFamily="34" charset="-120"/>
              </a:rPr>
              <a:t>Prediction Results</a:t>
            </a:r>
            <a:endParaRPr lang="en-US" sz="1600" dirty="0"/>
          </a:p>
        </p:txBody>
      </p:sp>
      <p:sp>
        <p:nvSpPr>
          <p:cNvPr id="10" name="Shape 6"/>
          <p:cNvSpPr/>
          <p:nvPr/>
        </p:nvSpPr>
        <p:spPr>
          <a:xfrm>
            <a:off x="8458200" y="1783080"/>
            <a:ext cx="3291840" cy="1234440"/>
          </a:xfrm>
          <a:prstGeom prst="rect">
            <a:avLst/>
          </a:prstGeom>
          <a:solidFill>
            <a:srgbClr val="061220"/>
          </a:solidFill>
          <a:ln w="12700">
            <a:solidFill>
              <a:srgbClr val="F59E0B"/>
            </a:solidFill>
            <a:prstDash val="solid"/>
          </a:ln>
        </p:spPr>
      </p:sp>
      <p:sp>
        <p:nvSpPr>
          <p:cNvPr id="11" name="Text 7"/>
          <p:cNvSpPr/>
          <p:nvPr/>
        </p:nvSpPr>
        <p:spPr>
          <a:xfrm>
            <a:off x="8458200" y="1874520"/>
            <a:ext cx="3291840" cy="640080"/>
          </a:xfrm>
          <a:prstGeom prst="rect">
            <a:avLst/>
          </a:prstGeom>
          <a:noFill/>
          <a:ln/>
        </p:spPr>
        <p:txBody>
          <a:bodyPr wrap="square" rtlCol="0" anchor="ctr"/>
          <a:lstStyle/>
          <a:p>
            <a:pPr marL="0" indent="0" algn="ctr">
              <a:buNone/>
            </a:pPr>
            <a:r>
              <a:rPr lang="en-US" sz="2800" b="1" dirty="0">
                <a:solidFill>
                  <a:srgbClr val="F59E0B"/>
                </a:solidFill>
                <a:latin typeface="Calibri" pitchFamily="34" charset="0"/>
                <a:ea typeface="Calibri" pitchFamily="34" charset="-122"/>
                <a:cs typeface="Calibri" pitchFamily="34" charset="-120"/>
              </a:rPr>
              <a:t>+0.10 s</a:t>
            </a:r>
            <a:endParaRPr lang="en-US" sz="2800" dirty="0"/>
          </a:p>
        </p:txBody>
      </p:sp>
      <p:sp>
        <p:nvSpPr>
          <p:cNvPr id="12" name="Text 8"/>
          <p:cNvSpPr/>
          <p:nvPr/>
        </p:nvSpPr>
        <p:spPr>
          <a:xfrm>
            <a:off x="8458200" y="2560320"/>
            <a:ext cx="3291840" cy="384048"/>
          </a:xfrm>
          <a:prstGeom prst="rect">
            <a:avLst/>
          </a:prstGeom>
          <a:noFill/>
          <a:ln/>
        </p:spPr>
        <p:txBody>
          <a:bodyPr wrap="square" rtlCol="0" anchor="ctr"/>
          <a:lstStyle/>
          <a:p>
            <a:pPr marL="0" indent="0" algn="ctr">
              <a:buNone/>
            </a:pPr>
            <a:r>
              <a:rPr lang="en-US" sz="1200" dirty="0">
                <a:solidFill>
                  <a:srgbClr val="8FBCDA"/>
                </a:solidFill>
                <a:latin typeface="Calibri" pitchFamily="34" charset="0"/>
                <a:ea typeface="Calibri" pitchFamily="34" charset="-122"/>
                <a:cs typeface="Calibri" pitchFamily="34" charset="-120"/>
              </a:rPr>
              <a:t>Stopped late</a:t>
            </a:r>
            <a:endParaRPr lang="en-US" sz="1200" dirty="0"/>
          </a:p>
          <a:p>
            <a:pPr marL="0" indent="0" algn="ctr">
              <a:buNone/>
            </a:pPr>
            <a:r>
              <a:rPr lang="en-US" sz="1200" dirty="0">
                <a:solidFill>
                  <a:srgbClr val="8FBCDA"/>
                </a:solidFill>
                <a:latin typeface="Calibri" pitchFamily="34" charset="0"/>
                <a:ea typeface="Calibri" pitchFamily="34" charset="-122"/>
                <a:cs typeface="Calibri" pitchFamily="34" charset="-120"/>
              </a:rPr>
              <a:t>(100ms after 90% target — safe)</a:t>
            </a:r>
            <a:endParaRPr lang="en-US" sz="1200" dirty="0"/>
          </a:p>
        </p:txBody>
      </p:sp>
      <p:sp>
        <p:nvSpPr>
          <p:cNvPr id="13" name="Shape 9"/>
          <p:cNvSpPr/>
          <p:nvPr/>
        </p:nvSpPr>
        <p:spPr>
          <a:xfrm>
            <a:off x="8458200" y="3172968"/>
            <a:ext cx="3291840" cy="1234440"/>
          </a:xfrm>
          <a:prstGeom prst="rect">
            <a:avLst/>
          </a:prstGeom>
          <a:solidFill>
            <a:srgbClr val="061220"/>
          </a:solidFill>
          <a:ln w="12700">
            <a:solidFill>
              <a:srgbClr val="38BDF8"/>
            </a:solidFill>
            <a:prstDash val="solid"/>
          </a:ln>
        </p:spPr>
      </p:sp>
      <p:sp>
        <p:nvSpPr>
          <p:cNvPr id="14" name="Text 10"/>
          <p:cNvSpPr/>
          <p:nvPr/>
        </p:nvSpPr>
        <p:spPr>
          <a:xfrm>
            <a:off x="8458200" y="3264408"/>
            <a:ext cx="3291840" cy="640080"/>
          </a:xfrm>
          <a:prstGeom prst="rect">
            <a:avLst/>
          </a:prstGeom>
          <a:noFill/>
          <a:ln/>
        </p:spPr>
        <p:txBody>
          <a:bodyPr wrap="square" rtlCol="0" anchor="ctr"/>
          <a:lstStyle/>
          <a:p>
            <a:pPr marL="0" indent="0" algn="ctr">
              <a:buNone/>
            </a:pPr>
            <a:r>
              <a:rPr lang="en-US" sz="2800" b="1" dirty="0">
                <a:solidFill>
                  <a:srgbClr val="38BDF8"/>
                </a:solidFill>
                <a:latin typeface="Calibri" pitchFamily="34" charset="0"/>
                <a:ea typeface="Calibri" pitchFamily="34" charset="-122"/>
                <a:cs typeface="Calibri" pitchFamily="34" charset="-120"/>
              </a:rPr>
              <a:t>73.5%</a:t>
            </a:r>
            <a:endParaRPr lang="en-US" sz="2800" dirty="0"/>
          </a:p>
        </p:txBody>
      </p:sp>
      <p:sp>
        <p:nvSpPr>
          <p:cNvPr id="15" name="Text 11"/>
          <p:cNvSpPr/>
          <p:nvPr/>
        </p:nvSpPr>
        <p:spPr>
          <a:xfrm>
            <a:off x="8458200" y="3950208"/>
            <a:ext cx="3291840" cy="384048"/>
          </a:xfrm>
          <a:prstGeom prst="rect">
            <a:avLst/>
          </a:prstGeom>
          <a:noFill/>
          <a:ln/>
        </p:spPr>
        <p:txBody>
          <a:bodyPr wrap="square" rtlCol="0" anchor="ctr"/>
          <a:lstStyle/>
          <a:p>
            <a:pPr marL="0" indent="0" algn="ctr">
              <a:buNone/>
            </a:pPr>
            <a:r>
              <a:rPr lang="en-US" sz="1200" dirty="0">
                <a:solidFill>
                  <a:srgbClr val="8FBCDA"/>
                </a:solidFill>
                <a:latin typeface="Calibri" pitchFamily="34" charset="0"/>
                <a:ea typeface="Calibri" pitchFamily="34" charset="-122"/>
                <a:cs typeface="Calibri" pitchFamily="34" charset="-120"/>
              </a:rPr>
              <a:t>F1 Score</a:t>
            </a:r>
            <a:endParaRPr lang="en-US" sz="1200" dirty="0"/>
          </a:p>
          <a:p>
            <a:pPr marL="0" indent="0" algn="ctr">
              <a:buNone/>
            </a:pPr>
            <a:r>
              <a:rPr lang="en-US" sz="1200" dirty="0">
                <a:solidFill>
                  <a:srgbClr val="8FBCDA"/>
                </a:solidFill>
                <a:latin typeface="Calibri" pitchFamily="34" charset="0"/>
                <a:ea typeface="Calibri" pitchFamily="34" charset="-122"/>
                <a:cs typeface="Calibri" pitchFamily="34" charset="-120"/>
              </a:rPr>
              <a:t>(cross-validation)</a:t>
            </a:r>
            <a:endParaRPr lang="en-US" sz="1200" dirty="0"/>
          </a:p>
        </p:txBody>
      </p:sp>
      <p:sp>
        <p:nvSpPr>
          <p:cNvPr id="16" name="Shape 12"/>
          <p:cNvSpPr/>
          <p:nvPr/>
        </p:nvSpPr>
        <p:spPr>
          <a:xfrm>
            <a:off x="8458200" y="4562856"/>
            <a:ext cx="3291840" cy="1234440"/>
          </a:xfrm>
          <a:prstGeom prst="rect">
            <a:avLst/>
          </a:prstGeom>
          <a:solidFill>
            <a:srgbClr val="061220"/>
          </a:solidFill>
          <a:ln w="12700">
            <a:solidFill>
              <a:srgbClr val="38BDF8"/>
            </a:solidFill>
            <a:prstDash val="solid"/>
          </a:ln>
        </p:spPr>
      </p:sp>
      <p:sp>
        <p:nvSpPr>
          <p:cNvPr id="17" name="Text 13"/>
          <p:cNvSpPr/>
          <p:nvPr/>
        </p:nvSpPr>
        <p:spPr>
          <a:xfrm>
            <a:off x="8458200" y="4654296"/>
            <a:ext cx="3291840" cy="640080"/>
          </a:xfrm>
          <a:prstGeom prst="rect">
            <a:avLst/>
          </a:prstGeom>
          <a:noFill/>
          <a:ln/>
        </p:spPr>
        <p:txBody>
          <a:bodyPr wrap="square" rtlCol="0" anchor="ctr"/>
          <a:lstStyle/>
          <a:p>
            <a:pPr marL="0" indent="0" algn="ctr">
              <a:buNone/>
            </a:pPr>
            <a:r>
              <a:rPr lang="en-US" sz="2800" b="1" dirty="0">
                <a:solidFill>
                  <a:srgbClr val="38BDF8"/>
                </a:solidFill>
                <a:latin typeface="Calibri" pitchFamily="34" charset="0"/>
                <a:ea typeface="Calibri" pitchFamily="34" charset="-122"/>
                <a:cs typeface="Calibri" pitchFamily="34" charset="-120"/>
              </a:rPr>
              <a:t>0.968</a:t>
            </a:r>
            <a:endParaRPr lang="en-US" sz="2800" dirty="0"/>
          </a:p>
        </p:txBody>
      </p:sp>
      <p:sp>
        <p:nvSpPr>
          <p:cNvPr id="18" name="Text 14"/>
          <p:cNvSpPr/>
          <p:nvPr/>
        </p:nvSpPr>
        <p:spPr>
          <a:xfrm>
            <a:off x="8458200" y="5340096"/>
            <a:ext cx="3291840" cy="384048"/>
          </a:xfrm>
          <a:prstGeom prst="rect">
            <a:avLst/>
          </a:prstGeom>
          <a:noFill/>
          <a:ln/>
        </p:spPr>
        <p:txBody>
          <a:bodyPr wrap="square" rtlCol="0" anchor="ctr"/>
          <a:lstStyle/>
          <a:p>
            <a:pPr marL="0" indent="0" algn="ctr">
              <a:buNone/>
            </a:pPr>
            <a:r>
              <a:rPr lang="en-US" sz="1200" dirty="0">
                <a:solidFill>
                  <a:srgbClr val="8FBCDA"/>
                </a:solidFill>
                <a:latin typeface="Calibri" pitchFamily="34" charset="0"/>
                <a:ea typeface="Calibri" pitchFamily="34" charset="-122"/>
                <a:cs typeface="Calibri" pitchFamily="34" charset="-120"/>
              </a:rPr>
              <a:t>AUC-ROC</a:t>
            </a:r>
            <a:endParaRPr lang="en-US" sz="1200" dirty="0"/>
          </a:p>
        </p:txBody>
      </p:sp>
      <p:sp>
        <p:nvSpPr>
          <p:cNvPr id="19" name="Text 15"/>
          <p:cNvSpPr/>
          <p:nvPr/>
        </p:nvSpPr>
        <p:spPr>
          <a:xfrm>
            <a:off x="8458200" y="6016752"/>
            <a:ext cx="3291840" cy="228600"/>
          </a:xfrm>
          <a:prstGeom prst="rect">
            <a:avLst/>
          </a:prstGeom>
          <a:noFill/>
          <a:ln/>
        </p:spPr>
        <p:txBody>
          <a:bodyPr wrap="square" rtlCol="0" anchor="ctr"/>
          <a:lstStyle/>
          <a:p>
            <a:pPr marL="0" indent="0" algn="ctr">
              <a:buNone/>
            </a:pPr>
            <a:r>
              <a:rPr lang="en-US" sz="1050" dirty="0">
                <a:solidFill>
                  <a:srgbClr val="2A4A6A"/>
                </a:solidFill>
                <a:latin typeface="Calibri" pitchFamily="34" charset="0"/>
                <a:ea typeface="Calibri" pitchFamily="34" charset="-122"/>
                <a:cs typeface="Calibri" pitchFamily="34" charset="-120"/>
              </a:rPr>
              <a:t>Model detects spectral shift as cup fills → stops pump automatically</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020617"/>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38BDF8"/>
          </a:solidFill>
          <a:ln w="12700">
            <a:solidFill>
              <a:srgbClr val="38BDF8"/>
            </a:solidFill>
            <a:prstDash val="solid"/>
          </a:ln>
        </p:spPr>
      </p:sp>
      <p:sp>
        <p:nvSpPr>
          <p:cNvPr id="3" name="Text 1"/>
          <p:cNvSpPr/>
          <p:nvPr/>
        </p:nvSpPr>
        <p:spPr>
          <a:xfrm>
            <a:off x="457200" y="91440"/>
            <a:ext cx="11274552" cy="658368"/>
          </a:xfrm>
          <a:prstGeom prst="rect">
            <a:avLst/>
          </a:prstGeom>
          <a:noFill/>
          <a:ln/>
        </p:spPr>
        <p:txBody>
          <a:bodyPr wrap="square" rtlCol="0" anchor="ctr"/>
          <a:lstStyle/>
          <a:p>
            <a:pPr marL="0" indent="0" algn="r">
              <a:buNone/>
            </a:pPr>
            <a:r>
              <a:rPr lang="en-US" sz="2600" b="1" dirty="0">
                <a:solidFill>
                  <a:srgbClr val="38BDF8"/>
                </a:solidFill>
                <a:latin typeface="Calibri" pitchFamily="34" charset="0"/>
                <a:ea typeface="Calibri" pitchFamily="34" charset="-122"/>
                <a:cs typeface="Calibri" pitchFamily="34" charset="-120"/>
              </a:rPr>
              <a:t>Limitations &amp; Future Work</a:t>
            </a:r>
            <a:endParaRPr lang="en-US" sz="2600" dirty="0"/>
          </a:p>
        </p:txBody>
      </p:sp>
      <p:sp>
        <p:nvSpPr>
          <p:cNvPr id="4" name="Text 2"/>
          <p:cNvSpPr/>
          <p:nvPr/>
        </p:nvSpPr>
        <p:spPr>
          <a:xfrm>
            <a:off x="365760" y="6601968"/>
            <a:ext cx="11457432" cy="201168"/>
          </a:xfrm>
          <a:prstGeom prst="rect">
            <a:avLst/>
          </a:prstGeom>
          <a:noFill/>
          <a:ln/>
        </p:spPr>
        <p:txBody>
          <a:bodyPr wrap="square" rtlCol="0" anchor="ctr"/>
          <a:lstStyle/>
          <a:p>
            <a:pPr marL="0" indent="0" algn="r">
              <a:buNone/>
            </a:pPr>
            <a:r>
              <a:rPr lang="en-US" sz="1050" dirty="0">
                <a:solidFill>
                  <a:srgbClr val="1A3A5F"/>
                </a:solidFill>
                <a:latin typeface="Calibri" pitchFamily="34" charset="0"/>
                <a:ea typeface="Calibri" pitchFamily="34" charset="-122"/>
                <a:cs typeface="Calibri" pitchFamily="34" charset="-120"/>
              </a:rPr>
              <a:t>Limitations &amp; Future Work</a:t>
            </a:r>
            <a:endParaRPr lang="en-US" sz="1050" dirty="0"/>
          </a:p>
        </p:txBody>
      </p:sp>
      <p:sp>
        <p:nvSpPr>
          <p:cNvPr id="5" name="Shape 3"/>
          <p:cNvSpPr/>
          <p:nvPr/>
        </p:nvSpPr>
        <p:spPr>
          <a:xfrm>
            <a:off x="365760" y="1115568"/>
            <a:ext cx="5486400" cy="5468112"/>
          </a:xfrm>
          <a:prstGeom prst="rect">
            <a:avLst/>
          </a:prstGeom>
          <a:solidFill>
            <a:srgbClr val="0A1628"/>
          </a:solidFill>
          <a:ln w="12700">
            <a:solidFill>
              <a:srgbClr val="1E3A5F"/>
            </a:solidFill>
            <a:prstDash val="solid"/>
          </a:ln>
        </p:spPr>
      </p:sp>
      <p:sp>
        <p:nvSpPr>
          <p:cNvPr id="6" name="Shape 4"/>
          <p:cNvSpPr/>
          <p:nvPr/>
        </p:nvSpPr>
        <p:spPr>
          <a:xfrm>
            <a:off x="365760" y="1115568"/>
            <a:ext cx="5486400" cy="36576"/>
          </a:xfrm>
          <a:prstGeom prst="rect">
            <a:avLst/>
          </a:prstGeom>
          <a:solidFill>
            <a:srgbClr val="F87171"/>
          </a:solidFill>
          <a:ln w="12700">
            <a:solidFill>
              <a:srgbClr val="F87171"/>
            </a:solidFill>
            <a:prstDash val="solid"/>
          </a:ln>
        </p:spPr>
      </p:sp>
      <p:sp>
        <p:nvSpPr>
          <p:cNvPr id="7" name="Text 5"/>
          <p:cNvSpPr/>
          <p:nvPr/>
        </p:nvSpPr>
        <p:spPr>
          <a:xfrm>
            <a:off x="502920" y="1188720"/>
            <a:ext cx="5212080" cy="384048"/>
          </a:xfrm>
          <a:prstGeom prst="rect">
            <a:avLst/>
          </a:prstGeom>
          <a:noFill/>
          <a:ln/>
        </p:spPr>
        <p:txBody>
          <a:bodyPr wrap="square" rtlCol="0" anchor="ctr"/>
          <a:lstStyle/>
          <a:p>
            <a:pPr marL="0" indent="0">
              <a:buNone/>
            </a:pPr>
            <a:r>
              <a:rPr lang="en-US" sz="1700" b="1" dirty="0">
                <a:solidFill>
                  <a:srgbClr val="F87171"/>
                </a:solidFill>
                <a:latin typeface="Calibri" pitchFamily="34" charset="0"/>
                <a:ea typeface="Calibri" pitchFamily="34" charset="-122"/>
                <a:cs typeface="Calibri" pitchFamily="34" charset="-120"/>
              </a:rPr>
              <a:t>Current Limitations</a:t>
            </a:r>
            <a:endParaRPr lang="en-US" sz="1700" dirty="0"/>
          </a:p>
        </p:txBody>
      </p:sp>
      <p:sp>
        <p:nvSpPr>
          <p:cNvPr id="8" name="Text 6"/>
          <p:cNvSpPr/>
          <p:nvPr/>
        </p:nvSpPr>
        <p:spPr>
          <a:xfrm>
            <a:off x="548640" y="1737360"/>
            <a:ext cx="5120640" cy="274320"/>
          </a:xfrm>
          <a:prstGeom prst="rect">
            <a:avLst/>
          </a:prstGeom>
          <a:noFill/>
          <a:ln/>
        </p:spPr>
        <p:txBody>
          <a:bodyPr wrap="square" rtlCol="0" anchor="ctr"/>
          <a:lstStyle/>
          <a:p>
            <a:pPr marL="0" indent="0">
              <a:buNone/>
            </a:pPr>
            <a:r>
              <a:rPr lang="en-US" sz="1350" b="1" dirty="0">
                <a:solidFill>
                  <a:srgbClr val="F87171"/>
                </a:solidFill>
                <a:latin typeface="Calibri" pitchFamily="34" charset="0"/>
                <a:ea typeface="Calibri" pitchFamily="34" charset="-122"/>
                <a:cs typeface="Calibri" pitchFamily="34" charset="-120"/>
              </a:rPr>
              <a:t>⚠  Linear fill assumption</a:t>
            </a:r>
            <a:endParaRPr lang="en-US" sz="1350" dirty="0"/>
          </a:p>
        </p:txBody>
      </p:sp>
      <p:sp>
        <p:nvSpPr>
          <p:cNvPr id="9" name="Text 7"/>
          <p:cNvSpPr/>
          <p:nvPr/>
        </p:nvSpPr>
        <p:spPr>
          <a:xfrm>
            <a:off x="548640" y="2029968"/>
            <a:ext cx="5120640" cy="502920"/>
          </a:xfrm>
          <a:prstGeom prst="rect">
            <a:avLst/>
          </a:prstGeom>
          <a:noFill/>
          <a:ln/>
        </p:spPr>
        <p:txBody>
          <a:bodyPr wrap="square" rtlCol="0" anchor="ctr"/>
          <a:lstStyle/>
          <a:p>
            <a:pPr marL="0" indent="0">
              <a:buNone/>
            </a:pPr>
            <a:r>
              <a:rPr lang="en-US" sz="1250" dirty="0">
                <a:solidFill>
                  <a:srgbClr val="8FBCDA"/>
                </a:solidFill>
                <a:latin typeface="Calibri" pitchFamily="34" charset="0"/>
                <a:ea typeface="Calibri" pitchFamily="34" charset="-122"/>
                <a:cs typeface="Calibri" pitchFamily="34" charset="-120"/>
              </a:rPr>
              <a:t>Labels are assigned via linspace(0→100%) over the recording duration. The actual fill rate may not be linear if flow speed varies.</a:t>
            </a:r>
            <a:endParaRPr lang="en-US" sz="1250" dirty="0"/>
          </a:p>
        </p:txBody>
      </p:sp>
      <p:sp>
        <p:nvSpPr>
          <p:cNvPr id="10" name="Text 8"/>
          <p:cNvSpPr/>
          <p:nvPr/>
        </p:nvSpPr>
        <p:spPr>
          <a:xfrm>
            <a:off x="548640" y="2633472"/>
            <a:ext cx="5120640" cy="274320"/>
          </a:xfrm>
          <a:prstGeom prst="rect">
            <a:avLst/>
          </a:prstGeom>
          <a:noFill/>
          <a:ln/>
        </p:spPr>
        <p:txBody>
          <a:bodyPr wrap="square" rtlCol="0" anchor="ctr"/>
          <a:lstStyle/>
          <a:p>
            <a:pPr marL="0" indent="0">
              <a:buNone/>
            </a:pPr>
            <a:r>
              <a:rPr lang="en-US" sz="1350" b="1" dirty="0">
                <a:solidFill>
                  <a:srgbClr val="F87171"/>
                </a:solidFill>
                <a:latin typeface="Calibri" pitchFamily="34" charset="0"/>
                <a:ea typeface="Calibri" pitchFamily="34" charset="-122"/>
                <a:cs typeface="Calibri" pitchFamily="34" charset="-120"/>
              </a:rPr>
              <a:t>⚠  Quiet environment only</a:t>
            </a:r>
            <a:endParaRPr lang="en-US" sz="1350" dirty="0"/>
          </a:p>
        </p:txBody>
      </p:sp>
      <p:sp>
        <p:nvSpPr>
          <p:cNvPr id="11" name="Text 9"/>
          <p:cNvSpPr/>
          <p:nvPr/>
        </p:nvSpPr>
        <p:spPr>
          <a:xfrm>
            <a:off x="548640" y="2926080"/>
            <a:ext cx="5120640" cy="502920"/>
          </a:xfrm>
          <a:prstGeom prst="rect">
            <a:avLst/>
          </a:prstGeom>
          <a:noFill/>
          <a:ln/>
        </p:spPr>
        <p:txBody>
          <a:bodyPr wrap="square" rtlCol="0" anchor="ctr"/>
          <a:lstStyle/>
          <a:p>
            <a:pPr marL="0" indent="0">
              <a:buNone/>
            </a:pPr>
            <a:r>
              <a:rPr lang="en-US" sz="1250" dirty="0">
                <a:solidFill>
                  <a:srgbClr val="8FBCDA"/>
                </a:solidFill>
                <a:latin typeface="Calibri" pitchFamily="34" charset="0"/>
                <a:ea typeface="Calibri" pitchFamily="34" charset="-122"/>
                <a:cs typeface="Calibri" pitchFamily="34" charset="-120"/>
              </a:rPr>
              <a:t>System trained in low-noise conditions. Background music or conversation can cause false positives.</a:t>
            </a:r>
            <a:endParaRPr lang="en-US" sz="1250" dirty="0"/>
          </a:p>
        </p:txBody>
      </p:sp>
      <p:sp>
        <p:nvSpPr>
          <p:cNvPr id="12" name="Text 10"/>
          <p:cNvSpPr/>
          <p:nvPr/>
        </p:nvSpPr>
        <p:spPr>
          <a:xfrm>
            <a:off x="548640" y="3529584"/>
            <a:ext cx="5120640" cy="274320"/>
          </a:xfrm>
          <a:prstGeom prst="rect">
            <a:avLst/>
          </a:prstGeom>
          <a:noFill/>
          <a:ln/>
        </p:spPr>
        <p:txBody>
          <a:bodyPr wrap="square" rtlCol="0" anchor="ctr"/>
          <a:lstStyle/>
          <a:p>
            <a:pPr marL="0" indent="0">
              <a:buNone/>
            </a:pPr>
            <a:r>
              <a:rPr lang="en-US" sz="1350" b="1" dirty="0">
                <a:solidFill>
                  <a:srgbClr val="F87171"/>
                </a:solidFill>
                <a:latin typeface="Calibri" pitchFamily="34" charset="0"/>
                <a:ea typeface="Calibri" pitchFamily="34" charset="-122"/>
                <a:cs typeface="Calibri" pitchFamily="34" charset="-120"/>
              </a:rPr>
              <a:t>⚠  Fixed global threshold</a:t>
            </a:r>
            <a:endParaRPr lang="en-US" sz="1350" dirty="0"/>
          </a:p>
        </p:txBody>
      </p:sp>
      <p:sp>
        <p:nvSpPr>
          <p:cNvPr id="13" name="Text 11"/>
          <p:cNvSpPr/>
          <p:nvPr/>
        </p:nvSpPr>
        <p:spPr>
          <a:xfrm>
            <a:off x="548640" y="3822192"/>
            <a:ext cx="5120640" cy="502920"/>
          </a:xfrm>
          <a:prstGeom prst="rect">
            <a:avLst/>
          </a:prstGeom>
          <a:noFill/>
          <a:ln/>
        </p:spPr>
        <p:txBody>
          <a:bodyPr wrap="square" rtlCol="0" anchor="ctr"/>
          <a:lstStyle/>
          <a:p>
            <a:pPr marL="0" indent="0">
              <a:buNone/>
            </a:pPr>
            <a:r>
              <a:rPr lang="en-US" sz="1250" dirty="0">
                <a:solidFill>
                  <a:srgbClr val="8FBCDA"/>
                </a:solidFill>
                <a:latin typeface="Calibri" pitchFamily="34" charset="0"/>
                <a:ea typeface="Calibri" pitchFamily="34" charset="-122"/>
                <a:cs typeface="Calibri" pitchFamily="34" charset="-120"/>
              </a:rPr>
              <a:t>The 0.35 threshold is not tuned per cup type or fill speed — a cup-specific threshold could improve precision.</a:t>
            </a:r>
            <a:endParaRPr lang="en-US" sz="1250" dirty="0"/>
          </a:p>
        </p:txBody>
      </p:sp>
      <p:sp>
        <p:nvSpPr>
          <p:cNvPr id="14" name="Text 12"/>
          <p:cNvSpPr/>
          <p:nvPr/>
        </p:nvSpPr>
        <p:spPr>
          <a:xfrm>
            <a:off x="548640" y="4425696"/>
            <a:ext cx="5120640" cy="274320"/>
          </a:xfrm>
          <a:prstGeom prst="rect">
            <a:avLst/>
          </a:prstGeom>
          <a:noFill/>
          <a:ln/>
        </p:spPr>
        <p:txBody>
          <a:bodyPr wrap="square" rtlCol="0" anchor="ctr"/>
          <a:lstStyle/>
          <a:p>
            <a:pPr marL="0" indent="0">
              <a:buNone/>
            </a:pPr>
            <a:r>
              <a:rPr lang="en-US" sz="1350" b="1" dirty="0">
                <a:solidFill>
                  <a:srgbClr val="F87171"/>
                </a:solidFill>
                <a:latin typeface="Calibri" pitchFamily="34" charset="0"/>
                <a:ea typeface="Calibri" pitchFamily="34" charset="-122"/>
                <a:cs typeface="Calibri" pitchFamily="34" charset="-120"/>
              </a:rPr>
              <a:t>⚠  Estimated target time</a:t>
            </a:r>
            <a:endParaRPr lang="en-US" sz="1350" dirty="0"/>
          </a:p>
        </p:txBody>
      </p:sp>
      <p:sp>
        <p:nvSpPr>
          <p:cNvPr id="15" name="Text 13"/>
          <p:cNvSpPr/>
          <p:nvPr/>
        </p:nvSpPr>
        <p:spPr>
          <a:xfrm>
            <a:off x="548640" y="4718304"/>
            <a:ext cx="5120640" cy="502920"/>
          </a:xfrm>
          <a:prstGeom prst="rect">
            <a:avLst/>
          </a:prstGeom>
          <a:noFill/>
          <a:ln/>
        </p:spPr>
        <p:txBody>
          <a:bodyPr wrap="square" rtlCol="0" anchor="ctr"/>
          <a:lstStyle/>
          <a:p>
            <a:pPr marL="0" indent="0">
              <a:buNone/>
            </a:pPr>
            <a:r>
              <a:rPr lang="en-US" sz="1250" dirty="0">
                <a:solidFill>
                  <a:srgbClr val="8FBCDA"/>
                </a:solidFill>
                <a:latin typeface="Calibri" pitchFamily="34" charset="0"/>
                <a:ea typeface="Calibri" pitchFamily="34" charset="-122"/>
                <a:cs typeface="Calibri" pitchFamily="34" charset="-120"/>
              </a:rPr>
              <a:t>t_actual_full is the last active frame, not a physical measurement. This introduces systematic label noise.</a:t>
            </a:r>
            <a:endParaRPr lang="en-US" sz="1250" dirty="0"/>
          </a:p>
        </p:txBody>
      </p:sp>
      <p:sp>
        <p:nvSpPr>
          <p:cNvPr id="16" name="Text 14"/>
          <p:cNvSpPr/>
          <p:nvPr/>
        </p:nvSpPr>
        <p:spPr>
          <a:xfrm>
            <a:off x="548640" y="5321808"/>
            <a:ext cx="5120640" cy="274320"/>
          </a:xfrm>
          <a:prstGeom prst="rect">
            <a:avLst/>
          </a:prstGeom>
          <a:noFill/>
          <a:ln/>
        </p:spPr>
        <p:txBody>
          <a:bodyPr wrap="square" rtlCol="0" anchor="ctr"/>
          <a:lstStyle/>
          <a:p>
            <a:pPr marL="0" indent="0">
              <a:buNone/>
            </a:pPr>
            <a:r>
              <a:rPr lang="en-US" sz="1350" b="1" dirty="0">
                <a:solidFill>
                  <a:srgbClr val="F87171"/>
                </a:solidFill>
                <a:latin typeface="Calibri" pitchFamily="34" charset="0"/>
                <a:ea typeface="Calibri" pitchFamily="34" charset="-122"/>
                <a:cs typeface="Calibri" pitchFamily="34" charset="-120"/>
              </a:rPr>
              <a:t>⚠  Single microphone</a:t>
            </a:r>
            <a:endParaRPr lang="en-US" sz="1350" dirty="0"/>
          </a:p>
        </p:txBody>
      </p:sp>
      <p:sp>
        <p:nvSpPr>
          <p:cNvPr id="17" name="Text 15"/>
          <p:cNvSpPr/>
          <p:nvPr/>
        </p:nvSpPr>
        <p:spPr>
          <a:xfrm>
            <a:off x="548640" y="5614416"/>
            <a:ext cx="5120640" cy="502920"/>
          </a:xfrm>
          <a:prstGeom prst="rect">
            <a:avLst/>
          </a:prstGeom>
          <a:noFill/>
          <a:ln/>
        </p:spPr>
        <p:txBody>
          <a:bodyPr wrap="square" rtlCol="0" anchor="ctr"/>
          <a:lstStyle/>
          <a:p>
            <a:pPr marL="0" indent="0">
              <a:buNone/>
            </a:pPr>
            <a:r>
              <a:rPr lang="en-US" sz="1250" dirty="0">
                <a:solidFill>
                  <a:srgbClr val="8FBCDA"/>
                </a:solidFill>
                <a:latin typeface="Calibri" pitchFamily="34" charset="0"/>
                <a:ea typeface="Calibri" pitchFamily="34" charset="-122"/>
                <a:cs typeface="Calibri" pitchFamily="34" charset="-120"/>
              </a:rPr>
              <a:t>No spatial information. Multiple mics could improve robustness to microphone placement variation.</a:t>
            </a:r>
            <a:endParaRPr lang="en-US" sz="1250" dirty="0"/>
          </a:p>
        </p:txBody>
      </p:sp>
      <p:sp>
        <p:nvSpPr>
          <p:cNvPr id="18" name="Shape 16"/>
          <p:cNvSpPr/>
          <p:nvPr/>
        </p:nvSpPr>
        <p:spPr>
          <a:xfrm>
            <a:off x="6035040" y="1115568"/>
            <a:ext cx="5806440" cy="5468112"/>
          </a:xfrm>
          <a:prstGeom prst="rect">
            <a:avLst/>
          </a:prstGeom>
          <a:solidFill>
            <a:srgbClr val="0A1628"/>
          </a:solidFill>
          <a:ln w="12700">
            <a:solidFill>
              <a:srgbClr val="1E3A5F"/>
            </a:solidFill>
            <a:prstDash val="solid"/>
          </a:ln>
        </p:spPr>
      </p:sp>
      <p:sp>
        <p:nvSpPr>
          <p:cNvPr id="19" name="Shape 17"/>
          <p:cNvSpPr/>
          <p:nvPr/>
        </p:nvSpPr>
        <p:spPr>
          <a:xfrm>
            <a:off x="6035040" y="1115568"/>
            <a:ext cx="5806440" cy="36576"/>
          </a:xfrm>
          <a:prstGeom prst="rect">
            <a:avLst/>
          </a:prstGeom>
          <a:solidFill>
            <a:srgbClr val="34D399"/>
          </a:solidFill>
          <a:ln w="12700">
            <a:solidFill>
              <a:srgbClr val="34D399"/>
            </a:solidFill>
            <a:prstDash val="solid"/>
          </a:ln>
        </p:spPr>
      </p:sp>
      <p:sp>
        <p:nvSpPr>
          <p:cNvPr id="20" name="Text 18"/>
          <p:cNvSpPr/>
          <p:nvPr/>
        </p:nvSpPr>
        <p:spPr>
          <a:xfrm>
            <a:off x="6172200" y="1188720"/>
            <a:ext cx="5532120" cy="384048"/>
          </a:xfrm>
          <a:prstGeom prst="rect">
            <a:avLst/>
          </a:prstGeom>
          <a:noFill/>
          <a:ln/>
        </p:spPr>
        <p:txBody>
          <a:bodyPr wrap="square" rtlCol="0" anchor="ctr"/>
          <a:lstStyle/>
          <a:p>
            <a:pPr marL="0" indent="0">
              <a:buNone/>
            </a:pPr>
            <a:r>
              <a:rPr lang="en-US" sz="1700" b="1" dirty="0">
                <a:solidFill>
                  <a:srgbClr val="34D399"/>
                </a:solidFill>
                <a:latin typeface="Calibri" pitchFamily="34" charset="0"/>
                <a:ea typeface="Calibri" pitchFamily="34" charset="-122"/>
                <a:cs typeface="Calibri" pitchFamily="34" charset="-120"/>
              </a:rPr>
              <a:t>Future Improvements</a:t>
            </a:r>
            <a:endParaRPr lang="en-US" sz="1700" dirty="0"/>
          </a:p>
        </p:txBody>
      </p:sp>
      <p:sp>
        <p:nvSpPr>
          <p:cNvPr id="21" name="Text 19"/>
          <p:cNvSpPr/>
          <p:nvPr/>
        </p:nvSpPr>
        <p:spPr>
          <a:xfrm>
            <a:off x="6172200" y="1737360"/>
            <a:ext cx="5532120" cy="274320"/>
          </a:xfrm>
          <a:prstGeom prst="rect">
            <a:avLst/>
          </a:prstGeom>
          <a:noFill/>
          <a:ln/>
        </p:spPr>
        <p:txBody>
          <a:bodyPr wrap="square" rtlCol="0" anchor="ctr"/>
          <a:lstStyle/>
          <a:p>
            <a:pPr marL="0" indent="0">
              <a:buNone/>
            </a:pPr>
            <a:r>
              <a:rPr lang="en-US" sz="1350" b="1" dirty="0">
                <a:solidFill>
                  <a:srgbClr val="34D399"/>
                </a:solidFill>
                <a:latin typeface="Calibri" pitchFamily="34" charset="0"/>
                <a:ea typeface="Calibri" pitchFamily="34" charset="-122"/>
                <a:cs typeface="Calibri" pitchFamily="34" charset="-120"/>
              </a:rPr>
              <a:t>→  Physical ground truth</a:t>
            </a:r>
            <a:endParaRPr lang="en-US" sz="1350" dirty="0"/>
          </a:p>
        </p:txBody>
      </p:sp>
      <p:sp>
        <p:nvSpPr>
          <p:cNvPr id="22" name="Text 20"/>
          <p:cNvSpPr/>
          <p:nvPr/>
        </p:nvSpPr>
        <p:spPr>
          <a:xfrm>
            <a:off x="6172200" y="2029968"/>
            <a:ext cx="5532120" cy="502920"/>
          </a:xfrm>
          <a:prstGeom prst="rect">
            <a:avLst/>
          </a:prstGeom>
          <a:noFill/>
          <a:ln/>
        </p:spPr>
        <p:txBody>
          <a:bodyPr wrap="square" rtlCol="0" anchor="ctr"/>
          <a:lstStyle/>
          <a:p>
            <a:pPr marL="0" indent="0">
              <a:buNone/>
            </a:pPr>
            <a:r>
              <a:rPr lang="en-US" sz="1250" dirty="0">
                <a:solidFill>
                  <a:srgbClr val="8FBCDA"/>
                </a:solidFill>
                <a:latin typeface="Calibri" pitchFamily="34" charset="0"/>
                <a:ea typeface="Calibri" pitchFamily="34" charset="-122"/>
                <a:cs typeface="Calibri" pitchFamily="34" charset="-120"/>
              </a:rPr>
              <a:t>Use a load cell or pressure sensor for exact fill timestamps — eliminating the linear-label assumption entirely.</a:t>
            </a:r>
            <a:endParaRPr lang="en-US" sz="1250" dirty="0"/>
          </a:p>
        </p:txBody>
      </p:sp>
      <p:sp>
        <p:nvSpPr>
          <p:cNvPr id="23" name="Text 21"/>
          <p:cNvSpPr/>
          <p:nvPr/>
        </p:nvSpPr>
        <p:spPr>
          <a:xfrm>
            <a:off x="6172200" y="2633472"/>
            <a:ext cx="5532120" cy="274320"/>
          </a:xfrm>
          <a:prstGeom prst="rect">
            <a:avLst/>
          </a:prstGeom>
          <a:noFill/>
          <a:ln/>
        </p:spPr>
        <p:txBody>
          <a:bodyPr wrap="square" rtlCol="0" anchor="ctr"/>
          <a:lstStyle/>
          <a:p>
            <a:pPr marL="0" indent="0">
              <a:buNone/>
            </a:pPr>
            <a:r>
              <a:rPr lang="en-US" sz="1350" b="1" dirty="0">
                <a:solidFill>
                  <a:srgbClr val="34D399"/>
                </a:solidFill>
                <a:latin typeface="Calibri" pitchFamily="34" charset="0"/>
                <a:ea typeface="Calibri" pitchFamily="34" charset="-122"/>
                <a:cs typeface="Calibri" pitchFamily="34" charset="-120"/>
              </a:rPr>
              <a:t>→  Noise augmentation</a:t>
            </a:r>
            <a:endParaRPr lang="en-US" sz="1350" dirty="0"/>
          </a:p>
        </p:txBody>
      </p:sp>
      <p:sp>
        <p:nvSpPr>
          <p:cNvPr id="24" name="Text 22"/>
          <p:cNvSpPr/>
          <p:nvPr/>
        </p:nvSpPr>
        <p:spPr>
          <a:xfrm>
            <a:off x="6172200" y="2926080"/>
            <a:ext cx="5532120" cy="502920"/>
          </a:xfrm>
          <a:prstGeom prst="rect">
            <a:avLst/>
          </a:prstGeom>
          <a:noFill/>
          <a:ln/>
        </p:spPr>
        <p:txBody>
          <a:bodyPr wrap="square" rtlCol="0" anchor="ctr"/>
          <a:lstStyle/>
          <a:p>
            <a:pPr marL="0" indent="0">
              <a:buNone/>
            </a:pPr>
            <a:r>
              <a:rPr lang="en-US" sz="1250" dirty="0">
                <a:solidFill>
                  <a:srgbClr val="8FBCDA"/>
                </a:solidFill>
                <a:latin typeface="Calibri" pitchFamily="34" charset="0"/>
                <a:ea typeface="Calibri" pitchFamily="34" charset="-122"/>
                <a:cs typeface="Calibri" pitchFamily="34" charset="-120"/>
              </a:rPr>
              <a:t>Add background noise injection during training to make the model robust to real-world environments.</a:t>
            </a:r>
            <a:endParaRPr lang="en-US" sz="1250" dirty="0"/>
          </a:p>
        </p:txBody>
      </p:sp>
      <p:sp>
        <p:nvSpPr>
          <p:cNvPr id="25" name="Text 23"/>
          <p:cNvSpPr/>
          <p:nvPr/>
        </p:nvSpPr>
        <p:spPr>
          <a:xfrm>
            <a:off x="6172200" y="3529584"/>
            <a:ext cx="5532120" cy="274320"/>
          </a:xfrm>
          <a:prstGeom prst="rect">
            <a:avLst/>
          </a:prstGeom>
          <a:noFill/>
          <a:ln/>
        </p:spPr>
        <p:txBody>
          <a:bodyPr wrap="square" rtlCol="0" anchor="ctr"/>
          <a:lstStyle/>
          <a:p>
            <a:pPr marL="0" indent="0">
              <a:buNone/>
            </a:pPr>
            <a:r>
              <a:rPr lang="en-US" sz="1350" b="1" dirty="0">
                <a:solidFill>
                  <a:srgbClr val="34D399"/>
                </a:solidFill>
                <a:latin typeface="Calibri" pitchFamily="34" charset="0"/>
                <a:ea typeface="Calibri" pitchFamily="34" charset="-122"/>
                <a:cs typeface="Calibri" pitchFamily="34" charset="-120"/>
              </a:rPr>
              <a:t>→  Per-cup calibration</a:t>
            </a:r>
            <a:endParaRPr lang="en-US" sz="1350" dirty="0"/>
          </a:p>
        </p:txBody>
      </p:sp>
      <p:sp>
        <p:nvSpPr>
          <p:cNvPr id="26" name="Text 24"/>
          <p:cNvSpPr/>
          <p:nvPr/>
        </p:nvSpPr>
        <p:spPr>
          <a:xfrm>
            <a:off x="6172200" y="3822192"/>
            <a:ext cx="5532120" cy="502920"/>
          </a:xfrm>
          <a:prstGeom prst="rect">
            <a:avLst/>
          </a:prstGeom>
          <a:noFill/>
          <a:ln/>
        </p:spPr>
        <p:txBody>
          <a:bodyPr wrap="square" rtlCol="0" anchor="ctr"/>
          <a:lstStyle/>
          <a:p>
            <a:pPr marL="0" indent="0">
              <a:buNone/>
            </a:pPr>
            <a:r>
              <a:rPr lang="en-US" sz="1250" dirty="0">
                <a:solidFill>
                  <a:srgbClr val="8FBCDA"/>
                </a:solidFill>
                <a:latin typeface="Calibri" pitchFamily="34" charset="0"/>
                <a:ea typeface="Calibri" pitchFamily="34" charset="-122"/>
                <a:cs typeface="Calibri" pitchFamily="34" charset="-120"/>
              </a:rPr>
              <a:t>A 2–3s calibration recording per cup lets the model adapt threshold to that cup’s resonance profile.</a:t>
            </a:r>
            <a:endParaRPr lang="en-US" sz="1250" dirty="0"/>
          </a:p>
        </p:txBody>
      </p:sp>
      <p:sp>
        <p:nvSpPr>
          <p:cNvPr id="27" name="Text 25"/>
          <p:cNvSpPr/>
          <p:nvPr/>
        </p:nvSpPr>
        <p:spPr>
          <a:xfrm>
            <a:off x="6172200" y="4425696"/>
            <a:ext cx="5532120" cy="274320"/>
          </a:xfrm>
          <a:prstGeom prst="rect">
            <a:avLst/>
          </a:prstGeom>
          <a:noFill/>
          <a:ln/>
        </p:spPr>
        <p:txBody>
          <a:bodyPr wrap="square" rtlCol="0" anchor="ctr"/>
          <a:lstStyle/>
          <a:p>
            <a:pPr marL="0" indent="0">
              <a:buNone/>
            </a:pPr>
            <a:r>
              <a:rPr lang="en-US" sz="1350" b="1" dirty="0">
                <a:solidFill>
                  <a:srgbClr val="34D399"/>
                </a:solidFill>
                <a:latin typeface="Calibri" pitchFamily="34" charset="0"/>
                <a:ea typeface="Calibri" pitchFamily="34" charset="-122"/>
                <a:cs typeface="Calibri" pitchFamily="34" charset="-120"/>
              </a:rPr>
              <a:t>→  On-device deployment</a:t>
            </a:r>
            <a:endParaRPr lang="en-US" sz="1350" dirty="0"/>
          </a:p>
        </p:txBody>
      </p:sp>
      <p:sp>
        <p:nvSpPr>
          <p:cNvPr id="28" name="Text 26"/>
          <p:cNvSpPr/>
          <p:nvPr/>
        </p:nvSpPr>
        <p:spPr>
          <a:xfrm>
            <a:off x="6172200" y="4718304"/>
            <a:ext cx="5532120" cy="502920"/>
          </a:xfrm>
          <a:prstGeom prst="rect">
            <a:avLst/>
          </a:prstGeom>
          <a:noFill/>
          <a:ln/>
        </p:spPr>
        <p:txBody>
          <a:bodyPr wrap="square" rtlCol="0" anchor="ctr"/>
          <a:lstStyle/>
          <a:p>
            <a:pPr marL="0" indent="0">
              <a:buNone/>
            </a:pPr>
            <a:r>
              <a:rPr lang="en-US" sz="1250" dirty="0">
                <a:solidFill>
                  <a:srgbClr val="8FBCDA"/>
                </a:solidFill>
                <a:latin typeface="Calibri" pitchFamily="34" charset="0"/>
                <a:ea typeface="Calibri" pitchFamily="34" charset="-122"/>
                <a:cs typeface="Calibri" pitchFamily="34" charset="-120"/>
              </a:rPr>
              <a:t>Run LightGBM inference on a Raspberry Pi Zero (∼$10) for fully embedded smart-tap integration.</a:t>
            </a:r>
            <a:endParaRPr lang="en-US" sz="1250" dirty="0"/>
          </a:p>
        </p:txBody>
      </p:sp>
      <p:sp>
        <p:nvSpPr>
          <p:cNvPr id="29" name="Text 27"/>
          <p:cNvSpPr/>
          <p:nvPr/>
        </p:nvSpPr>
        <p:spPr>
          <a:xfrm>
            <a:off x="6172200" y="5321808"/>
            <a:ext cx="5532120" cy="274320"/>
          </a:xfrm>
          <a:prstGeom prst="rect">
            <a:avLst/>
          </a:prstGeom>
          <a:noFill/>
          <a:ln/>
        </p:spPr>
        <p:txBody>
          <a:bodyPr wrap="square" rtlCol="0" anchor="ctr"/>
          <a:lstStyle/>
          <a:p>
            <a:pPr marL="0" indent="0">
              <a:buNone/>
            </a:pPr>
            <a:r>
              <a:rPr lang="en-US" sz="1350" b="1" dirty="0">
                <a:solidFill>
                  <a:srgbClr val="34D399"/>
                </a:solidFill>
                <a:latin typeface="Calibri" pitchFamily="34" charset="0"/>
                <a:ea typeface="Calibri" pitchFamily="34" charset="-122"/>
                <a:cs typeface="Calibri" pitchFamily="34" charset="-120"/>
              </a:rPr>
              <a:t>→  Multi-stream detection</a:t>
            </a:r>
            <a:endParaRPr lang="en-US" sz="1350" dirty="0"/>
          </a:p>
        </p:txBody>
      </p:sp>
      <p:sp>
        <p:nvSpPr>
          <p:cNvPr id="30" name="Text 28"/>
          <p:cNvSpPr/>
          <p:nvPr/>
        </p:nvSpPr>
        <p:spPr>
          <a:xfrm>
            <a:off x="6172200" y="5614416"/>
            <a:ext cx="5532120" cy="502920"/>
          </a:xfrm>
          <a:prstGeom prst="rect">
            <a:avLst/>
          </a:prstGeom>
          <a:noFill/>
          <a:ln/>
        </p:spPr>
        <p:txBody>
          <a:bodyPr wrap="square" rtlCol="0" anchor="ctr"/>
          <a:lstStyle/>
          <a:p>
            <a:pPr marL="0" indent="0">
              <a:buNone/>
            </a:pPr>
            <a:r>
              <a:rPr lang="en-US" sz="1250" dirty="0">
                <a:solidFill>
                  <a:srgbClr val="8FBCDA"/>
                </a:solidFill>
                <a:latin typeface="Calibri" pitchFamily="34" charset="0"/>
                <a:ea typeface="Calibri" pitchFamily="34" charset="-122"/>
                <a:cs typeface="Calibri" pitchFamily="34" charset="-120"/>
              </a:rPr>
              <a:t>Extend to simultaneous detection of multiple cups filling in parallel (bar / industrial use).</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020617"/>
        </a:solidFill>
        <a:effectLst/>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38BDF8"/>
          </a:solidFill>
          <a:ln w="12700">
            <a:solidFill>
              <a:srgbClr val="38BDF8"/>
            </a:solidFill>
            <a:prstDash val="solid"/>
          </a:ln>
        </p:spPr>
      </p:sp>
      <p:sp>
        <p:nvSpPr>
          <p:cNvPr id="3" name="Shape 1"/>
          <p:cNvSpPr/>
          <p:nvPr/>
        </p:nvSpPr>
        <p:spPr>
          <a:xfrm>
            <a:off x="0" y="6784848"/>
            <a:ext cx="12188952" cy="73152"/>
          </a:xfrm>
          <a:prstGeom prst="rect">
            <a:avLst/>
          </a:prstGeom>
          <a:solidFill>
            <a:srgbClr val="38BDF8"/>
          </a:solidFill>
          <a:ln w="12700">
            <a:solidFill>
              <a:srgbClr val="38BDF8"/>
            </a:solidFill>
            <a:prstDash val="solid"/>
          </a:ln>
        </p:spPr>
      </p:sp>
      <p:sp>
        <p:nvSpPr>
          <p:cNvPr id="4" name="Text 2"/>
          <p:cNvSpPr/>
          <p:nvPr/>
        </p:nvSpPr>
        <p:spPr>
          <a:xfrm>
            <a:off x="914400" y="1371600"/>
            <a:ext cx="10360152" cy="1463040"/>
          </a:xfrm>
          <a:prstGeom prst="rect">
            <a:avLst/>
          </a:prstGeom>
          <a:noFill/>
          <a:ln/>
        </p:spPr>
        <p:txBody>
          <a:bodyPr wrap="square" rtlCol="0" anchor="ctr"/>
          <a:lstStyle/>
          <a:p>
            <a:pPr marL="0" indent="0" algn="ctr">
              <a:buNone/>
            </a:pPr>
            <a:r>
              <a:rPr lang="en-US" sz="5600" b="1" dirty="0">
                <a:solidFill>
                  <a:srgbClr val="FFFFFF"/>
                </a:solidFill>
                <a:latin typeface="Calibri" pitchFamily="34" charset="0"/>
                <a:ea typeface="Calibri" pitchFamily="34" charset="-122"/>
                <a:cs typeface="Calibri" pitchFamily="34" charset="-120"/>
              </a:rPr>
              <a:t>Thank You</a:t>
            </a:r>
            <a:endParaRPr lang="en-US" sz="5600" dirty="0"/>
          </a:p>
        </p:txBody>
      </p:sp>
      <p:sp>
        <p:nvSpPr>
          <p:cNvPr id="5" name="Shape 3"/>
          <p:cNvSpPr/>
          <p:nvPr/>
        </p:nvSpPr>
        <p:spPr>
          <a:xfrm>
            <a:off x="3108960" y="2999232"/>
            <a:ext cx="5943600" cy="50292"/>
          </a:xfrm>
          <a:prstGeom prst="rect">
            <a:avLst/>
          </a:prstGeom>
          <a:solidFill>
            <a:srgbClr val="38BDF8"/>
          </a:solidFill>
          <a:ln w="12700">
            <a:solidFill>
              <a:srgbClr val="38BDF8"/>
            </a:solidFill>
            <a:prstDash val="solid"/>
          </a:ln>
        </p:spPr>
      </p:sp>
      <p:sp>
        <p:nvSpPr>
          <p:cNvPr id="6" name="Text 4"/>
          <p:cNvSpPr/>
          <p:nvPr/>
        </p:nvSpPr>
        <p:spPr>
          <a:xfrm>
            <a:off x="914400" y="3127248"/>
            <a:ext cx="10360152" cy="621792"/>
          </a:xfrm>
          <a:prstGeom prst="rect">
            <a:avLst/>
          </a:prstGeom>
          <a:noFill/>
          <a:ln/>
        </p:spPr>
        <p:txBody>
          <a:bodyPr wrap="square" rtlCol="0" anchor="ctr"/>
          <a:lstStyle/>
          <a:p>
            <a:pPr marL="0" indent="0" algn="ctr">
              <a:buNone/>
            </a:pPr>
            <a:r>
              <a:rPr lang="en-US" sz="2600" dirty="0">
                <a:solidFill>
                  <a:srgbClr val="38BDF8"/>
                </a:solidFill>
                <a:latin typeface="Calibri" pitchFamily="34" charset="0"/>
                <a:ea typeface="Calibri" pitchFamily="34" charset="-122"/>
                <a:cs typeface="Calibri" pitchFamily="34" charset="-120"/>
              </a:rPr>
              <a:t>Questions?</a:t>
            </a:r>
            <a:endParaRPr lang="en-US" sz="2600" dirty="0"/>
          </a:p>
        </p:txBody>
      </p:sp>
      <p:sp>
        <p:nvSpPr>
          <p:cNvPr id="7" name="Text 5"/>
          <p:cNvSpPr/>
          <p:nvPr/>
        </p:nvSpPr>
        <p:spPr>
          <a:xfrm>
            <a:off x="914400" y="3886200"/>
            <a:ext cx="10360152" cy="347472"/>
          </a:xfrm>
          <a:prstGeom prst="rect">
            <a:avLst/>
          </a:prstGeom>
          <a:noFill/>
          <a:ln/>
        </p:spPr>
        <p:txBody>
          <a:bodyPr wrap="square" rtlCol="0" anchor="ctr"/>
          <a:lstStyle/>
          <a:p>
            <a:pPr marL="0" indent="0" algn="ctr">
              <a:buNone/>
            </a:pPr>
            <a:r>
              <a:rPr lang="en-US" sz="1600" dirty="0">
                <a:solidFill>
                  <a:srgbClr val="8FBCDA"/>
                </a:solidFill>
                <a:latin typeface="Calibri" pitchFamily="34" charset="0"/>
                <a:ea typeface="Calibri" pitchFamily="34" charset="-122"/>
                <a:cs typeface="Calibri" pitchFamily="34" charset="-120"/>
              </a:rPr>
              <a:t>Cup Fill Detection — Machine Learning &amp; Passive Acoustic Analysis</a:t>
            </a:r>
            <a:endParaRPr lang="en-US" sz="1600" dirty="0"/>
          </a:p>
        </p:txBody>
      </p:sp>
      <p:sp>
        <p:nvSpPr>
          <p:cNvPr id="8" name="Text 6"/>
          <p:cNvSpPr/>
          <p:nvPr/>
        </p:nvSpPr>
        <p:spPr>
          <a:xfrm>
            <a:off x="914400" y="4297680"/>
            <a:ext cx="10360152" cy="301752"/>
          </a:xfrm>
          <a:prstGeom prst="rect">
            <a:avLst/>
          </a:prstGeom>
          <a:noFill/>
          <a:ln/>
        </p:spPr>
        <p:txBody>
          <a:bodyPr wrap="square" rtlCol="0" anchor="ctr"/>
          <a:lstStyle/>
          <a:p>
            <a:pPr marL="0" indent="0" algn="ctr">
              <a:buNone/>
            </a:pPr>
            <a:r>
              <a:rPr lang="en-US" sz="1400" dirty="0">
                <a:solidFill>
                  <a:srgbClr val="1E3A5F"/>
                </a:solidFill>
                <a:latin typeface="Calibri" pitchFamily="34" charset="0"/>
                <a:ea typeface="Calibri" pitchFamily="34" charset="-122"/>
                <a:cs typeface="Calibri" pitchFamily="34" charset="-120"/>
              </a:rPr>
              <a:t>Tomer Nor Milkov  ·  Nikita Budzanski  ·  Oren Gofman  ·  Or Blor</a:t>
            </a:r>
            <a:endParaRPr lang="en-US" sz="1400" dirty="0"/>
          </a:p>
        </p:txBody>
      </p:sp>
      <p:sp>
        <p:nvSpPr>
          <p:cNvPr id="9" name="Text 7"/>
          <p:cNvSpPr/>
          <p:nvPr/>
        </p:nvSpPr>
        <p:spPr>
          <a:xfrm>
            <a:off x="822960" y="5029200"/>
            <a:ext cx="1920240" cy="530352"/>
          </a:xfrm>
          <a:prstGeom prst="rect">
            <a:avLst/>
          </a:prstGeom>
          <a:noFill/>
          <a:ln/>
        </p:spPr>
        <p:txBody>
          <a:bodyPr wrap="square" rtlCol="0" anchor="ctr"/>
          <a:lstStyle/>
          <a:p>
            <a:pPr marL="0" indent="0" algn="ctr">
              <a:buNone/>
            </a:pPr>
            <a:r>
              <a:rPr lang="en-US" sz="2200" b="1" dirty="0">
                <a:solidFill>
                  <a:srgbClr val="34D399"/>
                </a:solidFill>
                <a:latin typeface="Calibri" pitchFamily="34" charset="0"/>
                <a:ea typeface="Calibri" pitchFamily="34" charset="-122"/>
                <a:cs typeface="Calibri" pitchFamily="34" charset="-120"/>
              </a:rPr>
              <a:t>0</a:t>
            </a:r>
            <a:endParaRPr lang="en-US" sz="2200" dirty="0"/>
          </a:p>
        </p:txBody>
      </p:sp>
      <p:sp>
        <p:nvSpPr>
          <p:cNvPr id="10" name="Text 8"/>
          <p:cNvSpPr/>
          <p:nvPr/>
        </p:nvSpPr>
        <p:spPr>
          <a:xfrm>
            <a:off x="822960" y="5577840"/>
            <a:ext cx="1920240" cy="256032"/>
          </a:xfrm>
          <a:prstGeom prst="rect">
            <a:avLst/>
          </a:prstGeom>
          <a:noFill/>
          <a:ln/>
        </p:spPr>
        <p:txBody>
          <a:bodyPr wrap="square" rtlCol="0" anchor="ctr"/>
          <a:lstStyle/>
          <a:p>
            <a:pPr marL="0" indent="0" algn="ctr">
              <a:buNone/>
            </a:pPr>
            <a:r>
              <a:rPr lang="en-US" sz="1150" dirty="0">
                <a:solidFill>
                  <a:srgbClr val="8FBCDA"/>
                </a:solidFill>
                <a:latin typeface="Calibri" pitchFamily="34" charset="0"/>
                <a:ea typeface="Calibri" pitchFamily="34" charset="-122"/>
                <a:cs typeface="Calibri" pitchFamily="34" charset="-120"/>
              </a:rPr>
              <a:t>Overflow Events</a:t>
            </a:r>
            <a:endParaRPr lang="en-US" sz="1150" dirty="0"/>
          </a:p>
        </p:txBody>
      </p:sp>
      <p:sp>
        <p:nvSpPr>
          <p:cNvPr id="11" name="Text 9"/>
          <p:cNvSpPr/>
          <p:nvPr/>
        </p:nvSpPr>
        <p:spPr>
          <a:xfrm>
            <a:off x="2971800" y="5029200"/>
            <a:ext cx="1920240" cy="530352"/>
          </a:xfrm>
          <a:prstGeom prst="rect">
            <a:avLst/>
          </a:prstGeom>
          <a:noFill/>
          <a:ln/>
        </p:spPr>
        <p:txBody>
          <a:bodyPr wrap="square" rtlCol="0" anchor="ctr"/>
          <a:lstStyle/>
          <a:p>
            <a:pPr marL="0" indent="0" algn="ctr">
              <a:buNone/>
            </a:pPr>
            <a:r>
              <a:rPr lang="en-US" sz="2200" b="1" dirty="0">
                <a:solidFill>
                  <a:srgbClr val="38BDF8"/>
                </a:solidFill>
                <a:latin typeface="Calibri" pitchFamily="34" charset="0"/>
                <a:ea typeface="Calibri" pitchFamily="34" charset="-122"/>
                <a:cs typeface="Calibri" pitchFamily="34" charset="-120"/>
              </a:rPr>
              <a:t>73.5%</a:t>
            </a:r>
            <a:endParaRPr lang="en-US" sz="2200" dirty="0"/>
          </a:p>
        </p:txBody>
      </p:sp>
      <p:sp>
        <p:nvSpPr>
          <p:cNvPr id="12" name="Text 10"/>
          <p:cNvSpPr/>
          <p:nvPr/>
        </p:nvSpPr>
        <p:spPr>
          <a:xfrm>
            <a:off x="2971800" y="5577840"/>
            <a:ext cx="1920240" cy="256032"/>
          </a:xfrm>
          <a:prstGeom prst="rect">
            <a:avLst/>
          </a:prstGeom>
          <a:noFill/>
          <a:ln/>
        </p:spPr>
        <p:txBody>
          <a:bodyPr wrap="square" rtlCol="0" anchor="ctr"/>
          <a:lstStyle/>
          <a:p>
            <a:pPr marL="0" indent="0" algn="ctr">
              <a:buNone/>
            </a:pPr>
            <a:r>
              <a:rPr lang="en-US" sz="1150" dirty="0">
                <a:solidFill>
                  <a:srgbClr val="8FBCDA"/>
                </a:solidFill>
                <a:latin typeface="Calibri" pitchFamily="34" charset="0"/>
                <a:ea typeface="Calibri" pitchFamily="34" charset="-122"/>
                <a:cs typeface="Calibri" pitchFamily="34" charset="-120"/>
              </a:rPr>
              <a:t>F1 Score</a:t>
            </a:r>
            <a:endParaRPr lang="en-US" sz="1150" dirty="0"/>
          </a:p>
        </p:txBody>
      </p:sp>
      <p:sp>
        <p:nvSpPr>
          <p:cNvPr id="13" name="Text 11"/>
          <p:cNvSpPr/>
          <p:nvPr/>
        </p:nvSpPr>
        <p:spPr>
          <a:xfrm>
            <a:off x="5120640" y="5029200"/>
            <a:ext cx="1920240" cy="530352"/>
          </a:xfrm>
          <a:prstGeom prst="rect">
            <a:avLst/>
          </a:prstGeom>
          <a:noFill/>
          <a:ln/>
        </p:spPr>
        <p:txBody>
          <a:bodyPr wrap="square" rtlCol="0" anchor="ctr"/>
          <a:lstStyle/>
          <a:p>
            <a:pPr marL="0" indent="0" algn="ctr">
              <a:buNone/>
            </a:pPr>
            <a:r>
              <a:rPr lang="en-US" sz="2200" b="1" dirty="0">
                <a:solidFill>
                  <a:srgbClr val="38BDF8"/>
                </a:solidFill>
                <a:latin typeface="Calibri" pitchFamily="34" charset="0"/>
                <a:ea typeface="Calibri" pitchFamily="34" charset="-122"/>
                <a:cs typeface="Calibri" pitchFamily="34" charset="-120"/>
              </a:rPr>
              <a:t>0.968</a:t>
            </a:r>
            <a:endParaRPr lang="en-US" sz="2200" dirty="0"/>
          </a:p>
        </p:txBody>
      </p:sp>
      <p:sp>
        <p:nvSpPr>
          <p:cNvPr id="14" name="Text 12"/>
          <p:cNvSpPr/>
          <p:nvPr/>
        </p:nvSpPr>
        <p:spPr>
          <a:xfrm>
            <a:off x="5120640" y="5577840"/>
            <a:ext cx="1920240" cy="256032"/>
          </a:xfrm>
          <a:prstGeom prst="rect">
            <a:avLst/>
          </a:prstGeom>
          <a:noFill/>
          <a:ln/>
        </p:spPr>
        <p:txBody>
          <a:bodyPr wrap="square" rtlCol="0" anchor="ctr"/>
          <a:lstStyle/>
          <a:p>
            <a:pPr marL="0" indent="0" algn="ctr">
              <a:buNone/>
            </a:pPr>
            <a:r>
              <a:rPr lang="en-US" sz="1150" dirty="0">
                <a:solidFill>
                  <a:srgbClr val="8FBCDA"/>
                </a:solidFill>
                <a:latin typeface="Calibri" pitchFamily="34" charset="0"/>
                <a:ea typeface="Calibri" pitchFamily="34" charset="-122"/>
                <a:cs typeface="Calibri" pitchFamily="34" charset="-120"/>
              </a:rPr>
              <a:t>AUC-ROC</a:t>
            </a:r>
            <a:endParaRPr lang="en-US" sz="1150" dirty="0"/>
          </a:p>
        </p:txBody>
      </p:sp>
      <p:sp>
        <p:nvSpPr>
          <p:cNvPr id="15" name="Text 13"/>
          <p:cNvSpPr/>
          <p:nvPr/>
        </p:nvSpPr>
        <p:spPr>
          <a:xfrm>
            <a:off x="7269480" y="5029200"/>
            <a:ext cx="1920240" cy="530352"/>
          </a:xfrm>
          <a:prstGeom prst="rect">
            <a:avLst/>
          </a:prstGeom>
          <a:noFill/>
          <a:ln/>
        </p:spPr>
        <p:txBody>
          <a:bodyPr wrap="square" rtlCol="0" anchor="ctr"/>
          <a:lstStyle/>
          <a:p>
            <a:pPr marL="0" indent="0" algn="ctr">
              <a:buNone/>
            </a:pPr>
            <a:r>
              <a:rPr lang="en-US" sz="2200" b="1" dirty="0">
                <a:solidFill>
                  <a:srgbClr val="38BDF8"/>
                </a:solidFill>
                <a:latin typeface="Calibri" pitchFamily="34" charset="0"/>
                <a:ea typeface="Calibri" pitchFamily="34" charset="-122"/>
                <a:cs typeface="Calibri" pitchFamily="34" charset="-120"/>
              </a:rPr>
              <a:t>56</a:t>
            </a:r>
            <a:endParaRPr lang="en-US" sz="2200" dirty="0"/>
          </a:p>
        </p:txBody>
      </p:sp>
      <p:sp>
        <p:nvSpPr>
          <p:cNvPr id="16" name="Text 14"/>
          <p:cNvSpPr/>
          <p:nvPr/>
        </p:nvSpPr>
        <p:spPr>
          <a:xfrm>
            <a:off x="7269480" y="5577840"/>
            <a:ext cx="1920240" cy="256032"/>
          </a:xfrm>
          <a:prstGeom prst="rect">
            <a:avLst/>
          </a:prstGeom>
          <a:noFill/>
          <a:ln/>
        </p:spPr>
        <p:txBody>
          <a:bodyPr wrap="square" rtlCol="0" anchor="ctr"/>
          <a:lstStyle/>
          <a:p>
            <a:pPr marL="0" indent="0" algn="ctr">
              <a:buNone/>
            </a:pPr>
            <a:r>
              <a:rPr lang="en-US" sz="1150" dirty="0">
                <a:solidFill>
                  <a:srgbClr val="8FBCDA"/>
                </a:solidFill>
                <a:latin typeface="Calibri" pitchFamily="34" charset="0"/>
                <a:ea typeface="Calibri" pitchFamily="34" charset="-122"/>
                <a:cs typeface="Calibri" pitchFamily="34" charset="-120"/>
              </a:rPr>
              <a:t>Features</a:t>
            </a:r>
            <a:endParaRPr lang="en-US" sz="1150" dirty="0"/>
          </a:p>
        </p:txBody>
      </p:sp>
      <p:sp>
        <p:nvSpPr>
          <p:cNvPr id="17" name="Text 15"/>
          <p:cNvSpPr/>
          <p:nvPr/>
        </p:nvSpPr>
        <p:spPr>
          <a:xfrm>
            <a:off x="9418320" y="5029200"/>
            <a:ext cx="1920240" cy="530352"/>
          </a:xfrm>
          <a:prstGeom prst="rect">
            <a:avLst/>
          </a:prstGeom>
          <a:noFill/>
          <a:ln/>
        </p:spPr>
        <p:txBody>
          <a:bodyPr wrap="square" rtlCol="0" anchor="ctr"/>
          <a:lstStyle/>
          <a:p>
            <a:pPr marL="0" indent="0" algn="ctr">
              <a:buNone/>
            </a:pPr>
            <a:r>
              <a:rPr lang="en-US" sz="2200" b="1" dirty="0">
                <a:solidFill>
                  <a:srgbClr val="38BDF8"/>
                </a:solidFill>
                <a:latin typeface="Calibri" pitchFamily="34" charset="0"/>
                <a:ea typeface="Calibri" pitchFamily="34" charset="-122"/>
                <a:cs typeface="Calibri" pitchFamily="34" charset="-120"/>
              </a:rPr>
              <a:t>120</a:t>
            </a:r>
            <a:endParaRPr lang="en-US" sz="2200" dirty="0"/>
          </a:p>
        </p:txBody>
      </p:sp>
      <p:sp>
        <p:nvSpPr>
          <p:cNvPr id="18" name="Text 16"/>
          <p:cNvSpPr/>
          <p:nvPr/>
        </p:nvSpPr>
        <p:spPr>
          <a:xfrm>
            <a:off x="9418320" y="5577840"/>
            <a:ext cx="1920240" cy="256032"/>
          </a:xfrm>
          <a:prstGeom prst="rect">
            <a:avLst/>
          </a:prstGeom>
          <a:noFill/>
          <a:ln/>
        </p:spPr>
        <p:txBody>
          <a:bodyPr wrap="square" rtlCol="0" anchor="ctr"/>
          <a:lstStyle/>
          <a:p>
            <a:pPr marL="0" indent="0" algn="ctr">
              <a:buNone/>
            </a:pPr>
            <a:r>
              <a:rPr lang="en-US" sz="1150" dirty="0">
                <a:solidFill>
                  <a:srgbClr val="8FBCDA"/>
                </a:solidFill>
                <a:latin typeface="Calibri" pitchFamily="34" charset="0"/>
                <a:ea typeface="Calibri" pitchFamily="34" charset="-122"/>
                <a:cs typeface="Calibri" pitchFamily="34" charset="-120"/>
              </a:rPr>
              <a:t>Recordings</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52</TotalTime>
  <Words>2646</Words>
  <Application>Microsoft Office PowerPoint</Application>
  <PresentationFormat>מסך רחב</PresentationFormat>
  <Paragraphs>403</Paragraphs>
  <Slides>17</Slides>
  <Notes>16</Notes>
  <HiddenSlides>0</HiddenSlides>
  <MMClips>0</MMClips>
  <ScaleCrop>false</ScaleCrop>
  <HeadingPairs>
    <vt:vector size="6" baseType="variant">
      <vt:variant>
        <vt:lpstr>גופנים בשימוש</vt:lpstr>
      </vt:variant>
      <vt:variant>
        <vt:i4>3</vt:i4>
      </vt:variant>
      <vt:variant>
        <vt:lpstr>ערכת נושא</vt:lpstr>
      </vt:variant>
      <vt:variant>
        <vt:i4>1</vt:i4>
      </vt:variant>
      <vt:variant>
        <vt:lpstr>כותרות שקופיות</vt:lpstr>
      </vt:variant>
      <vt:variant>
        <vt:i4>17</vt:i4>
      </vt:variant>
    </vt:vector>
  </HeadingPairs>
  <TitlesOfParts>
    <vt:vector size="21" baseType="lpstr">
      <vt:lpstr>Arial</vt:lpstr>
      <vt:lpstr>Calibri</vt:lpstr>
      <vt:lpstr>Courier New</vt:lpstr>
      <vt:lpstr>Office Theme</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OREN</cp:lastModifiedBy>
  <cp:revision>6</cp:revision>
  <dcterms:created xsi:type="dcterms:W3CDTF">2026-06-12T18:41:07Z</dcterms:created>
  <dcterms:modified xsi:type="dcterms:W3CDTF">2026-06-13T09:33:42Z</dcterms:modified>
</cp:coreProperties>
</file>